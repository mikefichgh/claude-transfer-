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Registre : présentation du programme, pas une proposition. Le thème officiel de l’AAICE en bandeau situe d’emblée le pôle dans le monde de l’audience. La complémentarité s’exprime par la conception, pas par l’adresse directe.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diagnostic partagé de cette conférence, posé en termes d’infrastructure. Aucune adresse directe à l’audience.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Description de l’objet : six fonctions réunies en un lieu. Les intitulés décrivent ce que l’infrastructure permet — pas ce que l’audience devrait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de l’argument pour des professionnels qui ont vu mourir beaucoup de pilotes : la technologie est banale, l’assemblage ne l’est pas. Un toit, pas de réseau à construire d’abord, une seule gestion — d’où le coût faible, la vitesse de réplication et la permanence.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L’illustration du modèle : la même roue à deux échelles. Le siège mutualise l’ingénierie, l’administration et la logistique pour tous les pôles ; chaque pôle mutualise le dernier kilomètre pour son territoire. C’est la dorsale qui rend concrète la carte « une seule gestion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crédibilité : énergie en exploitation, agro-industrie en marche, exécution locale en interne. Les faits, sans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registre : humilité sur le métier de l’incubation, clarté sur ce que l’infrastructure apporte, et alignement explicite — une fois — sur le mandat de l’AAIN, l’AASIA et l’Agenda 2063.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porte ouverte, sans pression : quatre domaines décrits au conditionnel, le cadre de coopération mentionné une fois, « si utile ». Aucune date, aucune demande de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révélation de clôture : la première pierre posée le 4 août à Nyamugari — le programme est en chantier. Puis l’invitation ouverte à la collaboration, une entrée par catégorie d’acteurs, sans demande de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a presentation of the program, not a proposal. The official AAICE theme on the bar places the hub inside the audience’s world from the first slide. Complementarity is expressed through design, not direct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diagnosis of this conference, stated in infrastructure terms. No direct address to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description of the object: six functions in one place. The labels describe what the infrastructure enables — not what the audience should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argument for professionals who have watched many pilots die: the technology is ordinary, the assembly is not. One roof, no network to build first, one management — hence the low cost, the speed of replication and the permanence.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illustrated: the same wheel at two scales. The HQ pools engineering, administration and logistics for every hub; each hub pools the last mile for its territory. This backbone is what makes the “one management” card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energy in operation, agro-industry in motion, local execution in-house. The facts,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register: humility about the profession of incubation, clarity about what the infrastructure adds, and explicit alignment — once — with AAIN’s mandate, AASIA and Agenda 2063.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door, without pressure: four areas described in the conditional, the cooperation framework mentioned once, “where useful.” No date, no request for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reveal: ground broken on August 4 at Nyamugari — the program is under construction. Then the open invitation to collaborate, one entry per category of actor, with no request for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5-1.png"/><Relationship Id="rId6" Type="http://schemas.openxmlformats.org/officeDocument/2006/relationships/image" Target="../media/image-5-1.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png"/><Relationship Id="rId14" Type="http://schemas.openxmlformats.org/officeDocument/2006/relationships/slideLayout" Target="../slideLayouts/slideLayout1.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image" Target="../media/image-14-1.png"/><Relationship Id="rId4" Type="http://schemas.openxmlformats.org/officeDocument/2006/relationships/image" Target="../media/image-14-1.png"/><Relationship Id="rId5" Type="http://schemas.openxmlformats.org/officeDocument/2006/relationships/image" Target="../media/image-14-1.png"/><Relationship Id="rId6" Type="http://schemas.openxmlformats.org/officeDocument/2006/relationships/image" Target="../media/image-14-1.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png"/><Relationship Id="rId14" Type="http://schemas.openxmlformats.org/officeDocument/2006/relationships/slideLayout" Target="../slideLayouts/slideLayout1.xml"/><Relationship Id="rId1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640080" y="329184"/>
            <a:ext cx="8001000" cy="969264"/>
          </a:xfrm>
          <a:prstGeom prst="rect">
            <a:avLst/>
          </a:prstGeom>
          <a:noFill/>
          <a:ln/>
        </p:spPr>
        <p:txBody>
          <a:bodyPr wrap="none" lIns="0" tIns="0" rIns="0" bIns="0" rtlCol="0" anchor="ctr"/>
          <a:lstStyle/>
          <a:p>
            <a:pPr indent="0" marL="0">
              <a:buNone/>
            </a:pPr>
            <a:r>
              <a:rPr lang="en-US" sz="7200" b="1" spc="2600" kern="0" dirty="0">
                <a:solidFill>
                  <a:srgbClr val="FFFFFF"/>
                </a:solidFill>
                <a:latin typeface="Arial" pitchFamily="34" charset="0"/>
                <a:ea typeface="Arial" pitchFamily="34" charset="-122"/>
                <a:cs typeface="Arial" pitchFamily="34" charset="-120"/>
              </a:rPr>
              <a:t>GIGAWATT</a:t>
            </a:r>
            <a:endParaRPr lang="en-US" sz="7200" dirty="0"/>
          </a:p>
        </p:txBody>
      </p:sp>
      <p:sp>
        <p:nvSpPr>
          <p:cNvPr id="3" name="Text 1"/>
          <p:cNvSpPr/>
          <p:nvPr/>
        </p:nvSpPr>
        <p:spPr>
          <a:xfrm>
            <a:off x="640080" y="1371600"/>
            <a:ext cx="8001000" cy="566928"/>
          </a:xfrm>
          <a:prstGeom prst="rect">
            <a:avLst/>
          </a:prstGeom>
          <a:noFill/>
          <a:ln/>
        </p:spPr>
        <p:txBody>
          <a:bodyPr wrap="none" lIns="0" tIns="0" rIns="0" bIns="0" rtlCol="0" anchor="ctr"/>
          <a:lstStyle/>
          <a:p>
            <a:pPr indent="0" marL="0">
              <a:buNone/>
            </a:pPr>
            <a:r>
              <a:rPr lang="en-US" sz="4000" b="1" spc="3500" kern="0" dirty="0">
                <a:solidFill>
                  <a:srgbClr val="B07A1E"/>
                </a:solidFill>
                <a:latin typeface="Arial" pitchFamily="34" charset="0"/>
                <a:ea typeface="Arial" pitchFamily="34" charset="-122"/>
                <a:cs typeface="Arial" pitchFamily="34" charset="-120"/>
              </a:rPr>
              <a:t>PURE POWER</a:t>
            </a:r>
            <a:endParaRPr lang="en-US" sz="4000" dirty="0"/>
          </a:p>
        </p:txBody>
      </p:sp>
      <p:sp>
        <p:nvSpPr>
          <p:cNvPr id="4" name="Text 2"/>
          <p:cNvSpPr/>
          <p:nvPr/>
        </p:nvSpPr>
        <p:spPr>
          <a:xfrm>
            <a:off x="658368" y="1975104"/>
            <a:ext cx="7863840" cy="329184"/>
          </a:xfrm>
          <a:prstGeom prst="rect">
            <a:avLst/>
          </a:prstGeom>
          <a:noFill/>
          <a:ln/>
        </p:spPr>
        <p:txBody>
          <a:bodyPr wrap="none" lIns="0" tIns="0" rIns="0" bIns="0" rtlCol="0" anchor="ctr"/>
          <a:lstStyle/>
          <a:p>
            <a:pPr indent="0" marL="0">
              <a:buNone/>
            </a:pPr>
            <a:r>
              <a:rPr lang="en-US" sz="1900" i="1" dirty="0">
                <a:solidFill>
                  <a:srgbClr val="8FA6C2"/>
                </a:solidFill>
                <a:latin typeface="Cambria" pitchFamily="34" charset="0"/>
                <a:ea typeface="Cambria" pitchFamily="34" charset="-122"/>
                <a:cs typeface="Cambria" pitchFamily="34" charset="-120"/>
              </a:rPr>
              <a:t>Productive Uses of Renewable Energy</a:t>
            </a:r>
            <a:endParaRPr lang="en-US" sz="1900" dirty="0"/>
          </a:p>
        </p:txBody>
      </p:sp>
      <p:sp>
        <p:nvSpPr>
          <p:cNvPr id="5" name="Shape 3"/>
          <p:cNvSpPr/>
          <p:nvPr/>
        </p:nvSpPr>
        <p:spPr>
          <a:xfrm flipH="1">
            <a:off x="10076688" y="786384"/>
            <a:ext cx="0" cy="1152144"/>
          </a:xfrm>
          <a:prstGeom prst="line">
            <a:avLst/>
          </a:prstGeom>
          <a:noFill/>
          <a:ln w="12700">
            <a:solidFill>
              <a:srgbClr val="3D5A85"/>
            </a:solidFill>
            <a:prstDash val="solid"/>
          </a:ln>
        </p:spPr>
      </p:sp>
      <p:sp>
        <p:nvSpPr>
          <p:cNvPr id="6" name="Shape 4"/>
          <p:cNvSpPr/>
          <p:nvPr/>
        </p:nvSpPr>
        <p:spPr>
          <a:xfrm>
            <a:off x="9765792" y="475488"/>
            <a:ext cx="621792" cy="621792"/>
          </a:xfrm>
          <a:prstGeom prst="ellipse">
            <a:avLst/>
          </a:prstGeom>
          <a:solidFill>
            <a:srgbClr val="1D4370"/>
          </a:solidFill>
          <a:ln/>
        </p:spPr>
      </p:sp>
      <p:pic>
        <p:nvPicPr>
          <p:cNvPr id="7" name="Image 0" descr="assets/wheat_white.png">    </p:cNvPr>
          <p:cNvPicPr>
            <a:picLocks noChangeAspect="1"/>
          </p:cNvPicPr>
          <p:nvPr/>
        </p:nvPicPr>
        <p:blipFill>
          <a:blip r:embed="rId1"/>
          <a:stretch>
            <a:fillRect/>
          </a:stretch>
        </p:blipFill>
        <p:spPr>
          <a:xfrm>
            <a:off x="9921240" y="630936"/>
            <a:ext cx="310896" cy="310896"/>
          </a:xfrm>
          <a:prstGeom prst="rect">
            <a:avLst/>
          </a:prstGeom>
        </p:spPr>
      </p:pic>
      <p:sp>
        <p:nvSpPr>
          <p:cNvPr id="8" name="Shape 5"/>
          <p:cNvSpPr/>
          <p:nvPr/>
        </p:nvSpPr>
        <p:spPr>
          <a:xfrm>
            <a:off x="9078902" y="1362456"/>
            <a:ext cx="997786" cy="576072"/>
          </a:xfrm>
          <a:prstGeom prst="line">
            <a:avLst/>
          </a:prstGeom>
          <a:noFill/>
          <a:ln w="12700">
            <a:solidFill>
              <a:srgbClr val="3D5A85"/>
            </a:solidFill>
            <a:prstDash val="solid"/>
          </a:ln>
        </p:spPr>
      </p:sp>
      <p:sp>
        <p:nvSpPr>
          <p:cNvPr id="9" name="Shape 6"/>
          <p:cNvSpPr/>
          <p:nvPr/>
        </p:nvSpPr>
        <p:spPr>
          <a:xfrm>
            <a:off x="8768006" y="1051560"/>
            <a:ext cx="621792" cy="621792"/>
          </a:xfrm>
          <a:prstGeom prst="ellipse">
            <a:avLst/>
          </a:prstGeom>
          <a:solidFill>
            <a:srgbClr val="1D4370"/>
          </a:solidFill>
          <a:ln/>
        </p:spPr>
      </p:sp>
      <p:pic>
        <p:nvPicPr>
          <p:cNvPr id="10" name="Image 1" descr="assets/faucet_white.png">    </p:cNvPr>
          <p:cNvPicPr>
            <a:picLocks noChangeAspect="1"/>
          </p:cNvPicPr>
          <p:nvPr/>
        </p:nvPicPr>
        <p:blipFill>
          <a:blip r:embed="rId2"/>
          <a:stretch>
            <a:fillRect/>
          </a:stretch>
        </p:blipFill>
        <p:spPr>
          <a:xfrm>
            <a:off x="8923454" y="1207008"/>
            <a:ext cx="310896" cy="310896"/>
          </a:xfrm>
          <a:prstGeom prst="rect">
            <a:avLst/>
          </a:prstGeom>
        </p:spPr>
      </p:pic>
      <p:sp>
        <p:nvSpPr>
          <p:cNvPr id="11" name="Shape 7"/>
          <p:cNvSpPr/>
          <p:nvPr/>
        </p:nvSpPr>
        <p:spPr>
          <a:xfrm flipH="1">
            <a:off x="9078902" y="1938528"/>
            <a:ext cx="997786" cy="576072"/>
          </a:xfrm>
          <a:prstGeom prst="line">
            <a:avLst/>
          </a:prstGeom>
          <a:noFill/>
          <a:ln w="12700">
            <a:solidFill>
              <a:srgbClr val="3D5A85"/>
            </a:solidFill>
            <a:prstDash val="solid"/>
          </a:ln>
        </p:spPr>
      </p:sp>
      <p:sp>
        <p:nvSpPr>
          <p:cNvPr id="12" name="Shape 8"/>
          <p:cNvSpPr/>
          <p:nvPr/>
        </p:nvSpPr>
        <p:spPr>
          <a:xfrm>
            <a:off x="8768006" y="2203704"/>
            <a:ext cx="621792" cy="621792"/>
          </a:xfrm>
          <a:prstGeom prst="ellipse">
            <a:avLst/>
          </a:prstGeom>
          <a:solidFill>
            <a:srgbClr val="1D4370"/>
          </a:solidFill>
          <a:ln/>
        </p:spPr>
      </p:sp>
      <p:pic>
        <p:nvPicPr>
          <p:cNvPr id="13" name="Image 2" descr="assets/moto_white.png">    </p:cNvPr>
          <p:cNvPicPr>
            <a:picLocks noChangeAspect="1"/>
          </p:cNvPicPr>
          <p:nvPr/>
        </p:nvPicPr>
        <p:blipFill>
          <a:blip r:embed="rId3"/>
          <a:stretch>
            <a:fillRect/>
          </a:stretch>
        </p:blipFill>
        <p:spPr>
          <a:xfrm>
            <a:off x="8923454" y="2359152"/>
            <a:ext cx="310896" cy="310896"/>
          </a:xfrm>
          <a:prstGeom prst="rect">
            <a:avLst/>
          </a:prstGeom>
        </p:spPr>
      </p:pic>
      <p:sp>
        <p:nvSpPr>
          <p:cNvPr id="14" name="Shape 9"/>
          <p:cNvSpPr/>
          <p:nvPr/>
        </p:nvSpPr>
        <p:spPr>
          <a:xfrm>
            <a:off x="10076688" y="1938528"/>
            <a:ext cx="0" cy="1152144"/>
          </a:xfrm>
          <a:prstGeom prst="line">
            <a:avLst/>
          </a:prstGeom>
          <a:noFill/>
          <a:ln w="12700">
            <a:solidFill>
              <a:srgbClr val="3D5A85"/>
            </a:solidFill>
            <a:prstDash val="solid"/>
          </a:ln>
        </p:spPr>
      </p:sp>
      <p:sp>
        <p:nvSpPr>
          <p:cNvPr id="15" name="Shape 10"/>
          <p:cNvSpPr/>
          <p:nvPr/>
        </p:nvSpPr>
        <p:spPr>
          <a:xfrm>
            <a:off x="9765792" y="2779776"/>
            <a:ext cx="621792" cy="621792"/>
          </a:xfrm>
          <a:prstGeom prst="ellipse">
            <a:avLst/>
          </a:prstGeom>
          <a:solidFill>
            <a:srgbClr val="1D4370"/>
          </a:solidFill>
          <a:ln/>
        </p:spPr>
      </p:sp>
      <p:pic>
        <p:nvPicPr>
          <p:cNvPr id="16" name="Image 3" descr="assets/store_white.png">    </p:cNvPr>
          <p:cNvPicPr>
            <a:picLocks noChangeAspect="1"/>
          </p:cNvPicPr>
          <p:nvPr/>
        </p:nvPicPr>
        <p:blipFill>
          <a:blip r:embed="rId4"/>
          <a:stretch>
            <a:fillRect/>
          </a:stretch>
        </p:blipFill>
        <p:spPr>
          <a:xfrm>
            <a:off x="9921240" y="2935224"/>
            <a:ext cx="310896" cy="310896"/>
          </a:xfrm>
          <a:prstGeom prst="rect">
            <a:avLst/>
          </a:prstGeom>
        </p:spPr>
      </p:pic>
      <p:sp>
        <p:nvSpPr>
          <p:cNvPr id="17" name="Shape 11"/>
          <p:cNvSpPr/>
          <p:nvPr/>
        </p:nvSpPr>
        <p:spPr>
          <a:xfrm>
            <a:off x="10076688" y="1938528"/>
            <a:ext cx="997786" cy="576072"/>
          </a:xfrm>
          <a:prstGeom prst="line">
            <a:avLst/>
          </a:prstGeom>
          <a:noFill/>
          <a:ln w="12700">
            <a:solidFill>
              <a:srgbClr val="3D5A85"/>
            </a:solidFill>
            <a:prstDash val="solid"/>
          </a:ln>
        </p:spPr>
      </p:sp>
      <p:sp>
        <p:nvSpPr>
          <p:cNvPr id="18" name="Shape 12"/>
          <p:cNvSpPr/>
          <p:nvPr/>
        </p:nvSpPr>
        <p:spPr>
          <a:xfrm>
            <a:off x="10763578" y="2203704"/>
            <a:ext cx="621792" cy="621792"/>
          </a:xfrm>
          <a:prstGeom prst="ellipse">
            <a:avLst/>
          </a:prstGeom>
          <a:solidFill>
            <a:srgbClr val="1D4370"/>
          </a:solidFill>
          <a:ln/>
        </p:spPr>
      </p:sp>
      <p:pic>
        <p:nvPicPr>
          <p:cNvPr id="19" name="Image 4" descr="assets/grad_white.png">    </p:cNvPr>
          <p:cNvPicPr>
            <a:picLocks noChangeAspect="1"/>
          </p:cNvPicPr>
          <p:nvPr/>
        </p:nvPicPr>
        <p:blipFill>
          <a:blip r:embed="rId5"/>
          <a:stretch>
            <a:fillRect/>
          </a:stretch>
        </p:blipFill>
        <p:spPr>
          <a:xfrm>
            <a:off x="10919026" y="2359152"/>
            <a:ext cx="310896" cy="310896"/>
          </a:xfrm>
          <a:prstGeom prst="rect">
            <a:avLst/>
          </a:prstGeom>
        </p:spPr>
      </p:pic>
      <p:sp>
        <p:nvSpPr>
          <p:cNvPr id="20" name="Shape 13"/>
          <p:cNvSpPr/>
          <p:nvPr/>
        </p:nvSpPr>
        <p:spPr>
          <a:xfrm flipH="1">
            <a:off x="10076688" y="1362456"/>
            <a:ext cx="997786" cy="576072"/>
          </a:xfrm>
          <a:prstGeom prst="line">
            <a:avLst/>
          </a:prstGeom>
          <a:noFill/>
          <a:ln w="12700">
            <a:solidFill>
              <a:srgbClr val="3D5A85"/>
            </a:solidFill>
            <a:prstDash val="solid"/>
          </a:ln>
        </p:spPr>
      </p:sp>
      <p:sp>
        <p:nvSpPr>
          <p:cNvPr id="21" name="Shape 14"/>
          <p:cNvSpPr/>
          <p:nvPr/>
        </p:nvSpPr>
        <p:spPr>
          <a:xfrm>
            <a:off x="10763578" y="1051560"/>
            <a:ext cx="621792" cy="621792"/>
          </a:xfrm>
          <a:prstGeom prst="ellipse">
            <a:avLst/>
          </a:prstGeom>
          <a:solidFill>
            <a:srgbClr val="1D4370"/>
          </a:solidFill>
          <a:ln/>
        </p:spPr>
      </p:sp>
      <p:pic>
        <p:nvPicPr>
          <p:cNvPr id="22" name="Image 5" descr="assets/health_white.png">    </p:cNvPr>
          <p:cNvPicPr>
            <a:picLocks noChangeAspect="1"/>
          </p:cNvPicPr>
          <p:nvPr/>
        </p:nvPicPr>
        <p:blipFill>
          <a:blip r:embed="rId6"/>
          <a:stretch>
            <a:fillRect/>
          </a:stretch>
        </p:blipFill>
        <p:spPr>
          <a:xfrm>
            <a:off x="10919026" y="1207008"/>
            <a:ext cx="310896" cy="310896"/>
          </a:xfrm>
          <a:prstGeom prst="rect">
            <a:avLst/>
          </a:prstGeom>
        </p:spPr>
      </p:pic>
      <p:sp>
        <p:nvSpPr>
          <p:cNvPr id="23" name="Shape 15"/>
          <p:cNvSpPr/>
          <p:nvPr/>
        </p:nvSpPr>
        <p:spPr>
          <a:xfrm>
            <a:off x="9619488" y="1481328"/>
            <a:ext cx="914400" cy="914400"/>
          </a:xfrm>
          <a:prstGeom prst="ellipse">
            <a:avLst/>
          </a:prstGeom>
          <a:solidFill>
            <a:srgbClr val="B07A1E"/>
          </a:solidFill>
          <a:ln/>
        </p:spPr>
      </p:sp>
      <p:pic>
        <p:nvPicPr>
          <p:cNvPr id="24" name="Image 6" descr="assets/bolt_white.png">    </p:cNvPr>
          <p:cNvPicPr>
            <a:picLocks noChangeAspect="1"/>
          </p:cNvPicPr>
          <p:nvPr/>
        </p:nvPicPr>
        <p:blipFill>
          <a:blip r:embed="rId7"/>
          <a:stretch>
            <a:fillRect/>
          </a:stretch>
        </p:blipFill>
        <p:spPr>
          <a:xfrm>
            <a:off x="9848088" y="1709928"/>
            <a:ext cx="457200" cy="457200"/>
          </a:xfrm>
          <a:prstGeom prst="rect">
            <a:avLst/>
          </a:prstGeom>
        </p:spPr>
      </p:pic>
      <p:sp>
        <p:nvSpPr>
          <p:cNvPr id="25" name="Text 16"/>
          <p:cNvSpPr/>
          <p:nvPr/>
        </p:nvSpPr>
        <p:spPr>
          <a:xfrm>
            <a:off x="640080" y="2505456"/>
            <a:ext cx="7772400" cy="310896"/>
          </a:xfrm>
          <a:prstGeom prst="rect">
            <a:avLst/>
          </a:prstGeom>
          <a:noFill/>
          <a:ln/>
        </p:spPr>
        <p:txBody>
          <a:bodyPr wrap="square" lIns="0" tIns="0" rIns="0" bIns="0" rtlCol="0" anchor="ctr"/>
          <a:lstStyle/>
          <a:p>
            <a:pPr indent="0" marL="0">
              <a:buNone/>
            </a:pPr>
            <a:r>
              <a:rPr lang="en-US" sz="1350" b="1" spc="250" kern="0" dirty="0">
                <a:solidFill>
                  <a:srgbClr val="B07A1E"/>
                </a:solidFill>
                <a:latin typeface="Arial" pitchFamily="34" charset="0"/>
                <a:ea typeface="Arial" pitchFamily="34" charset="-122"/>
                <a:cs typeface="Arial" pitchFamily="34" charset="-120"/>
              </a:rPr>
              <a:t>AAICE 2026  ·  BUJUMBURA  ·  4–6 AOÛT 2026</a:t>
            </a:r>
            <a:endParaRPr lang="en-US" sz="1350" dirty="0"/>
          </a:p>
        </p:txBody>
      </p:sp>
      <p:sp>
        <p:nvSpPr>
          <p:cNvPr id="26" name="Text 17"/>
          <p:cNvSpPr/>
          <p:nvPr/>
        </p:nvSpPr>
        <p:spPr>
          <a:xfrm>
            <a:off x="640080" y="2816352"/>
            <a:ext cx="7863840" cy="1152144"/>
          </a:xfrm>
          <a:prstGeom prst="rect">
            <a:avLst/>
          </a:prstGeom>
          <a:noFill/>
          <a:ln/>
        </p:spPr>
        <p:txBody>
          <a:bodyPr wrap="square" lIns="0" tIns="0" rIns="0" bIns="0" rtlCol="0" anchor="ctr"/>
          <a:lstStyle/>
          <a:p>
            <a:pPr indent="0" marL="0">
              <a:lnSpc>
                <a:spcPts val="3900"/>
              </a:lnSpc>
              <a:buNone/>
            </a:pPr>
            <a:r>
              <a:rPr lang="en-US" sz="3300" b="1" dirty="0">
                <a:solidFill>
                  <a:srgbClr val="FFFFFF"/>
                </a:solidFill>
                <a:latin typeface="Arial" pitchFamily="34" charset="0"/>
                <a:ea typeface="Arial" pitchFamily="34" charset="-122"/>
                <a:cs typeface="Arial" pitchFamily="34" charset="-120"/>
              </a:rPr>
              <a:t>Pôles Agro-Énergétiques</a:t>
            </a:r>
            <a:endParaRPr lang="en-US" sz="3300" dirty="0"/>
          </a:p>
          <a:p>
            <a:pPr indent="0" marL="0">
              <a:lnSpc>
                <a:spcPts val="3900"/>
              </a:lnSpc>
              <a:buNone/>
            </a:pPr>
            <a:r>
              <a:rPr lang="en-US" sz="3300" b="1" dirty="0">
                <a:solidFill>
                  <a:srgbClr val="FFFFFF"/>
                </a:solidFill>
                <a:latin typeface="Arial" pitchFamily="34" charset="0"/>
                <a:ea typeface="Arial" pitchFamily="34" charset="-122"/>
                <a:cs typeface="Arial" pitchFamily="34" charset="-120"/>
              </a:rPr>
              <a:t>pour la Transformation Rurale</a:t>
            </a:r>
            <a:endParaRPr lang="en-US" sz="3300" dirty="0"/>
          </a:p>
        </p:txBody>
      </p:sp>
      <p:sp>
        <p:nvSpPr>
          <p:cNvPr id="27" name="Text 18"/>
          <p:cNvSpPr/>
          <p:nvPr/>
        </p:nvSpPr>
        <p:spPr>
          <a:xfrm>
            <a:off x="640080" y="4041648"/>
            <a:ext cx="8046720" cy="530352"/>
          </a:xfrm>
          <a:prstGeom prst="rect">
            <a:avLst/>
          </a:prstGeom>
          <a:noFill/>
          <a:ln/>
        </p:spPr>
        <p:txBody>
          <a:bodyPr wrap="square" lIns="0" tIns="0" rIns="0" bIns="0" rtlCol="0" anchor="ctr"/>
          <a:lstStyle/>
          <a:p>
            <a:pPr indent="0" marL="0">
              <a:lnSpc>
                <a:spcPts val="1900"/>
              </a:lnSpc>
              <a:buNone/>
            </a:pPr>
            <a:r>
              <a:rPr lang="en-US" sz="1500" dirty="0">
                <a:solidFill>
                  <a:srgbClr val="C9D8EA"/>
                </a:solidFill>
                <a:latin typeface="Arial" pitchFamily="34" charset="0"/>
                <a:ea typeface="Arial" pitchFamily="34" charset="-122"/>
                <a:cs typeface="Arial" pitchFamily="34" charset="-120"/>
              </a:rPr>
              <a:t>L’énergie productive, la logistique et l’exploitation de long terme — une infrastructure conçue pour porter les écosystèmes d’incubation et d’accélération agricoles.</a:t>
            </a:r>
            <a:endParaRPr lang="en-US" sz="1500" dirty="0"/>
          </a:p>
        </p:txBody>
      </p:sp>
      <p:sp>
        <p:nvSpPr>
          <p:cNvPr id="28" name="Shape 19"/>
          <p:cNvSpPr/>
          <p:nvPr/>
        </p:nvSpPr>
        <p:spPr>
          <a:xfrm>
            <a:off x="640080" y="4718304"/>
            <a:ext cx="7818120" cy="713232"/>
          </a:xfrm>
          <a:prstGeom prst="roundRect">
            <a:avLst>
              <a:gd name="adj" fmla="val 7692"/>
            </a:avLst>
          </a:prstGeom>
          <a:solidFill>
            <a:srgbClr val="FFFFFF"/>
          </a:solidFill>
          <a:ln/>
        </p:spPr>
      </p:sp>
      <p:pic>
        <p:nvPicPr>
          <p:cNvPr id="29" name="Image 7" descr="assets/aain.png">    </p:cNvPr>
          <p:cNvPicPr>
            <a:picLocks noChangeAspect="1"/>
          </p:cNvPicPr>
          <p:nvPr/>
        </p:nvPicPr>
        <p:blipFill>
          <a:blip r:embed="rId8"/>
          <a:stretch>
            <a:fillRect/>
          </a:stretch>
        </p:blipFill>
        <p:spPr>
          <a:xfrm>
            <a:off x="786384" y="4818888"/>
            <a:ext cx="512064" cy="512064"/>
          </a:xfrm>
          <a:prstGeom prst="rect">
            <a:avLst/>
          </a:prstGeom>
        </p:spPr>
      </p:pic>
      <p:sp>
        <p:nvSpPr>
          <p:cNvPr id="30" name="Text 20"/>
          <p:cNvSpPr/>
          <p:nvPr/>
        </p:nvSpPr>
        <p:spPr>
          <a:xfrm>
            <a:off x="1426464" y="4718304"/>
            <a:ext cx="6949440" cy="713232"/>
          </a:xfrm>
          <a:prstGeom prst="rect">
            <a:avLst/>
          </a:prstGeom>
          <a:noFill/>
          <a:ln/>
        </p:spPr>
        <p:txBody>
          <a:bodyPr wrap="square" lIns="0" tIns="0" rIns="0" bIns="0" rtlCol="0" anchor="ctr"/>
          <a:lstStyle/>
          <a:p>
            <a:pPr indent="0" marL="0">
              <a:lnSpc>
                <a:spcPts val="1500"/>
              </a:lnSpc>
              <a:buNone/>
            </a:pPr>
            <a:r>
              <a:rPr lang="en-US" sz="1200" b="1" dirty="0">
                <a:solidFill>
                  <a:srgbClr val="13315C"/>
                </a:solidFill>
                <a:latin typeface="Arial" pitchFamily="34" charset="0"/>
                <a:ea typeface="Arial" pitchFamily="34" charset="-122"/>
                <a:cs typeface="Arial" pitchFamily="34" charset="-120"/>
              </a:rPr>
              <a:t>AAICE 2026 — « Advancing incubation and acceleration ecosystems for job opportunities in Africa »</a:t>
            </a:r>
            <a:endParaRPr lang="en-US" sz="1200" dirty="0"/>
          </a:p>
        </p:txBody>
      </p:sp>
      <p:sp>
        <p:nvSpPr>
          <p:cNvPr id="31" name="Shape 21"/>
          <p:cNvSpPr/>
          <p:nvPr/>
        </p:nvSpPr>
        <p:spPr>
          <a:xfrm>
            <a:off x="3547872" y="5577840"/>
            <a:ext cx="5138928" cy="1170432"/>
          </a:xfrm>
          <a:prstGeom prst="rect">
            <a:avLst/>
          </a:prstGeom>
          <a:solidFill>
            <a:srgbClr val="FFFFFF"/>
          </a:solidFill>
          <a:ln/>
        </p:spPr>
      </p:sp>
      <p:pic>
        <p:nvPicPr>
          <p:cNvPr id="32" name="Image 8" descr="bn_art2.png">    </p:cNvPr>
          <p:cNvPicPr>
            <a:picLocks noChangeAspect="1"/>
          </p:cNvPicPr>
          <p:nvPr/>
        </p:nvPicPr>
        <p:blipFill>
          <a:blip r:embed="rId9"/>
          <a:stretch>
            <a:fillRect/>
          </a:stretch>
        </p:blipFill>
        <p:spPr>
          <a:xfrm>
            <a:off x="3584448" y="5614416"/>
            <a:ext cx="5065776"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3200" b="1" dirty="0">
                <a:solidFill>
                  <a:srgbClr val="13315C"/>
                </a:solidFill>
                <a:latin typeface="Arial" pitchFamily="34" charset="0"/>
                <a:ea typeface="Arial" pitchFamily="34" charset="-122"/>
                <a:cs typeface="Arial" pitchFamily="34" charset="-120"/>
              </a:rPr>
              <a:t>L’incubation s’arrête là où s’arrête le courant</a:t>
            </a:r>
            <a:endParaRPr lang="en-US" sz="3200" dirty="0"/>
          </a:p>
        </p:txBody>
      </p:sp>
      <p:sp>
        <p:nvSpPr>
          <p:cNvPr id="3" name="Shape 1"/>
          <p:cNvSpPr/>
          <p:nvPr/>
        </p:nvSpPr>
        <p:spPr>
          <a:xfrm>
            <a:off x="566928" y="1298448"/>
            <a:ext cx="3602736" cy="3127248"/>
          </a:xfrm>
          <a:prstGeom prst="roundRect">
            <a:avLst>
              <a:gd name="adj" fmla="val 1754"/>
            </a:avLst>
          </a:prstGeom>
          <a:solidFill>
            <a:srgbClr val="F8F1E4"/>
          </a:solidFill>
          <a:ln/>
        </p:spPr>
      </p:sp>
      <p:sp>
        <p:nvSpPr>
          <p:cNvPr id="4" name="Text 2"/>
          <p:cNvSpPr/>
          <p:nvPr/>
        </p:nvSpPr>
        <p:spPr>
          <a:xfrm>
            <a:off x="841248" y="1481328"/>
            <a:ext cx="3054096" cy="1078992"/>
          </a:xfrm>
          <a:prstGeom prst="rect">
            <a:avLst/>
          </a:prstGeom>
          <a:noFill/>
          <a:ln/>
        </p:spPr>
        <p:txBody>
          <a:bodyPr wrap="square" lIns="0" tIns="0" rIns="0" bIns="0" rtlCol="0" anchor="ctr"/>
          <a:lstStyle/>
          <a:p>
            <a:pPr indent="0" marL="0">
              <a:buNone/>
            </a:pPr>
            <a:r>
              <a:rPr lang="en-US" sz="6400" b="1" dirty="0">
                <a:solidFill>
                  <a:srgbClr val="B07A1E"/>
                </a:solidFill>
                <a:latin typeface="Arial" pitchFamily="34" charset="0"/>
                <a:ea typeface="Arial" pitchFamily="34" charset="-122"/>
                <a:cs typeface="Arial" pitchFamily="34" charset="-120"/>
              </a:rPr>
              <a:t>85 %</a:t>
            </a:r>
            <a:endParaRPr lang="en-US" sz="6400" dirty="0"/>
          </a:p>
        </p:txBody>
      </p:sp>
      <p:sp>
        <p:nvSpPr>
          <p:cNvPr id="5" name="Text 3"/>
          <p:cNvSpPr/>
          <p:nvPr/>
        </p:nvSpPr>
        <p:spPr>
          <a:xfrm>
            <a:off x="84124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des emplois sont agricoles</a:t>
            </a:r>
            <a:endParaRPr lang="en-US" sz="2200" dirty="0"/>
          </a:p>
        </p:txBody>
      </p:sp>
      <p:sp>
        <p:nvSpPr>
          <p:cNvPr id="6" name="Text 4"/>
          <p:cNvSpPr/>
          <p:nvPr/>
        </p:nvSpPr>
        <p:spPr>
          <a:xfrm>
            <a:off x="84124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et les agripreneurs sont ruraux, pas urbains</a:t>
            </a:r>
            <a:endParaRPr lang="en-US" sz="1700" dirty="0"/>
          </a:p>
        </p:txBody>
      </p:sp>
      <p:sp>
        <p:nvSpPr>
          <p:cNvPr id="7" name="Shape 5"/>
          <p:cNvSpPr/>
          <p:nvPr/>
        </p:nvSpPr>
        <p:spPr>
          <a:xfrm>
            <a:off x="4293108" y="1298448"/>
            <a:ext cx="3602736" cy="3127248"/>
          </a:xfrm>
          <a:prstGeom prst="roundRect">
            <a:avLst>
              <a:gd name="adj" fmla="val 1754"/>
            </a:avLst>
          </a:prstGeom>
          <a:solidFill>
            <a:srgbClr val="EEF4FA"/>
          </a:solidFill>
          <a:ln/>
        </p:spPr>
      </p:sp>
      <p:sp>
        <p:nvSpPr>
          <p:cNvPr id="8" name="Text 6"/>
          <p:cNvSpPr/>
          <p:nvPr/>
        </p:nvSpPr>
        <p:spPr>
          <a:xfrm>
            <a:off x="456742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&lt; 2 %</a:t>
            </a:r>
            <a:endParaRPr lang="en-US" sz="6400" dirty="0"/>
          </a:p>
        </p:txBody>
      </p:sp>
      <p:sp>
        <p:nvSpPr>
          <p:cNvPr id="9" name="Text 7"/>
          <p:cNvSpPr/>
          <p:nvPr/>
        </p:nvSpPr>
        <p:spPr>
          <a:xfrm>
            <a:off x="456742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d’électricité en milieu rural</a:t>
            </a:r>
            <a:endParaRPr lang="en-US" sz="2200" dirty="0"/>
          </a:p>
        </p:txBody>
      </p:sp>
      <p:sp>
        <p:nvSpPr>
          <p:cNvPr id="10" name="Text 8"/>
          <p:cNvSpPr/>
          <p:nvPr/>
        </p:nvSpPr>
        <p:spPr>
          <a:xfrm>
            <a:off x="456742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ni froid, ni transformation, ni prototypage possibles</a:t>
            </a:r>
            <a:endParaRPr lang="en-US" sz="1700" dirty="0"/>
          </a:p>
        </p:txBody>
      </p:sp>
      <p:sp>
        <p:nvSpPr>
          <p:cNvPr id="11" name="Shape 9"/>
          <p:cNvSpPr/>
          <p:nvPr/>
        </p:nvSpPr>
        <p:spPr>
          <a:xfrm>
            <a:off x="8019288" y="1298448"/>
            <a:ext cx="3602736" cy="3127248"/>
          </a:xfrm>
          <a:prstGeom prst="roundRect">
            <a:avLst>
              <a:gd name="adj" fmla="val 1754"/>
            </a:avLst>
          </a:prstGeom>
          <a:solidFill>
            <a:srgbClr val="EEF4FA"/>
          </a:solidFill>
          <a:ln/>
        </p:spPr>
      </p:sp>
      <p:sp>
        <p:nvSpPr>
          <p:cNvPr id="12" name="Text 10"/>
          <p:cNvSpPr/>
          <p:nvPr/>
        </p:nvSpPr>
        <p:spPr>
          <a:xfrm>
            <a:off x="829360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37 %</a:t>
            </a:r>
            <a:endParaRPr lang="en-US" sz="6400" dirty="0"/>
          </a:p>
        </p:txBody>
      </p:sp>
      <p:sp>
        <p:nvSpPr>
          <p:cNvPr id="13" name="Text 11"/>
          <p:cNvSpPr/>
          <p:nvPr/>
        </p:nvSpPr>
        <p:spPr>
          <a:xfrm>
            <a:off x="829360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de la production perdue</a:t>
            </a:r>
            <a:endParaRPr lang="en-US" sz="2200" dirty="0"/>
          </a:p>
        </p:txBody>
      </p:sp>
      <p:sp>
        <p:nvSpPr>
          <p:cNvPr id="14" name="Text 12"/>
          <p:cNvSpPr/>
          <p:nvPr/>
        </p:nvSpPr>
        <p:spPr>
          <a:xfrm>
            <a:off x="829360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le premier obstacle des agro-entrepreneurs ruraux</a:t>
            </a:r>
            <a:endParaRPr lang="en-US" sz="1700" dirty="0"/>
          </a:p>
        </p:txBody>
      </p:sp>
      <p:sp>
        <p:nvSpPr>
          <p:cNvPr id="15" name="Shape 13"/>
          <p:cNvSpPr/>
          <p:nvPr/>
        </p:nvSpPr>
        <p:spPr>
          <a:xfrm>
            <a:off x="566928" y="4572000"/>
            <a:ext cx="11055096" cy="1810512"/>
          </a:xfrm>
          <a:prstGeom prst="roundRect">
            <a:avLst>
              <a:gd name="adj" fmla="val 3030"/>
            </a:avLst>
          </a:prstGeom>
          <a:solidFill>
            <a:srgbClr val="13315C"/>
          </a:solidFill>
          <a:ln/>
        </p:spPr>
      </p:sp>
      <p:sp>
        <p:nvSpPr>
          <p:cNvPr id="16" name="Text 14"/>
          <p:cNvSpPr/>
          <p:nvPr/>
        </p:nvSpPr>
        <p:spPr>
          <a:xfrm>
            <a:off x="960120" y="4700016"/>
            <a:ext cx="10287000" cy="1572768"/>
          </a:xfrm>
          <a:prstGeom prst="rect">
            <a:avLst/>
          </a:prstGeom>
          <a:noFill/>
          <a:ln/>
        </p:spPr>
        <p:txBody>
          <a:bodyPr wrap="square" lIns="0" tIns="0" rIns="0" bIns="0" rtlCol="0" anchor="ctr"/>
          <a:lstStyle/>
          <a:p>
            <a:pPr indent="0" marL="0">
              <a:lnSpc>
                <a:spcPts val="2600"/>
              </a:lnSpc>
              <a:buNone/>
            </a:pPr>
            <a:r>
              <a:rPr lang="en-US" sz="1850" dirty="0">
                <a:solidFill>
                  <a:srgbClr val="FFFFFF"/>
                </a:solidFill>
                <a:latin typeface="Arial" pitchFamily="34" charset="0"/>
                <a:ea typeface="Arial" pitchFamily="34" charset="-122"/>
                <a:cs typeface="Arial" pitchFamily="34" charset="-120"/>
              </a:rPr>
              <a:t>L’essentiel de l’infrastructure d’appui est urbain ; les agripreneurs sont ruraux. Le dernier kilomètre de l’incubation n’est pas un programme — c’est une infrastructure : énergie, froid, eau, connectivité, équipements. Le marché agroalimentaire africain de 1 000 Md$ d’ici 2030 (Banque mondiale) se gagnera là où ces éléments existent.</a:t>
            </a:r>
            <a:endParaRPr lang="en-US" sz="1850" dirty="0"/>
          </a:p>
        </p:txBody>
      </p:sp>
      <p:sp>
        <p:nvSpPr>
          <p:cNvPr id="17" name="Shape 15"/>
          <p:cNvSpPr/>
          <p:nvPr/>
        </p:nvSpPr>
        <p:spPr>
          <a:xfrm>
            <a:off x="566928" y="6510528"/>
            <a:ext cx="11055096" cy="0"/>
          </a:xfrm>
          <a:prstGeom prst="line">
            <a:avLst/>
          </a:prstGeom>
          <a:noFill/>
          <a:ln w="9525">
            <a:solidFill>
              <a:srgbClr val="C5CFDB"/>
            </a:solidFill>
            <a:prstDash val="solid"/>
          </a:ln>
        </p:spPr>
      </p:sp>
      <p:sp>
        <p:nvSpPr>
          <p:cNvPr id="18" name="Text 16"/>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19" name="Text 17"/>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2 / 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Ce que nous construisons et opérons</a:t>
            </a:r>
            <a:endParaRPr lang="en-US" sz="2800" dirty="0"/>
          </a:p>
        </p:txBody>
      </p:sp>
      <p:sp>
        <p:nvSpPr>
          <p:cNvPr id="3" name="Text 1"/>
          <p:cNvSpPr/>
          <p:nvPr/>
        </p:nvSpPr>
        <p:spPr>
          <a:xfrm>
            <a:off x="566928" y="1115568"/>
            <a:ext cx="11064240" cy="402336"/>
          </a:xfrm>
          <a:prstGeom prst="rect">
            <a:avLst/>
          </a:prstGeom>
          <a:noFill/>
          <a:ln/>
        </p:spPr>
        <p:txBody>
          <a:bodyPr wrap="square" lIns="0" tIns="0" rIns="0" bIns="0" rtlCol="0" anchor="ctr"/>
          <a:lstStyle/>
          <a:p>
            <a:pPr indent="0" marL="0">
              <a:buNone/>
            </a:pPr>
            <a:r>
              <a:rPr lang="en-US" sz="1700" b="1" dirty="0">
                <a:solidFill>
                  <a:srgbClr val="13315C"/>
                </a:solidFill>
                <a:latin typeface="Arial" pitchFamily="34" charset="0"/>
                <a:ea typeface="Arial" pitchFamily="34" charset="-122"/>
                <a:cs typeface="Arial" pitchFamily="34" charset="-120"/>
              </a:rPr>
              <a:t>Chaque pôle agro-énergétique réunit, en un même lieu rural :</a:t>
            </a:r>
            <a:endParaRPr lang="en-US" sz="1700" dirty="0"/>
          </a:p>
        </p:txBody>
      </p:sp>
      <p:sp>
        <p:nvSpPr>
          <p:cNvPr id="4" name="Shape 2"/>
          <p:cNvSpPr/>
          <p:nvPr/>
        </p:nvSpPr>
        <p:spPr>
          <a:xfrm>
            <a:off x="566928" y="1645920"/>
            <a:ext cx="3602736" cy="2212848"/>
          </a:xfrm>
          <a:prstGeom prst="roundRect">
            <a:avLst>
              <a:gd name="adj" fmla="val 2066"/>
            </a:avLst>
          </a:prstGeom>
          <a:solidFill>
            <a:srgbClr val="EEF4FA"/>
          </a:solidFill>
          <a:ln/>
        </p:spPr>
      </p:sp>
      <p:sp>
        <p:nvSpPr>
          <p:cNvPr id="5" name="Shape 3"/>
          <p:cNvSpPr/>
          <p:nvPr/>
        </p:nvSpPr>
        <p:spPr>
          <a:xfrm>
            <a:off x="758952" y="1819656"/>
            <a:ext cx="603504" cy="603504"/>
          </a:xfrm>
          <a:prstGeom prst="ellipse">
            <a:avLst/>
          </a:prstGeom>
          <a:solidFill>
            <a:srgbClr val="FFFFFF"/>
          </a:solidFill>
          <a:ln/>
        </p:spPr>
      </p:sp>
      <p:pic>
        <p:nvPicPr>
          <p:cNvPr id="6" name="Image 0" descr="assets/wheat_blue.png">    </p:cNvPr>
          <p:cNvPicPr>
            <a:picLocks noChangeAspect="1"/>
          </p:cNvPicPr>
          <p:nvPr/>
        </p:nvPicPr>
        <p:blipFill>
          <a:blip r:embed="rId1"/>
          <a:stretch>
            <a:fillRect/>
          </a:stretch>
        </p:blipFill>
        <p:spPr>
          <a:xfrm>
            <a:off x="885688" y="1946392"/>
            <a:ext cx="350032" cy="350032"/>
          </a:xfrm>
          <a:prstGeom prst="rect">
            <a:avLst/>
          </a:prstGeom>
        </p:spPr>
      </p:pic>
      <p:sp>
        <p:nvSpPr>
          <p:cNvPr id="7" name="Text 4"/>
          <p:cNvSpPr/>
          <p:nvPr/>
        </p:nvSpPr>
        <p:spPr>
          <a:xfrm>
            <a:off x="146304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Prototyper &amp; transformer</a:t>
            </a:r>
            <a:endParaRPr lang="en-US" sz="1700" dirty="0"/>
          </a:p>
        </p:txBody>
      </p:sp>
      <p:sp>
        <p:nvSpPr>
          <p:cNvPr id="8" name="Text 5"/>
          <p:cNvSpPr/>
          <p:nvPr/>
        </p:nvSpPr>
        <p:spPr>
          <a:xfrm>
            <a:off x="80467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Parc d’équipements : mouture, décorticage, pressage, séchage, froid</a:t>
            </a:r>
            <a:endParaRPr lang="en-US" sz="1500" dirty="0"/>
          </a:p>
        </p:txBody>
      </p:sp>
      <p:sp>
        <p:nvSpPr>
          <p:cNvPr id="9" name="Shape 6"/>
          <p:cNvSpPr/>
          <p:nvPr/>
        </p:nvSpPr>
        <p:spPr>
          <a:xfrm>
            <a:off x="4293108" y="1645920"/>
            <a:ext cx="3602736" cy="2212848"/>
          </a:xfrm>
          <a:prstGeom prst="roundRect">
            <a:avLst>
              <a:gd name="adj" fmla="val 2066"/>
            </a:avLst>
          </a:prstGeom>
          <a:solidFill>
            <a:srgbClr val="EEF4FA"/>
          </a:solidFill>
          <a:ln/>
        </p:spPr>
      </p:sp>
      <p:sp>
        <p:nvSpPr>
          <p:cNvPr id="10" name="Shape 7"/>
          <p:cNvSpPr/>
          <p:nvPr/>
        </p:nvSpPr>
        <p:spPr>
          <a:xfrm>
            <a:off x="4485132" y="1819656"/>
            <a:ext cx="603504" cy="603504"/>
          </a:xfrm>
          <a:prstGeom prst="ellipse">
            <a:avLst/>
          </a:prstGeom>
          <a:solidFill>
            <a:srgbClr val="FFFFFF"/>
          </a:solidFill>
          <a:ln/>
        </p:spPr>
      </p:sp>
      <p:pic>
        <p:nvPicPr>
          <p:cNvPr id="11" name="Image 1" descr="assets/faucet_blue.png">    </p:cNvPr>
          <p:cNvPicPr>
            <a:picLocks noChangeAspect="1"/>
          </p:cNvPicPr>
          <p:nvPr/>
        </p:nvPicPr>
        <p:blipFill>
          <a:blip r:embed="rId2"/>
          <a:stretch>
            <a:fillRect/>
          </a:stretch>
        </p:blipFill>
        <p:spPr>
          <a:xfrm>
            <a:off x="4611868" y="1946392"/>
            <a:ext cx="350032" cy="350032"/>
          </a:xfrm>
          <a:prstGeom prst="rect">
            <a:avLst/>
          </a:prstGeom>
        </p:spPr>
      </p:pic>
      <p:sp>
        <p:nvSpPr>
          <p:cNvPr id="12" name="Text 8"/>
          <p:cNvSpPr/>
          <p:nvPr/>
        </p:nvSpPr>
        <p:spPr>
          <a:xfrm>
            <a:off x="518922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Démontrer en conditions réelles</a:t>
            </a:r>
            <a:endParaRPr lang="en-US" sz="1700" dirty="0"/>
          </a:p>
        </p:txBody>
      </p:sp>
      <p:sp>
        <p:nvSpPr>
          <p:cNvPr id="13" name="Text 9"/>
          <p:cNvSpPr/>
          <p:nvPr/>
        </p:nvSpPr>
        <p:spPr>
          <a:xfrm>
            <a:off x="453085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Périmètre irrigué, maraîchage, aquaculture — unités de démonstration</a:t>
            </a:r>
            <a:endParaRPr lang="en-US" sz="1500" dirty="0"/>
          </a:p>
        </p:txBody>
      </p:sp>
      <p:sp>
        <p:nvSpPr>
          <p:cNvPr id="14" name="Shape 10"/>
          <p:cNvSpPr/>
          <p:nvPr/>
        </p:nvSpPr>
        <p:spPr>
          <a:xfrm>
            <a:off x="8019288" y="1645920"/>
            <a:ext cx="3602736" cy="2212848"/>
          </a:xfrm>
          <a:prstGeom prst="roundRect">
            <a:avLst>
              <a:gd name="adj" fmla="val 2066"/>
            </a:avLst>
          </a:prstGeom>
          <a:solidFill>
            <a:srgbClr val="EEF4FA"/>
          </a:solidFill>
          <a:ln/>
        </p:spPr>
      </p:sp>
      <p:sp>
        <p:nvSpPr>
          <p:cNvPr id="15" name="Shape 11"/>
          <p:cNvSpPr/>
          <p:nvPr/>
        </p:nvSpPr>
        <p:spPr>
          <a:xfrm>
            <a:off x="8211312" y="1819656"/>
            <a:ext cx="603504" cy="603504"/>
          </a:xfrm>
          <a:prstGeom prst="ellipse">
            <a:avLst/>
          </a:prstGeom>
          <a:solidFill>
            <a:srgbClr val="FFFFFF"/>
          </a:solidFill>
          <a:ln/>
        </p:spPr>
      </p:sp>
      <p:pic>
        <p:nvPicPr>
          <p:cNvPr id="16" name="Image 2" descr="assets/grad_blue.png">    </p:cNvPr>
          <p:cNvPicPr>
            <a:picLocks noChangeAspect="1"/>
          </p:cNvPicPr>
          <p:nvPr/>
        </p:nvPicPr>
        <p:blipFill>
          <a:blip r:embed="rId3"/>
          <a:stretch>
            <a:fillRect/>
          </a:stretch>
        </p:blipFill>
        <p:spPr>
          <a:xfrm>
            <a:off x="8338048" y="1946392"/>
            <a:ext cx="350032" cy="350032"/>
          </a:xfrm>
          <a:prstGeom prst="rect">
            <a:avLst/>
          </a:prstGeom>
        </p:spPr>
      </p:pic>
      <p:sp>
        <p:nvSpPr>
          <p:cNvPr id="17" name="Text 12"/>
          <p:cNvSpPr/>
          <p:nvPr/>
        </p:nvSpPr>
        <p:spPr>
          <a:xfrm>
            <a:off x="891540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Former &amp; connecter</a:t>
            </a:r>
            <a:endParaRPr lang="en-US" sz="1700" dirty="0"/>
          </a:p>
        </p:txBody>
      </p:sp>
      <p:sp>
        <p:nvSpPr>
          <p:cNvPr id="18" name="Text 13"/>
          <p:cNvSpPr/>
          <p:nvPr/>
        </p:nvSpPr>
        <p:spPr>
          <a:xfrm>
            <a:off x="825703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Salles de télé-éducation, Starlink, outils d’IA — cursus accrédités</a:t>
            </a:r>
            <a:endParaRPr lang="en-US" sz="1500" dirty="0"/>
          </a:p>
        </p:txBody>
      </p:sp>
      <p:sp>
        <p:nvSpPr>
          <p:cNvPr id="19" name="Shape 14"/>
          <p:cNvSpPr/>
          <p:nvPr/>
        </p:nvSpPr>
        <p:spPr>
          <a:xfrm>
            <a:off x="566928" y="3977640"/>
            <a:ext cx="3602736" cy="2212848"/>
          </a:xfrm>
          <a:prstGeom prst="roundRect">
            <a:avLst>
              <a:gd name="adj" fmla="val 2066"/>
            </a:avLst>
          </a:prstGeom>
          <a:solidFill>
            <a:srgbClr val="EEF4FA"/>
          </a:solidFill>
          <a:ln/>
        </p:spPr>
      </p:sp>
      <p:sp>
        <p:nvSpPr>
          <p:cNvPr id="20" name="Shape 15"/>
          <p:cNvSpPr/>
          <p:nvPr/>
        </p:nvSpPr>
        <p:spPr>
          <a:xfrm>
            <a:off x="758952" y="4151376"/>
            <a:ext cx="603504" cy="603504"/>
          </a:xfrm>
          <a:prstGeom prst="ellipse">
            <a:avLst/>
          </a:prstGeom>
          <a:solidFill>
            <a:srgbClr val="FFFFFF"/>
          </a:solidFill>
          <a:ln/>
        </p:spPr>
      </p:sp>
      <p:pic>
        <p:nvPicPr>
          <p:cNvPr id="21" name="Image 3" descr="assets/coins_navy.png">    </p:cNvPr>
          <p:cNvPicPr>
            <a:picLocks noChangeAspect="1"/>
          </p:cNvPicPr>
          <p:nvPr/>
        </p:nvPicPr>
        <p:blipFill>
          <a:blip r:embed="rId4"/>
          <a:stretch>
            <a:fillRect/>
          </a:stretch>
        </p:blipFill>
        <p:spPr>
          <a:xfrm>
            <a:off x="885688" y="4278112"/>
            <a:ext cx="350032" cy="350032"/>
          </a:xfrm>
          <a:prstGeom prst="rect">
            <a:avLst/>
          </a:prstGeom>
        </p:spPr>
      </p:pic>
      <p:sp>
        <p:nvSpPr>
          <p:cNvPr id="22" name="Text 16"/>
          <p:cNvSpPr/>
          <p:nvPr/>
        </p:nvSpPr>
        <p:spPr>
          <a:xfrm>
            <a:off x="146304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Accès au financement</a:t>
            </a:r>
            <a:endParaRPr lang="en-US" sz="1700" dirty="0"/>
          </a:p>
        </p:txBody>
      </p:sp>
      <p:sp>
        <p:nvSpPr>
          <p:cNvPr id="23" name="Text 17"/>
          <p:cNvSpPr/>
          <p:nvPr/>
        </p:nvSpPr>
        <p:spPr>
          <a:xfrm>
            <a:off x="80467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Liens microfinance, épargne et crédit, et des données PAYGo, ventes et usages lisibles par les financeurs</a:t>
            </a:r>
            <a:endParaRPr lang="en-US" sz="1500" dirty="0"/>
          </a:p>
        </p:txBody>
      </p:sp>
      <p:sp>
        <p:nvSpPr>
          <p:cNvPr id="24" name="Shape 18"/>
          <p:cNvSpPr/>
          <p:nvPr/>
        </p:nvSpPr>
        <p:spPr>
          <a:xfrm>
            <a:off x="4293108" y="3977640"/>
            <a:ext cx="3602736" cy="2212848"/>
          </a:xfrm>
          <a:prstGeom prst="roundRect">
            <a:avLst>
              <a:gd name="adj" fmla="val 2066"/>
            </a:avLst>
          </a:prstGeom>
          <a:solidFill>
            <a:srgbClr val="EEF4FA"/>
          </a:solidFill>
          <a:ln/>
        </p:spPr>
      </p:sp>
      <p:sp>
        <p:nvSpPr>
          <p:cNvPr id="25" name="Shape 19"/>
          <p:cNvSpPr/>
          <p:nvPr/>
        </p:nvSpPr>
        <p:spPr>
          <a:xfrm>
            <a:off x="4485132" y="4151376"/>
            <a:ext cx="603504" cy="603504"/>
          </a:xfrm>
          <a:prstGeom prst="ellipse">
            <a:avLst/>
          </a:prstGeom>
          <a:solidFill>
            <a:srgbClr val="FFFFFF"/>
          </a:solidFill>
          <a:ln/>
        </p:spPr>
      </p:sp>
      <p:pic>
        <p:nvPicPr>
          <p:cNvPr id="26" name="Image 4" descr="assets/moto_blue.png">    </p:cNvPr>
          <p:cNvPicPr>
            <a:picLocks noChangeAspect="1"/>
          </p:cNvPicPr>
          <p:nvPr/>
        </p:nvPicPr>
        <p:blipFill>
          <a:blip r:embed="rId5"/>
          <a:stretch>
            <a:fillRect/>
          </a:stretch>
        </p:blipFill>
        <p:spPr>
          <a:xfrm>
            <a:off x="4611868" y="4278112"/>
            <a:ext cx="350032" cy="350032"/>
          </a:xfrm>
          <a:prstGeom prst="rect">
            <a:avLst/>
          </a:prstGeom>
        </p:spPr>
      </p:pic>
      <p:sp>
        <p:nvSpPr>
          <p:cNvPr id="27" name="Text 20"/>
          <p:cNvSpPr/>
          <p:nvPr/>
        </p:nvSpPr>
        <p:spPr>
          <a:xfrm>
            <a:off x="518922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Relier au marché</a:t>
            </a:r>
            <a:endParaRPr lang="en-US" sz="1700" dirty="0"/>
          </a:p>
        </p:txBody>
      </p:sp>
      <p:sp>
        <p:nvSpPr>
          <p:cNvPr id="28" name="Text 21"/>
          <p:cNvSpPr/>
          <p:nvPr/>
        </p:nvSpPr>
        <p:spPr>
          <a:xfrm>
            <a:off x="453085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Tricycles électriques, agrégation, chaîne du froid jusqu’au marché</a:t>
            </a:r>
            <a:endParaRPr lang="en-US" sz="1500" dirty="0"/>
          </a:p>
        </p:txBody>
      </p:sp>
      <p:sp>
        <p:nvSpPr>
          <p:cNvPr id="29" name="Shape 22"/>
          <p:cNvSpPr/>
          <p:nvPr/>
        </p:nvSpPr>
        <p:spPr>
          <a:xfrm>
            <a:off x="8019288" y="3977640"/>
            <a:ext cx="3602736" cy="2212848"/>
          </a:xfrm>
          <a:prstGeom prst="roundRect">
            <a:avLst>
              <a:gd name="adj" fmla="val 2066"/>
            </a:avLst>
          </a:prstGeom>
          <a:solidFill>
            <a:srgbClr val="EEF4FA"/>
          </a:solidFill>
          <a:ln/>
        </p:spPr>
      </p:sp>
      <p:sp>
        <p:nvSpPr>
          <p:cNvPr id="30" name="Shape 23"/>
          <p:cNvSpPr/>
          <p:nvPr/>
        </p:nvSpPr>
        <p:spPr>
          <a:xfrm>
            <a:off x="8211312" y="4151376"/>
            <a:ext cx="603504" cy="603504"/>
          </a:xfrm>
          <a:prstGeom prst="ellipse">
            <a:avLst/>
          </a:prstGeom>
          <a:solidFill>
            <a:srgbClr val="FFFFFF"/>
          </a:solidFill>
          <a:ln/>
        </p:spPr>
      </p:sp>
      <p:pic>
        <p:nvPicPr>
          <p:cNvPr id="31" name="Image 5" descr="assets/hub_navy.png">    </p:cNvPr>
          <p:cNvPicPr>
            <a:picLocks noChangeAspect="1"/>
          </p:cNvPicPr>
          <p:nvPr/>
        </p:nvPicPr>
        <p:blipFill>
          <a:blip r:embed="rId6"/>
          <a:stretch>
            <a:fillRect/>
          </a:stretch>
        </p:blipFill>
        <p:spPr>
          <a:xfrm>
            <a:off x="8338048" y="4278112"/>
            <a:ext cx="350032" cy="350032"/>
          </a:xfrm>
          <a:prstGeom prst="rect">
            <a:avLst/>
          </a:prstGeom>
        </p:spPr>
      </p:pic>
      <p:sp>
        <p:nvSpPr>
          <p:cNvPr id="32" name="Text 24"/>
          <p:cNvSpPr/>
          <p:nvPr/>
        </p:nvSpPr>
        <p:spPr>
          <a:xfrm>
            <a:off x="891540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Accueillir des programmes</a:t>
            </a:r>
            <a:endParaRPr lang="en-US" sz="1700" dirty="0"/>
          </a:p>
        </p:txBody>
      </p:sp>
      <p:sp>
        <p:nvSpPr>
          <p:cNvPr id="33" name="Text 25"/>
          <p:cNvSpPr/>
          <p:nvPr/>
        </p:nvSpPr>
        <p:spPr>
          <a:xfrm>
            <a:off x="825703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Espaces conçus pour l’incubation, la formation et l’appui — ateliers, bureaux, terrain</a:t>
            </a:r>
            <a:endParaRPr lang="en-US" sz="1500" dirty="0"/>
          </a:p>
        </p:txBody>
      </p:sp>
      <p:sp>
        <p:nvSpPr>
          <p:cNvPr id="34" name="Text 26"/>
          <p:cNvSpPr/>
          <p:nvPr/>
        </p:nvSpPr>
        <p:spPr>
          <a:xfrm>
            <a:off x="566928" y="6254496"/>
            <a:ext cx="11064240" cy="292608"/>
          </a:xfrm>
          <a:prstGeom prst="rect">
            <a:avLst/>
          </a:prstGeom>
          <a:noFill/>
          <a:ln/>
        </p:spPr>
        <p:txBody>
          <a:bodyPr wrap="square" lIns="0" tIns="0" rIns="0" bIns="0" rtlCol="0" anchor="ctr"/>
          <a:lstStyle/>
          <a:p>
            <a:pPr indent="0" marL="0">
              <a:buNone/>
            </a:pPr>
            <a:r>
              <a:rPr lang="en-US" sz="1550" b="1" i="1" dirty="0">
                <a:solidFill>
                  <a:srgbClr val="13315C"/>
                </a:solidFill>
                <a:latin typeface="Arial" pitchFamily="34" charset="0"/>
                <a:ea typeface="Arial" pitchFamily="34" charset="-122"/>
                <a:cs typeface="Arial" pitchFamily="34" charset="-120"/>
              </a:rPr>
              <a:t>Une infrastructure d’intérêt public, opérée dans la durée — le socle matériel des écosystèmes d’incubation.</a:t>
            </a:r>
            <a:endParaRPr lang="en-US" sz="1550" dirty="0"/>
          </a:p>
        </p:txBody>
      </p:sp>
      <p:sp>
        <p:nvSpPr>
          <p:cNvPr id="35" name="Shape 27"/>
          <p:cNvSpPr/>
          <p:nvPr/>
        </p:nvSpPr>
        <p:spPr>
          <a:xfrm>
            <a:off x="566928" y="6510528"/>
            <a:ext cx="11055096" cy="0"/>
          </a:xfrm>
          <a:prstGeom prst="line">
            <a:avLst/>
          </a:prstGeom>
          <a:noFill/>
          <a:ln w="9525">
            <a:solidFill>
              <a:srgbClr val="C5CFDB"/>
            </a:solidFill>
            <a:prstDash val="solid"/>
          </a:ln>
        </p:spPr>
      </p:sp>
      <p:sp>
        <p:nvSpPr>
          <p:cNvPr id="36" name="Text 2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37" name="Text 2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3 / 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750" b="1" dirty="0">
                <a:solidFill>
                  <a:srgbClr val="13315C"/>
                </a:solidFill>
                <a:latin typeface="Arial" pitchFamily="34" charset="0"/>
                <a:ea typeface="Arial" pitchFamily="34" charset="-122"/>
                <a:cs typeface="Arial" pitchFamily="34" charset="-120"/>
              </a:rPr>
              <a:t>L’innovation n’est pas la technologie — c’est le modèle</a:t>
            </a:r>
            <a:endParaRPr lang="en-US" sz="2750" dirty="0"/>
          </a:p>
        </p:txBody>
      </p:sp>
      <p:sp>
        <p:nvSpPr>
          <p:cNvPr id="3" name="Shape 1"/>
          <p:cNvSpPr/>
          <p:nvPr/>
        </p:nvSpPr>
        <p:spPr>
          <a:xfrm>
            <a:off x="566928" y="1298448"/>
            <a:ext cx="3602736" cy="3054096"/>
          </a:xfrm>
          <a:prstGeom prst="roundRect">
            <a:avLst>
              <a:gd name="adj" fmla="val 1796"/>
            </a:avLst>
          </a:prstGeom>
          <a:solidFill>
            <a:srgbClr val="EEF4FA"/>
          </a:solidFill>
          <a:ln/>
        </p:spPr>
      </p:sp>
      <p:sp>
        <p:nvSpPr>
          <p:cNvPr id="4" name="Text 2"/>
          <p:cNvSpPr/>
          <p:nvPr/>
        </p:nvSpPr>
        <p:spPr>
          <a:xfrm>
            <a:off x="841248" y="1517904"/>
            <a:ext cx="3054096" cy="420624"/>
          </a:xfrm>
          <a:prstGeom prst="rect">
            <a:avLst/>
          </a:prstGeom>
          <a:noFill/>
          <a:ln/>
        </p:spPr>
        <p:txBody>
          <a:bodyPr wrap="square" lIns="0" tIns="0" rIns="0" bIns="0" rtlCol="0" anchor="ctr"/>
          <a:lstStyle/>
          <a:p>
            <a:pPr indent="0" marL="0">
              <a:buNone/>
            </a:pPr>
            <a:r>
              <a:rPr lang="en-US" sz="1900" b="1" spc="80" kern="0" dirty="0">
                <a:solidFill>
                  <a:srgbClr val="13315C"/>
                </a:solidFill>
                <a:latin typeface="Arial" pitchFamily="34" charset="0"/>
                <a:ea typeface="Arial" pitchFamily="34" charset="-122"/>
                <a:cs typeface="Arial" pitchFamily="34" charset="-120"/>
              </a:rPr>
              <a:t>UN SEUL TOIT</a:t>
            </a:r>
            <a:endParaRPr lang="en-US" sz="1900" dirty="0"/>
          </a:p>
        </p:txBody>
      </p:sp>
      <p:sp>
        <p:nvSpPr>
          <p:cNvPr id="5" name="Text 3"/>
          <p:cNvSpPr/>
          <p:nvPr/>
        </p:nvSpPr>
        <p:spPr>
          <a:xfrm>
            <a:off x="841248" y="2011680"/>
            <a:ext cx="3054096" cy="2194560"/>
          </a:xfrm>
          <a:prstGeom prst="rect">
            <a:avLst/>
          </a:prstGeom>
          <a:noFill/>
          <a:ln/>
        </p:spPr>
        <p:txBody>
          <a:bodyPr wrap="square" lIns="0" tIns="0" rIns="0" bIns="0" rtlCol="0" anchor="ctr"/>
          <a:lstStyle/>
          <a:p>
            <a:pPr indent="0" marL="0">
              <a:lnSpc>
                <a:spcPts val="2000"/>
              </a:lnSpc>
              <a:buNone/>
            </a:pPr>
            <a:r>
              <a:rPr lang="en-US" sz="1550" dirty="0">
                <a:solidFill>
                  <a:srgbClr val="1F2A3D"/>
                </a:solidFill>
                <a:latin typeface="Arial" pitchFamily="34" charset="0"/>
                <a:ea typeface="Arial" pitchFamily="34" charset="-122"/>
                <a:cs typeface="Arial" pitchFamily="34" charset="-120"/>
              </a:rPr>
              <a:t>Transformation, froid, eau, formation, finance, mobilité — tous les piliers agrégés dans un même bâtiment, un même programme. Un investissement, pas six.</a:t>
            </a:r>
            <a:endParaRPr lang="en-US" sz="1550" dirty="0"/>
          </a:p>
        </p:txBody>
      </p:sp>
      <p:sp>
        <p:nvSpPr>
          <p:cNvPr id="6" name="Shape 4"/>
          <p:cNvSpPr/>
          <p:nvPr/>
        </p:nvSpPr>
        <p:spPr>
          <a:xfrm>
            <a:off x="4293108" y="1298448"/>
            <a:ext cx="3602736" cy="3054096"/>
          </a:xfrm>
          <a:prstGeom prst="roundRect">
            <a:avLst>
              <a:gd name="adj" fmla="val 1796"/>
            </a:avLst>
          </a:prstGeom>
          <a:solidFill>
            <a:srgbClr val="F8F1E4"/>
          </a:solidFill>
          <a:ln/>
        </p:spPr>
      </p:sp>
      <p:sp>
        <p:nvSpPr>
          <p:cNvPr id="7" name="Text 5"/>
          <p:cNvSpPr/>
          <p:nvPr/>
        </p:nvSpPr>
        <p:spPr>
          <a:xfrm>
            <a:off x="4567428" y="1517904"/>
            <a:ext cx="3054096" cy="420624"/>
          </a:xfrm>
          <a:prstGeom prst="rect">
            <a:avLst/>
          </a:prstGeom>
          <a:noFill/>
          <a:ln/>
        </p:spPr>
        <p:txBody>
          <a:bodyPr wrap="square" lIns="0" tIns="0" rIns="0" bIns="0" rtlCol="0" anchor="ctr"/>
          <a:lstStyle/>
          <a:p>
            <a:pPr indent="0" marL="0">
              <a:buNone/>
            </a:pPr>
            <a:r>
              <a:rPr lang="en-US" sz="1900" b="1" spc="80" kern="0" dirty="0">
                <a:solidFill>
                  <a:srgbClr val="B07A1E"/>
                </a:solidFill>
                <a:latin typeface="Arial" pitchFamily="34" charset="0"/>
                <a:ea typeface="Arial" pitchFamily="34" charset="-122"/>
                <a:cs typeface="Arial" pitchFamily="34" charset="-120"/>
              </a:rPr>
              <a:t>L’ÉNERGIE SUR PLACE</a:t>
            </a:r>
            <a:endParaRPr lang="en-US" sz="1900" dirty="0"/>
          </a:p>
        </p:txBody>
      </p:sp>
      <p:sp>
        <p:nvSpPr>
          <p:cNvPr id="8" name="Text 6"/>
          <p:cNvSpPr/>
          <p:nvPr/>
        </p:nvSpPr>
        <p:spPr>
          <a:xfrm>
            <a:off x="4567428" y="2011680"/>
            <a:ext cx="3054096" cy="2194560"/>
          </a:xfrm>
          <a:prstGeom prst="rect">
            <a:avLst/>
          </a:prstGeom>
          <a:noFill/>
          <a:ln/>
        </p:spPr>
        <p:txBody>
          <a:bodyPr wrap="square" lIns="0" tIns="0" rIns="0" bIns="0" rtlCol="0" anchor="ctr"/>
          <a:lstStyle/>
          <a:p>
            <a:pPr indent="0" marL="0">
              <a:lnSpc>
                <a:spcPts val="2000"/>
              </a:lnSpc>
              <a:buNone/>
            </a:pPr>
            <a:r>
              <a:rPr lang="en-US" sz="1550" dirty="0">
                <a:solidFill>
                  <a:srgbClr val="1F2A3D"/>
                </a:solidFill>
                <a:latin typeface="Arial" pitchFamily="34" charset="0"/>
                <a:ea typeface="Arial" pitchFamily="34" charset="-122"/>
                <a:cs typeface="Arial" pitchFamily="34" charset="-120"/>
              </a:rPr>
              <a:t>L’énergie est consommée là où elle est produite : pas de poteaux, pas de lignes, pas de raccordements à construire d’abord. La partie la plus lente et la plus coûteuse de l’électrification sort du chemin critique.</a:t>
            </a:r>
            <a:endParaRPr lang="en-US" sz="1550" dirty="0"/>
          </a:p>
        </p:txBody>
      </p:sp>
      <p:sp>
        <p:nvSpPr>
          <p:cNvPr id="9" name="Shape 7"/>
          <p:cNvSpPr/>
          <p:nvPr/>
        </p:nvSpPr>
        <p:spPr>
          <a:xfrm>
            <a:off x="8019288" y="1298448"/>
            <a:ext cx="3602736" cy="3054096"/>
          </a:xfrm>
          <a:prstGeom prst="roundRect">
            <a:avLst>
              <a:gd name="adj" fmla="val 1796"/>
            </a:avLst>
          </a:prstGeom>
          <a:solidFill>
            <a:srgbClr val="EEF4FA"/>
          </a:solidFill>
          <a:ln/>
        </p:spPr>
      </p:sp>
      <p:sp>
        <p:nvSpPr>
          <p:cNvPr id="10" name="Text 8"/>
          <p:cNvSpPr/>
          <p:nvPr/>
        </p:nvSpPr>
        <p:spPr>
          <a:xfrm>
            <a:off x="8293608" y="1517904"/>
            <a:ext cx="3054096" cy="420624"/>
          </a:xfrm>
          <a:prstGeom prst="rect">
            <a:avLst/>
          </a:prstGeom>
          <a:noFill/>
          <a:ln/>
        </p:spPr>
        <p:txBody>
          <a:bodyPr wrap="square" lIns="0" tIns="0" rIns="0" bIns="0" rtlCol="0" anchor="ctr"/>
          <a:lstStyle/>
          <a:p>
            <a:pPr indent="0" marL="0">
              <a:buNone/>
            </a:pPr>
            <a:r>
              <a:rPr lang="en-US" sz="1900" b="1" spc="80" kern="0" dirty="0">
                <a:solidFill>
                  <a:srgbClr val="13315C"/>
                </a:solidFill>
                <a:latin typeface="Arial" pitchFamily="34" charset="0"/>
                <a:ea typeface="Arial" pitchFamily="34" charset="-122"/>
                <a:cs typeface="Arial" pitchFamily="34" charset="-120"/>
              </a:rPr>
              <a:t>UNE SEULE GESTION</a:t>
            </a:r>
            <a:endParaRPr lang="en-US" sz="1900" dirty="0"/>
          </a:p>
        </p:txBody>
      </p:sp>
      <p:sp>
        <p:nvSpPr>
          <p:cNvPr id="11" name="Text 9"/>
          <p:cNvSpPr/>
          <p:nvPr/>
        </p:nvSpPr>
        <p:spPr>
          <a:xfrm>
            <a:off x="8293608" y="2011680"/>
            <a:ext cx="3054096" cy="2194560"/>
          </a:xfrm>
          <a:prstGeom prst="rect">
            <a:avLst/>
          </a:prstGeom>
          <a:noFill/>
          <a:ln/>
        </p:spPr>
        <p:txBody>
          <a:bodyPr wrap="square" lIns="0" tIns="0" rIns="0" bIns="0" rtlCol="0" anchor="ctr"/>
          <a:lstStyle/>
          <a:p>
            <a:pPr indent="0" marL="0">
              <a:lnSpc>
                <a:spcPts val="2000"/>
              </a:lnSpc>
              <a:buNone/>
            </a:pPr>
            <a:r>
              <a:rPr lang="en-US" sz="1550" dirty="0">
                <a:solidFill>
                  <a:srgbClr val="1F2A3D"/>
                </a:solidFill>
                <a:latin typeface="Arial" pitchFamily="34" charset="0"/>
                <a:ea typeface="Arial" pitchFamily="34" charset="-122"/>
                <a:cs typeface="Arial" pitchFamily="34" charset="-120"/>
              </a:rPr>
              <a:t>Une seule équipe, une seule logistique, une seule administration portent l’ensemble des services — et l’exploitation de long terme devient finançable.</a:t>
            </a:r>
            <a:endParaRPr lang="en-US" sz="1550" dirty="0"/>
          </a:p>
        </p:txBody>
      </p:sp>
      <p:sp>
        <p:nvSpPr>
          <p:cNvPr id="12" name="Shape 10"/>
          <p:cNvSpPr/>
          <p:nvPr/>
        </p:nvSpPr>
        <p:spPr>
          <a:xfrm>
            <a:off x="566928" y="4517136"/>
            <a:ext cx="11055096" cy="1463040"/>
          </a:xfrm>
          <a:prstGeom prst="roundRect">
            <a:avLst>
              <a:gd name="adj" fmla="val 3750"/>
            </a:avLst>
          </a:prstGeom>
          <a:solidFill>
            <a:srgbClr val="13315C"/>
          </a:solidFill>
          <a:ln/>
        </p:spPr>
      </p:sp>
      <p:sp>
        <p:nvSpPr>
          <p:cNvPr id="13" name="Text 11"/>
          <p:cNvSpPr/>
          <p:nvPr/>
        </p:nvSpPr>
        <p:spPr>
          <a:xfrm>
            <a:off x="960120" y="4517136"/>
            <a:ext cx="10287000" cy="1463040"/>
          </a:xfrm>
          <a:prstGeom prst="rect">
            <a:avLst/>
          </a:prstGeom>
          <a:noFill/>
          <a:ln/>
        </p:spPr>
        <p:txBody>
          <a:bodyPr wrap="square" lIns="0" tIns="0" rIns="0" bIns="0" rtlCol="0" anchor="ctr"/>
          <a:lstStyle/>
          <a:p>
            <a:pPr indent="0" marL="0">
              <a:lnSpc>
                <a:spcPts val="2300"/>
              </a:lnSpc>
              <a:buNone/>
            </a:pPr>
            <a:r>
              <a:rPr lang="en-US" sz="1750" dirty="0">
                <a:solidFill>
                  <a:srgbClr val="FFFFFF"/>
                </a:solidFill>
                <a:latin typeface="Arial" pitchFamily="34" charset="0"/>
                <a:ea typeface="Arial" pitchFamily="34" charset="-122"/>
                <a:cs typeface="Arial" pitchFamily="34" charset="-120"/>
              </a:rPr>
              <a:t>Coût par site réduit, construction rapide, exploitation durable : un modèle conçu dès l’origine pour être répliqué — la différence entre un pilote et un programme.</a:t>
            </a:r>
            <a:endParaRPr lang="en-US" sz="1750" dirty="0"/>
          </a:p>
        </p:txBody>
      </p:sp>
      <p:sp>
        <p:nvSpPr>
          <p:cNvPr id="14" name="Shape 12"/>
          <p:cNvSpPr/>
          <p:nvPr/>
        </p:nvSpPr>
        <p:spPr>
          <a:xfrm>
            <a:off x="566928" y="6510528"/>
            <a:ext cx="11055096" cy="0"/>
          </a:xfrm>
          <a:prstGeom prst="line">
            <a:avLst/>
          </a:prstGeom>
          <a:noFill/>
          <a:ln w="9525">
            <a:solidFill>
              <a:srgbClr val="C5CFDB"/>
            </a:solidFill>
            <a:prstDash val="solid"/>
          </a:ln>
        </p:spPr>
      </p:sp>
      <p:sp>
        <p:nvSpPr>
          <p:cNvPr id="15" name="Text 13"/>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16" name="Text 14"/>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4 / 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En roue et rayons — la dorsale à deux échelles</a:t>
            </a:r>
            <a:endParaRPr lang="en-US" sz="2800" dirty="0"/>
          </a:p>
        </p:txBody>
      </p:sp>
      <p:sp>
        <p:nvSpPr>
          <p:cNvPr id="3" name="Shape 1"/>
          <p:cNvSpPr/>
          <p:nvPr/>
        </p:nvSpPr>
        <p:spPr>
          <a:xfrm flipH="1">
            <a:off x="3154680" y="1728216"/>
            <a:ext cx="0" cy="868680"/>
          </a:xfrm>
          <a:prstGeom prst="line">
            <a:avLst/>
          </a:prstGeom>
          <a:noFill/>
          <a:ln w="15875">
            <a:solidFill>
              <a:srgbClr val="8FA6C2"/>
            </a:solidFill>
            <a:prstDash val="solid"/>
          </a:ln>
        </p:spPr>
      </p:sp>
      <p:sp>
        <p:nvSpPr>
          <p:cNvPr id="4" name="Shape 2"/>
          <p:cNvSpPr/>
          <p:nvPr/>
        </p:nvSpPr>
        <p:spPr>
          <a:xfrm>
            <a:off x="2889504" y="1463040"/>
            <a:ext cx="530352" cy="530352"/>
          </a:xfrm>
          <a:prstGeom prst="ellipse">
            <a:avLst/>
          </a:prstGeom>
          <a:solidFill>
            <a:srgbClr val="1D4370"/>
          </a:solidFill>
          <a:ln/>
        </p:spPr>
      </p:sp>
      <p:pic>
        <p:nvPicPr>
          <p:cNvPr id="5" name="Image 0" descr="assets/hub_white.png">    </p:cNvPr>
          <p:cNvPicPr>
            <a:picLocks noChangeAspect="1"/>
          </p:cNvPicPr>
          <p:nvPr/>
        </p:nvPicPr>
        <p:blipFill>
          <a:blip r:embed="rId1"/>
          <a:stretch>
            <a:fillRect/>
          </a:stretch>
        </p:blipFill>
        <p:spPr>
          <a:xfrm>
            <a:off x="3008376" y="1581912"/>
            <a:ext cx="292608" cy="292608"/>
          </a:xfrm>
          <a:prstGeom prst="rect">
            <a:avLst/>
          </a:prstGeom>
        </p:spPr>
      </p:pic>
      <p:sp>
        <p:nvSpPr>
          <p:cNvPr id="6" name="Shape 3"/>
          <p:cNvSpPr/>
          <p:nvPr/>
        </p:nvSpPr>
        <p:spPr>
          <a:xfrm>
            <a:off x="2402381" y="2162556"/>
            <a:ext cx="752299" cy="434340"/>
          </a:xfrm>
          <a:prstGeom prst="line">
            <a:avLst/>
          </a:prstGeom>
          <a:noFill/>
          <a:ln w="15875">
            <a:solidFill>
              <a:srgbClr val="8FA6C2"/>
            </a:solidFill>
            <a:prstDash val="solid"/>
          </a:ln>
        </p:spPr>
      </p:sp>
      <p:sp>
        <p:nvSpPr>
          <p:cNvPr id="7" name="Shape 4"/>
          <p:cNvSpPr/>
          <p:nvPr/>
        </p:nvSpPr>
        <p:spPr>
          <a:xfrm>
            <a:off x="2137205" y="1897380"/>
            <a:ext cx="530352" cy="530352"/>
          </a:xfrm>
          <a:prstGeom prst="ellipse">
            <a:avLst/>
          </a:prstGeom>
          <a:solidFill>
            <a:srgbClr val="1D4370"/>
          </a:solidFill>
          <a:ln/>
        </p:spPr>
      </p:sp>
      <p:pic>
        <p:nvPicPr>
          <p:cNvPr id="8" name="Image 1" descr="assets/hub_white.png">    </p:cNvPr>
          <p:cNvPicPr>
            <a:picLocks noChangeAspect="1"/>
          </p:cNvPicPr>
          <p:nvPr/>
        </p:nvPicPr>
        <p:blipFill>
          <a:blip r:embed="rId2"/>
          <a:stretch>
            <a:fillRect/>
          </a:stretch>
        </p:blipFill>
        <p:spPr>
          <a:xfrm>
            <a:off x="2256077" y="2016252"/>
            <a:ext cx="292608" cy="292608"/>
          </a:xfrm>
          <a:prstGeom prst="rect">
            <a:avLst/>
          </a:prstGeom>
        </p:spPr>
      </p:pic>
      <p:sp>
        <p:nvSpPr>
          <p:cNvPr id="9" name="Shape 5"/>
          <p:cNvSpPr/>
          <p:nvPr/>
        </p:nvSpPr>
        <p:spPr>
          <a:xfrm flipH="1">
            <a:off x="2402381" y="2596896"/>
            <a:ext cx="752299" cy="434340"/>
          </a:xfrm>
          <a:prstGeom prst="line">
            <a:avLst/>
          </a:prstGeom>
          <a:noFill/>
          <a:ln w="15875">
            <a:solidFill>
              <a:srgbClr val="8FA6C2"/>
            </a:solidFill>
            <a:prstDash val="solid"/>
          </a:ln>
        </p:spPr>
      </p:sp>
      <p:sp>
        <p:nvSpPr>
          <p:cNvPr id="10" name="Shape 6"/>
          <p:cNvSpPr/>
          <p:nvPr/>
        </p:nvSpPr>
        <p:spPr>
          <a:xfrm>
            <a:off x="2137205" y="2766060"/>
            <a:ext cx="530352" cy="530352"/>
          </a:xfrm>
          <a:prstGeom prst="ellipse">
            <a:avLst/>
          </a:prstGeom>
          <a:solidFill>
            <a:srgbClr val="1D4370"/>
          </a:solidFill>
          <a:ln/>
        </p:spPr>
      </p:sp>
      <p:pic>
        <p:nvPicPr>
          <p:cNvPr id="11" name="Image 2" descr="assets/hub_white.png">    </p:cNvPr>
          <p:cNvPicPr>
            <a:picLocks noChangeAspect="1"/>
          </p:cNvPicPr>
          <p:nvPr/>
        </p:nvPicPr>
        <p:blipFill>
          <a:blip r:embed="rId3"/>
          <a:stretch>
            <a:fillRect/>
          </a:stretch>
        </p:blipFill>
        <p:spPr>
          <a:xfrm>
            <a:off x="2256077" y="2884932"/>
            <a:ext cx="292608" cy="292608"/>
          </a:xfrm>
          <a:prstGeom prst="rect">
            <a:avLst/>
          </a:prstGeom>
        </p:spPr>
      </p:pic>
      <p:sp>
        <p:nvSpPr>
          <p:cNvPr id="12" name="Shape 7"/>
          <p:cNvSpPr/>
          <p:nvPr/>
        </p:nvSpPr>
        <p:spPr>
          <a:xfrm>
            <a:off x="3154680" y="2596896"/>
            <a:ext cx="0" cy="868680"/>
          </a:xfrm>
          <a:prstGeom prst="line">
            <a:avLst/>
          </a:prstGeom>
          <a:noFill/>
          <a:ln w="15875">
            <a:solidFill>
              <a:srgbClr val="8FA6C2"/>
            </a:solidFill>
            <a:prstDash val="solid"/>
          </a:ln>
        </p:spPr>
      </p:sp>
      <p:sp>
        <p:nvSpPr>
          <p:cNvPr id="13" name="Shape 8"/>
          <p:cNvSpPr/>
          <p:nvPr/>
        </p:nvSpPr>
        <p:spPr>
          <a:xfrm>
            <a:off x="2889504" y="3200400"/>
            <a:ext cx="530352" cy="530352"/>
          </a:xfrm>
          <a:prstGeom prst="ellipse">
            <a:avLst/>
          </a:prstGeom>
          <a:solidFill>
            <a:srgbClr val="1D4370"/>
          </a:solidFill>
          <a:ln/>
        </p:spPr>
      </p:sp>
      <p:pic>
        <p:nvPicPr>
          <p:cNvPr id="14" name="Image 3" descr="assets/hub_white.png">    </p:cNvPr>
          <p:cNvPicPr>
            <a:picLocks noChangeAspect="1"/>
          </p:cNvPicPr>
          <p:nvPr/>
        </p:nvPicPr>
        <p:blipFill>
          <a:blip r:embed="rId4"/>
          <a:stretch>
            <a:fillRect/>
          </a:stretch>
        </p:blipFill>
        <p:spPr>
          <a:xfrm>
            <a:off x="3008376" y="3319272"/>
            <a:ext cx="292608" cy="292608"/>
          </a:xfrm>
          <a:prstGeom prst="rect">
            <a:avLst/>
          </a:prstGeom>
        </p:spPr>
      </p:pic>
      <p:sp>
        <p:nvSpPr>
          <p:cNvPr id="15" name="Shape 9"/>
          <p:cNvSpPr/>
          <p:nvPr/>
        </p:nvSpPr>
        <p:spPr>
          <a:xfrm>
            <a:off x="3154680" y="2596896"/>
            <a:ext cx="752299" cy="434340"/>
          </a:xfrm>
          <a:prstGeom prst="line">
            <a:avLst/>
          </a:prstGeom>
          <a:noFill/>
          <a:ln w="15875">
            <a:solidFill>
              <a:srgbClr val="8FA6C2"/>
            </a:solidFill>
            <a:prstDash val="solid"/>
          </a:ln>
        </p:spPr>
      </p:sp>
      <p:sp>
        <p:nvSpPr>
          <p:cNvPr id="16" name="Shape 10"/>
          <p:cNvSpPr/>
          <p:nvPr/>
        </p:nvSpPr>
        <p:spPr>
          <a:xfrm>
            <a:off x="3641803" y="2766060"/>
            <a:ext cx="530352" cy="530352"/>
          </a:xfrm>
          <a:prstGeom prst="ellipse">
            <a:avLst/>
          </a:prstGeom>
          <a:solidFill>
            <a:srgbClr val="1D4370"/>
          </a:solidFill>
          <a:ln/>
        </p:spPr>
      </p:sp>
      <p:pic>
        <p:nvPicPr>
          <p:cNvPr id="17" name="Image 4" descr="assets/hub_white.png">    </p:cNvPr>
          <p:cNvPicPr>
            <a:picLocks noChangeAspect="1"/>
          </p:cNvPicPr>
          <p:nvPr/>
        </p:nvPicPr>
        <p:blipFill>
          <a:blip r:embed="rId5"/>
          <a:stretch>
            <a:fillRect/>
          </a:stretch>
        </p:blipFill>
        <p:spPr>
          <a:xfrm>
            <a:off x="3760675" y="2884932"/>
            <a:ext cx="292608" cy="292608"/>
          </a:xfrm>
          <a:prstGeom prst="rect">
            <a:avLst/>
          </a:prstGeom>
        </p:spPr>
      </p:pic>
      <p:sp>
        <p:nvSpPr>
          <p:cNvPr id="18" name="Shape 11"/>
          <p:cNvSpPr/>
          <p:nvPr/>
        </p:nvSpPr>
        <p:spPr>
          <a:xfrm flipH="1">
            <a:off x="3154680" y="2162556"/>
            <a:ext cx="752299" cy="434340"/>
          </a:xfrm>
          <a:prstGeom prst="line">
            <a:avLst/>
          </a:prstGeom>
          <a:noFill/>
          <a:ln w="15875">
            <a:solidFill>
              <a:srgbClr val="8FA6C2"/>
            </a:solidFill>
            <a:prstDash val="solid"/>
          </a:ln>
        </p:spPr>
      </p:sp>
      <p:sp>
        <p:nvSpPr>
          <p:cNvPr id="19" name="Shape 12"/>
          <p:cNvSpPr/>
          <p:nvPr/>
        </p:nvSpPr>
        <p:spPr>
          <a:xfrm>
            <a:off x="3641803" y="1897380"/>
            <a:ext cx="530352" cy="530352"/>
          </a:xfrm>
          <a:prstGeom prst="ellipse">
            <a:avLst/>
          </a:prstGeom>
          <a:solidFill>
            <a:srgbClr val="1D4370"/>
          </a:solidFill>
          <a:ln/>
        </p:spPr>
      </p:sp>
      <p:pic>
        <p:nvPicPr>
          <p:cNvPr id="20" name="Image 5" descr="assets/hub_white.png">    </p:cNvPr>
          <p:cNvPicPr>
            <a:picLocks noChangeAspect="1"/>
          </p:cNvPicPr>
          <p:nvPr/>
        </p:nvPicPr>
        <p:blipFill>
          <a:blip r:embed="rId6"/>
          <a:stretch>
            <a:fillRect/>
          </a:stretch>
        </p:blipFill>
        <p:spPr>
          <a:xfrm>
            <a:off x="3760675" y="2016252"/>
            <a:ext cx="292608" cy="292608"/>
          </a:xfrm>
          <a:prstGeom prst="rect">
            <a:avLst/>
          </a:prstGeom>
        </p:spPr>
      </p:pic>
      <p:sp>
        <p:nvSpPr>
          <p:cNvPr id="21" name="Shape 13"/>
          <p:cNvSpPr/>
          <p:nvPr/>
        </p:nvSpPr>
        <p:spPr>
          <a:xfrm>
            <a:off x="2651760" y="2093976"/>
            <a:ext cx="1005840" cy="1005840"/>
          </a:xfrm>
          <a:prstGeom prst="ellipse">
            <a:avLst/>
          </a:prstGeom>
          <a:solidFill>
            <a:srgbClr val="13315C"/>
          </a:solidFill>
          <a:ln/>
        </p:spPr>
      </p:sp>
      <p:sp>
        <p:nvSpPr>
          <p:cNvPr id="22" name="Text 14"/>
          <p:cNvSpPr/>
          <p:nvPr/>
        </p:nvSpPr>
        <p:spPr>
          <a:xfrm>
            <a:off x="2651760" y="2093976"/>
            <a:ext cx="1005840" cy="1005840"/>
          </a:xfrm>
          <a:prstGeom prst="rect">
            <a:avLst/>
          </a:prstGeom>
          <a:noFill/>
          <a:ln/>
        </p:spPr>
        <p:txBody>
          <a:bodyPr wrap="square" lIns="0" tIns="0" rIns="0" bIns="0" rtlCol="0" anchor="ctr"/>
          <a:lstStyle/>
          <a:p>
            <a:pPr algn="ctr" indent="0" marL="0">
              <a:lnSpc>
                <a:spcPts val="1350"/>
              </a:lnSpc>
              <a:buNone/>
            </a:pPr>
            <a:r>
              <a:rPr lang="en-US" sz="1200" b="1" dirty="0">
                <a:solidFill>
                  <a:srgbClr val="FFFFFF"/>
                </a:solidFill>
                <a:latin typeface="Arial" pitchFamily="34" charset="0"/>
                <a:ea typeface="Arial" pitchFamily="34" charset="-122"/>
                <a:cs typeface="Arial" pitchFamily="34" charset="-120"/>
              </a:rPr>
              <a:t>SIÈGE</a:t>
            </a:r>
            <a:endParaRPr lang="en-US" sz="1200" dirty="0"/>
          </a:p>
          <a:p>
            <a:pPr algn="ctr" indent="0" marL="0">
              <a:lnSpc>
                <a:spcPts val="1350"/>
              </a:lnSpc>
              <a:buNone/>
            </a:pPr>
            <a:r>
              <a:rPr lang="en-US" sz="1200" b="1" dirty="0">
                <a:solidFill>
                  <a:srgbClr val="FFFFFF"/>
                </a:solidFill>
                <a:latin typeface="Arial" pitchFamily="34" charset="0"/>
                <a:ea typeface="Arial" pitchFamily="34" charset="-122"/>
                <a:cs typeface="Arial" pitchFamily="34" charset="-120"/>
              </a:rPr>
              <a:t>PAYS</a:t>
            </a:r>
            <a:endParaRPr lang="en-US" sz="1200" dirty="0"/>
          </a:p>
        </p:txBody>
      </p:sp>
      <p:sp>
        <p:nvSpPr>
          <p:cNvPr id="23" name="Shape 15"/>
          <p:cNvSpPr/>
          <p:nvPr/>
        </p:nvSpPr>
        <p:spPr>
          <a:xfrm>
            <a:off x="3904488" y="2167128"/>
            <a:ext cx="4617720" cy="429768"/>
          </a:xfrm>
          <a:prstGeom prst="line">
            <a:avLst/>
          </a:prstGeom>
          <a:noFill/>
          <a:ln w="19050">
            <a:solidFill>
              <a:srgbClr val="B07A1E"/>
            </a:solidFill>
            <a:prstDash val="dash"/>
          </a:ln>
        </p:spPr>
      </p:sp>
      <p:sp>
        <p:nvSpPr>
          <p:cNvPr id="24" name="Shape 16"/>
          <p:cNvSpPr/>
          <p:nvPr/>
        </p:nvSpPr>
        <p:spPr>
          <a:xfrm flipH="1">
            <a:off x="9006840" y="1728216"/>
            <a:ext cx="0" cy="868680"/>
          </a:xfrm>
          <a:prstGeom prst="line">
            <a:avLst/>
          </a:prstGeom>
          <a:noFill/>
          <a:ln w="15875">
            <a:solidFill>
              <a:srgbClr val="8FA6C2"/>
            </a:solidFill>
            <a:prstDash val="solid"/>
          </a:ln>
        </p:spPr>
      </p:sp>
      <p:sp>
        <p:nvSpPr>
          <p:cNvPr id="25" name="Shape 17"/>
          <p:cNvSpPr/>
          <p:nvPr/>
        </p:nvSpPr>
        <p:spPr>
          <a:xfrm>
            <a:off x="8741664" y="1463040"/>
            <a:ext cx="530352" cy="530352"/>
          </a:xfrm>
          <a:prstGeom prst="ellipse">
            <a:avLst/>
          </a:prstGeom>
          <a:solidFill>
            <a:srgbClr val="1D4370"/>
          </a:solidFill>
          <a:ln/>
        </p:spPr>
      </p:sp>
      <p:pic>
        <p:nvPicPr>
          <p:cNvPr id="26" name="Image 6" descr="assets/health_white.png">    </p:cNvPr>
          <p:cNvPicPr>
            <a:picLocks noChangeAspect="1"/>
          </p:cNvPicPr>
          <p:nvPr/>
        </p:nvPicPr>
        <p:blipFill>
          <a:blip r:embed="rId7"/>
          <a:stretch>
            <a:fillRect/>
          </a:stretch>
        </p:blipFill>
        <p:spPr>
          <a:xfrm>
            <a:off x="8860536" y="1581912"/>
            <a:ext cx="292608" cy="292608"/>
          </a:xfrm>
          <a:prstGeom prst="rect">
            <a:avLst/>
          </a:prstGeom>
        </p:spPr>
      </p:pic>
      <p:sp>
        <p:nvSpPr>
          <p:cNvPr id="27" name="Shape 18"/>
          <p:cNvSpPr/>
          <p:nvPr/>
        </p:nvSpPr>
        <p:spPr>
          <a:xfrm>
            <a:off x="8254541" y="2162556"/>
            <a:ext cx="752299" cy="434340"/>
          </a:xfrm>
          <a:prstGeom prst="line">
            <a:avLst/>
          </a:prstGeom>
          <a:noFill/>
          <a:ln w="15875">
            <a:solidFill>
              <a:srgbClr val="8FA6C2"/>
            </a:solidFill>
            <a:prstDash val="solid"/>
          </a:ln>
        </p:spPr>
      </p:sp>
      <p:sp>
        <p:nvSpPr>
          <p:cNvPr id="28" name="Shape 19"/>
          <p:cNvSpPr/>
          <p:nvPr/>
        </p:nvSpPr>
        <p:spPr>
          <a:xfrm>
            <a:off x="7989365" y="1897380"/>
            <a:ext cx="530352" cy="530352"/>
          </a:xfrm>
          <a:prstGeom prst="ellipse">
            <a:avLst/>
          </a:prstGeom>
          <a:solidFill>
            <a:srgbClr val="1D4370"/>
          </a:solidFill>
          <a:ln/>
        </p:spPr>
      </p:sp>
      <p:pic>
        <p:nvPicPr>
          <p:cNvPr id="29" name="Image 7" descr="assets/wheat_white.png">    </p:cNvPr>
          <p:cNvPicPr>
            <a:picLocks noChangeAspect="1"/>
          </p:cNvPicPr>
          <p:nvPr/>
        </p:nvPicPr>
        <p:blipFill>
          <a:blip r:embed="rId8"/>
          <a:stretch>
            <a:fillRect/>
          </a:stretch>
        </p:blipFill>
        <p:spPr>
          <a:xfrm>
            <a:off x="8108237" y="2016252"/>
            <a:ext cx="292608" cy="292608"/>
          </a:xfrm>
          <a:prstGeom prst="rect">
            <a:avLst/>
          </a:prstGeom>
        </p:spPr>
      </p:pic>
      <p:sp>
        <p:nvSpPr>
          <p:cNvPr id="30" name="Shape 20"/>
          <p:cNvSpPr/>
          <p:nvPr/>
        </p:nvSpPr>
        <p:spPr>
          <a:xfrm flipH="1">
            <a:off x="8254541" y="2596896"/>
            <a:ext cx="752299" cy="434340"/>
          </a:xfrm>
          <a:prstGeom prst="line">
            <a:avLst/>
          </a:prstGeom>
          <a:noFill/>
          <a:ln w="15875">
            <a:solidFill>
              <a:srgbClr val="8FA6C2"/>
            </a:solidFill>
            <a:prstDash val="solid"/>
          </a:ln>
        </p:spPr>
      </p:sp>
      <p:sp>
        <p:nvSpPr>
          <p:cNvPr id="31" name="Shape 21"/>
          <p:cNvSpPr/>
          <p:nvPr/>
        </p:nvSpPr>
        <p:spPr>
          <a:xfrm>
            <a:off x="7989365" y="2766060"/>
            <a:ext cx="530352" cy="530352"/>
          </a:xfrm>
          <a:prstGeom prst="ellipse">
            <a:avLst/>
          </a:prstGeom>
          <a:solidFill>
            <a:srgbClr val="1D4370"/>
          </a:solidFill>
          <a:ln/>
        </p:spPr>
      </p:sp>
      <p:pic>
        <p:nvPicPr>
          <p:cNvPr id="32" name="Image 8" descr="assets/moto_white.png">    </p:cNvPr>
          <p:cNvPicPr>
            <a:picLocks noChangeAspect="1"/>
          </p:cNvPicPr>
          <p:nvPr/>
        </p:nvPicPr>
        <p:blipFill>
          <a:blip r:embed="rId9"/>
          <a:stretch>
            <a:fillRect/>
          </a:stretch>
        </p:blipFill>
        <p:spPr>
          <a:xfrm>
            <a:off x="8108237" y="2884932"/>
            <a:ext cx="292608" cy="292608"/>
          </a:xfrm>
          <a:prstGeom prst="rect">
            <a:avLst/>
          </a:prstGeom>
        </p:spPr>
      </p:pic>
      <p:sp>
        <p:nvSpPr>
          <p:cNvPr id="33" name="Shape 22"/>
          <p:cNvSpPr/>
          <p:nvPr/>
        </p:nvSpPr>
        <p:spPr>
          <a:xfrm>
            <a:off x="9006840" y="2596896"/>
            <a:ext cx="0" cy="868680"/>
          </a:xfrm>
          <a:prstGeom prst="line">
            <a:avLst/>
          </a:prstGeom>
          <a:noFill/>
          <a:ln w="15875">
            <a:solidFill>
              <a:srgbClr val="8FA6C2"/>
            </a:solidFill>
            <a:prstDash val="solid"/>
          </a:ln>
        </p:spPr>
      </p:sp>
      <p:sp>
        <p:nvSpPr>
          <p:cNvPr id="34" name="Shape 23"/>
          <p:cNvSpPr/>
          <p:nvPr/>
        </p:nvSpPr>
        <p:spPr>
          <a:xfrm>
            <a:off x="8741664" y="3200400"/>
            <a:ext cx="530352" cy="530352"/>
          </a:xfrm>
          <a:prstGeom prst="ellipse">
            <a:avLst/>
          </a:prstGeom>
          <a:solidFill>
            <a:srgbClr val="1D4370"/>
          </a:solidFill>
          <a:ln/>
        </p:spPr>
      </p:sp>
      <p:pic>
        <p:nvPicPr>
          <p:cNvPr id="35" name="Image 9" descr="assets/faucet_white.png">    </p:cNvPr>
          <p:cNvPicPr>
            <a:picLocks noChangeAspect="1"/>
          </p:cNvPicPr>
          <p:nvPr/>
        </p:nvPicPr>
        <p:blipFill>
          <a:blip r:embed="rId10"/>
          <a:stretch>
            <a:fillRect/>
          </a:stretch>
        </p:blipFill>
        <p:spPr>
          <a:xfrm>
            <a:off x="8860536" y="3319272"/>
            <a:ext cx="292608" cy="292608"/>
          </a:xfrm>
          <a:prstGeom prst="rect">
            <a:avLst/>
          </a:prstGeom>
        </p:spPr>
      </p:pic>
      <p:sp>
        <p:nvSpPr>
          <p:cNvPr id="36" name="Shape 24"/>
          <p:cNvSpPr/>
          <p:nvPr/>
        </p:nvSpPr>
        <p:spPr>
          <a:xfrm>
            <a:off x="9006840" y="2596896"/>
            <a:ext cx="752299" cy="434340"/>
          </a:xfrm>
          <a:prstGeom prst="line">
            <a:avLst/>
          </a:prstGeom>
          <a:noFill/>
          <a:ln w="15875">
            <a:solidFill>
              <a:srgbClr val="8FA6C2"/>
            </a:solidFill>
            <a:prstDash val="solid"/>
          </a:ln>
        </p:spPr>
      </p:sp>
      <p:sp>
        <p:nvSpPr>
          <p:cNvPr id="37" name="Shape 25"/>
          <p:cNvSpPr/>
          <p:nvPr/>
        </p:nvSpPr>
        <p:spPr>
          <a:xfrm>
            <a:off x="9493963" y="2766060"/>
            <a:ext cx="530352" cy="530352"/>
          </a:xfrm>
          <a:prstGeom prst="ellipse">
            <a:avLst/>
          </a:prstGeom>
          <a:solidFill>
            <a:srgbClr val="1D4370"/>
          </a:solidFill>
          <a:ln/>
        </p:spPr>
      </p:sp>
      <p:pic>
        <p:nvPicPr>
          <p:cNvPr id="38" name="Image 10" descr="assets/grad_white.png">    </p:cNvPr>
          <p:cNvPicPr>
            <a:picLocks noChangeAspect="1"/>
          </p:cNvPicPr>
          <p:nvPr/>
        </p:nvPicPr>
        <p:blipFill>
          <a:blip r:embed="rId11"/>
          <a:stretch>
            <a:fillRect/>
          </a:stretch>
        </p:blipFill>
        <p:spPr>
          <a:xfrm>
            <a:off x="9612835" y="2884932"/>
            <a:ext cx="292608" cy="292608"/>
          </a:xfrm>
          <a:prstGeom prst="rect">
            <a:avLst/>
          </a:prstGeom>
        </p:spPr>
      </p:pic>
      <p:sp>
        <p:nvSpPr>
          <p:cNvPr id="39" name="Shape 26"/>
          <p:cNvSpPr/>
          <p:nvPr/>
        </p:nvSpPr>
        <p:spPr>
          <a:xfrm flipH="1">
            <a:off x="9006840" y="2162556"/>
            <a:ext cx="752299" cy="434340"/>
          </a:xfrm>
          <a:prstGeom prst="line">
            <a:avLst/>
          </a:prstGeom>
          <a:noFill/>
          <a:ln w="15875">
            <a:solidFill>
              <a:srgbClr val="8FA6C2"/>
            </a:solidFill>
            <a:prstDash val="solid"/>
          </a:ln>
        </p:spPr>
      </p:sp>
      <p:sp>
        <p:nvSpPr>
          <p:cNvPr id="40" name="Shape 27"/>
          <p:cNvSpPr/>
          <p:nvPr/>
        </p:nvSpPr>
        <p:spPr>
          <a:xfrm>
            <a:off x="9493963" y="1897380"/>
            <a:ext cx="530352" cy="530352"/>
          </a:xfrm>
          <a:prstGeom prst="ellipse">
            <a:avLst/>
          </a:prstGeom>
          <a:solidFill>
            <a:srgbClr val="1D4370"/>
          </a:solidFill>
          <a:ln/>
        </p:spPr>
      </p:sp>
      <p:pic>
        <p:nvPicPr>
          <p:cNvPr id="41" name="Image 11" descr="assets/store_white.png">    </p:cNvPr>
          <p:cNvPicPr>
            <a:picLocks noChangeAspect="1"/>
          </p:cNvPicPr>
          <p:nvPr/>
        </p:nvPicPr>
        <p:blipFill>
          <a:blip r:embed="rId12"/>
          <a:stretch>
            <a:fillRect/>
          </a:stretch>
        </p:blipFill>
        <p:spPr>
          <a:xfrm>
            <a:off x="9612835" y="2016252"/>
            <a:ext cx="292608" cy="292608"/>
          </a:xfrm>
          <a:prstGeom prst="rect">
            <a:avLst/>
          </a:prstGeom>
        </p:spPr>
      </p:pic>
      <p:sp>
        <p:nvSpPr>
          <p:cNvPr id="42" name="Shape 28"/>
          <p:cNvSpPr/>
          <p:nvPr/>
        </p:nvSpPr>
        <p:spPr>
          <a:xfrm>
            <a:off x="8503920" y="2093976"/>
            <a:ext cx="1005840" cy="1005840"/>
          </a:xfrm>
          <a:prstGeom prst="ellipse">
            <a:avLst/>
          </a:prstGeom>
          <a:solidFill>
            <a:srgbClr val="B07A1E"/>
          </a:solidFill>
          <a:ln/>
        </p:spPr>
      </p:sp>
      <p:pic>
        <p:nvPicPr>
          <p:cNvPr id="43" name="Image 12" descr="assets/hub_white.png">    </p:cNvPr>
          <p:cNvPicPr>
            <a:picLocks noChangeAspect="1"/>
          </p:cNvPicPr>
          <p:nvPr/>
        </p:nvPicPr>
        <p:blipFill>
          <a:blip r:embed="rId13"/>
          <a:stretch>
            <a:fillRect/>
          </a:stretch>
        </p:blipFill>
        <p:spPr>
          <a:xfrm>
            <a:off x="8741664" y="2331720"/>
            <a:ext cx="530352" cy="530352"/>
          </a:xfrm>
          <a:prstGeom prst="rect">
            <a:avLst/>
          </a:prstGeom>
        </p:spPr>
      </p:pic>
      <p:sp>
        <p:nvSpPr>
          <p:cNvPr id="44" name="Text 29"/>
          <p:cNvSpPr/>
          <p:nvPr/>
        </p:nvSpPr>
        <p:spPr>
          <a:xfrm>
            <a:off x="6382512" y="1993392"/>
            <a:ext cx="1426464" cy="329184"/>
          </a:xfrm>
          <a:prstGeom prst="rect">
            <a:avLst/>
          </a:prstGeom>
          <a:noFill/>
          <a:ln/>
        </p:spPr>
        <p:txBody>
          <a:bodyPr wrap="square" lIns="0" tIns="0" rIns="0" bIns="0" rtlCol="0" anchor="ctr"/>
          <a:lstStyle/>
          <a:p>
            <a:pPr algn="r" indent="0" marL="0">
              <a:lnSpc>
                <a:spcPts val="1150"/>
              </a:lnSpc>
              <a:buNone/>
            </a:pPr>
            <a:r>
              <a:rPr lang="en-US" sz="1000" b="1" dirty="0">
                <a:solidFill>
                  <a:srgbClr val="13315C"/>
                </a:solidFill>
                <a:latin typeface="Arial" pitchFamily="34" charset="0"/>
                <a:ea typeface="Arial" pitchFamily="34" charset="-122"/>
                <a:cs typeface="Arial" pitchFamily="34" charset="-120"/>
              </a:rPr>
              <a:t>fermes &amp; coopératives</a:t>
            </a:r>
            <a:endParaRPr lang="en-US" sz="1000" dirty="0"/>
          </a:p>
        </p:txBody>
      </p:sp>
      <p:sp>
        <p:nvSpPr>
          <p:cNvPr id="45" name="Text 30"/>
          <p:cNvSpPr/>
          <p:nvPr/>
        </p:nvSpPr>
        <p:spPr>
          <a:xfrm>
            <a:off x="6382512" y="2871216"/>
            <a:ext cx="1426464" cy="329184"/>
          </a:xfrm>
          <a:prstGeom prst="rect">
            <a:avLst/>
          </a:prstGeom>
          <a:noFill/>
          <a:ln/>
        </p:spPr>
        <p:txBody>
          <a:bodyPr wrap="square" lIns="0" tIns="0" rIns="0" bIns="0" rtlCol="0" anchor="ctr"/>
          <a:lstStyle/>
          <a:p>
            <a:pPr algn="r" indent="0" marL="0">
              <a:lnSpc>
                <a:spcPts val="1150"/>
              </a:lnSpc>
              <a:buNone/>
            </a:pPr>
            <a:r>
              <a:rPr lang="en-US" sz="1000" b="1" dirty="0">
                <a:solidFill>
                  <a:srgbClr val="13315C"/>
                </a:solidFill>
                <a:latin typeface="Arial" pitchFamily="34" charset="0"/>
                <a:ea typeface="Arial" pitchFamily="34" charset="-122"/>
                <a:cs typeface="Arial" pitchFamily="34" charset="-120"/>
              </a:rPr>
              <a:t>agents &amp; e-mobilité</a:t>
            </a:r>
            <a:endParaRPr lang="en-US" sz="1000" dirty="0"/>
          </a:p>
        </p:txBody>
      </p:sp>
      <p:sp>
        <p:nvSpPr>
          <p:cNvPr id="46" name="Text 31"/>
          <p:cNvSpPr/>
          <p:nvPr/>
        </p:nvSpPr>
        <p:spPr>
          <a:xfrm>
            <a:off x="10113264" y="1993392"/>
            <a:ext cx="1426464" cy="329184"/>
          </a:xfrm>
          <a:prstGeom prst="rect">
            <a:avLst/>
          </a:prstGeom>
          <a:noFill/>
          <a:ln/>
        </p:spPr>
        <p:txBody>
          <a:bodyPr wrap="square" lIns="0" tIns="0" rIns="0" bIns="0" rtlCol="0" anchor="ctr"/>
          <a:lstStyle/>
          <a:p>
            <a:pPr indent="0" marL="0">
              <a:lnSpc>
                <a:spcPts val="1150"/>
              </a:lnSpc>
              <a:buNone/>
            </a:pPr>
            <a:r>
              <a:rPr lang="en-US" sz="1000" b="1" dirty="0">
                <a:solidFill>
                  <a:srgbClr val="13315C"/>
                </a:solidFill>
                <a:latin typeface="Arial" pitchFamily="34" charset="0"/>
                <a:ea typeface="Arial" pitchFamily="34" charset="-122"/>
                <a:cs typeface="Arial" pitchFamily="34" charset="-120"/>
              </a:rPr>
              <a:t>ménages &amp; marchés</a:t>
            </a:r>
            <a:endParaRPr lang="en-US" sz="1000" dirty="0"/>
          </a:p>
        </p:txBody>
      </p:sp>
      <p:sp>
        <p:nvSpPr>
          <p:cNvPr id="47" name="Text 32"/>
          <p:cNvSpPr/>
          <p:nvPr/>
        </p:nvSpPr>
        <p:spPr>
          <a:xfrm>
            <a:off x="10113264" y="2871216"/>
            <a:ext cx="1426464" cy="329184"/>
          </a:xfrm>
          <a:prstGeom prst="rect">
            <a:avLst/>
          </a:prstGeom>
          <a:noFill/>
          <a:ln/>
        </p:spPr>
        <p:txBody>
          <a:bodyPr wrap="square" lIns="0" tIns="0" rIns="0" bIns="0" rtlCol="0" anchor="ctr"/>
          <a:lstStyle/>
          <a:p>
            <a:pPr indent="0" marL="0">
              <a:lnSpc>
                <a:spcPts val="1150"/>
              </a:lnSpc>
              <a:buNone/>
            </a:pPr>
            <a:r>
              <a:rPr lang="en-US" sz="1000" b="1" dirty="0">
                <a:solidFill>
                  <a:srgbClr val="13315C"/>
                </a:solidFill>
                <a:latin typeface="Arial" pitchFamily="34" charset="0"/>
                <a:ea typeface="Arial" pitchFamily="34" charset="-122"/>
                <a:cs typeface="Arial" pitchFamily="34" charset="-120"/>
              </a:rPr>
              <a:t>écoles &amp; formation</a:t>
            </a:r>
            <a:endParaRPr lang="en-US" sz="1000" dirty="0"/>
          </a:p>
        </p:txBody>
      </p:sp>
      <p:sp>
        <p:nvSpPr>
          <p:cNvPr id="48" name="Shape 33"/>
          <p:cNvSpPr/>
          <p:nvPr/>
        </p:nvSpPr>
        <p:spPr>
          <a:xfrm>
            <a:off x="566928" y="3986784"/>
            <a:ext cx="5358384" cy="1078992"/>
          </a:xfrm>
          <a:prstGeom prst="roundRect">
            <a:avLst>
              <a:gd name="adj" fmla="val 4237"/>
            </a:avLst>
          </a:prstGeom>
          <a:solidFill>
            <a:srgbClr val="EEF4FA"/>
          </a:solidFill>
          <a:ln/>
        </p:spPr>
      </p:sp>
      <p:sp>
        <p:nvSpPr>
          <p:cNvPr id="49" name="Text 34"/>
          <p:cNvSpPr/>
          <p:nvPr/>
        </p:nvSpPr>
        <p:spPr>
          <a:xfrm>
            <a:off x="822960" y="4096512"/>
            <a:ext cx="4864608" cy="877824"/>
          </a:xfrm>
          <a:prstGeom prst="rect">
            <a:avLst/>
          </a:prstGeom>
          <a:noFill/>
          <a:ln/>
        </p:spPr>
        <p:txBody>
          <a:bodyPr wrap="square" lIns="0" tIns="0" rIns="0" bIns="0" rtlCol="0" anchor="ctr"/>
          <a:lstStyle/>
          <a:p>
            <a:pPr indent="0" marL="0">
              <a:lnSpc>
                <a:spcPts val="1600"/>
              </a:lnSpc>
              <a:buNone/>
            </a:pPr>
            <a:r>
              <a:rPr lang="en-US" sz="1250" b="1" dirty="0">
                <a:solidFill>
                  <a:srgbClr val="13315C"/>
                </a:solidFill>
                <a:latin typeface="Arial" pitchFamily="34" charset="0"/>
                <a:ea typeface="Arial" pitchFamily="34" charset="-122"/>
                <a:cs typeface="Arial" pitchFamily="34" charset="-120"/>
              </a:rPr>
              <a:t>À l’échelle du pays — le siège porte les pôles : </a:t>
            </a:r>
            <a:pPr indent="0" marL="0">
              <a:lnSpc>
                <a:spcPts val="1600"/>
              </a:lnSpc>
              <a:buNone/>
            </a:pPr>
            <a:r>
              <a:rPr lang="en-US" sz="1250" dirty="0">
                <a:solidFill>
                  <a:srgbClr val="1F2A3D"/>
                </a:solidFill>
                <a:latin typeface="Arial" pitchFamily="34" charset="0"/>
                <a:ea typeface="Arial" pitchFamily="34" charset="-122"/>
                <a:cs typeface="Arial" pitchFamily="34" charset="-120"/>
              </a:rPr>
              <a:t>ingénierie &amp; supervision à distance · garanties · importation &amp; douanes · pièces détachées · juridique, comptabilité &amp; administration · interface gouvernement.</a:t>
            </a:r>
            <a:endParaRPr lang="en-US" sz="1250" dirty="0"/>
          </a:p>
        </p:txBody>
      </p:sp>
      <p:sp>
        <p:nvSpPr>
          <p:cNvPr id="50" name="Shape 35"/>
          <p:cNvSpPr/>
          <p:nvPr/>
        </p:nvSpPr>
        <p:spPr>
          <a:xfrm>
            <a:off x="6263640" y="3986784"/>
            <a:ext cx="5358384" cy="1078992"/>
          </a:xfrm>
          <a:prstGeom prst="roundRect">
            <a:avLst>
              <a:gd name="adj" fmla="val 4237"/>
            </a:avLst>
          </a:prstGeom>
          <a:solidFill>
            <a:srgbClr val="F8F1E4"/>
          </a:solidFill>
          <a:ln/>
        </p:spPr>
      </p:sp>
      <p:sp>
        <p:nvSpPr>
          <p:cNvPr id="51" name="Text 36"/>
          <p:cNvSpPr/>
          <p:nvPr/>
        </p:nvSpPr>
        <p:spPr>
          <a:xfrm>
            <a:off x="6519672" y="4096512"/>
            <a:ext cx="4864608" cy="877824"/>
          </a:xfrm>
          <a:prstGeom prst="rect">
            <a:avLst/>
          </a:prstGeom>
          <a:noFill/>
          <a:ln/>
        </p:spPr>
        <p:txBody>
          <a:bodyPr wrap="square" lIns="0" tIns="0" rIns="0" bIns="0" rtlCol="0" anchor="ctr"/>
          <a:lstStyle/>
          <a:p>
            <a:pPr indent="0" marL="0">
              <a:lnSpc>
                <a:spcPts val="1600"/>
              </a:lnSpc>
              <a:buNone/>
            </a:pPr>
            <a:r>
              <a:rPr lang="en-US" sz="1250" b="1" dirty="0">
                <a:solidFill>
                  <a:srgbClr val="13315C"/>
                </a:solidFill>
                <a:latin typeface="Arial" pitchFamily="34" charset="0"/>
                <a:ea typeface="Arial" pitchFamily="34" charset="-122"/>
                <a:cs typeface="Arial" pitchFamily="34" charset="-120"/>
              </a:rPr>
              <a:t>À l’échelle du pôle — le pôle porte le dernier kilomètre : </a:t>
            </a:r>
            <a:pPr indent="0" marL="0">
              <a:lnSpc>
                <a:spcPts val="1600"/>
              </a:lnSpc>
              <a:buNone/>
            </a:pPr>
            <a:r>
              <a:rPr lang="en-US" sz="1250" dirty="0">
                <a:solidFill>
                  <a:srgbClr val="1F2A3D"/>
                </a:solidFill>
                <a:latin typeface="Arial" pitchFamily="34" charset="0"/>
                <a:ea typeface="Arial" pitchFamily="34" charset="-122"/>
                <a:cs typeface="Arial" pitchFamily="34" charset="-120"/>
              </a:rPr>
              <a:t>agents &amp; e-mobilité · agrégation des récoltes · chaîne du froid vers les marchés · après-vente cuisson &amp; solaire · collecte des résidus, retour en briquettes, biogaz et engrais.</a:t>
            </a:r>
            <a:endParaRPr lang="en-US" sz="1250" dirty="0"/>
          </a:p>
        </p:txBody>
      </p:sp>
      <p:sp>
        <p:nvSpPr>
          <p:cNvPr id="52" name="Shape 37"/>
          <p:cNvSpPr/>
          <p:nvPr/>
        </p:nvSpPr>
        <p:spPr>
          <a:xfrm>
            <a:off x="566928" y="5212080"/>
            <a:ext cx="11055096" cy="1152144"/>
          </a:xfrm>
          <a:prstGeom prst="roundRect">
            <a:avLst>
              <a:gd name="adj" fmla="val 4762"/>
            </a:avLst>
          </a:prstGeom>
          <a:solidFill>
            <a:srgbClr val="13315C"/>
          </a:solidFill>
          <a:ln/>
        </p:spPr>
      </p:sp>
      <p:sp>
        <p:nvSpPr>
          <p:cNvPr id="53" name="Text 38"/>
          <p:cNvSpPr/>
          <p:nvPr/>
        </p:nvSpPr>
        <p:spPr>
          <a:xfrm>
            <a:off x="960120" y="5212080"/>
            <a:ext cx="10287000" cy="1152144"/>
          </a:xfrm>
          <a:prstGeom prst="rect">
            <a:avLst/>
          </a:prstGeom>
          <a:noFill/>
          <a:ln/>
        </p:spPr>
        <p:txBody>
          <a:bodyPr wrap="square" lIns="0" tIns="0" rIns="0" bIns="0" rtlCol="0" anchor="ctr"/>
          <a:lstStyle/>
          <a:p>
            <a:pPr indent="0" marL="0">
              <a:lnSpc>
                <a:spcPts val="2200"/>
              </a:lnSpc>
              <a:buNone/>
            </a:pPr>
            <a:r>
              <a:rPr lang="en-US" sz="1650" dirty="0">
                <a:solidFill>
                  <a:srgbClr val="FFFFFF"/>
                </a:solidFill>
                <a:latin typeface="Arial" pitchFamily="34" charset="0"/>
                <a:ea typeface="Arial" pitchFamily="34" charset="-122"/>
                <a:cs typeface="Arial" pitchFamily="34" charset="-120"/>
              </a:rPr>
              <a:t>Un siège porte tous les pôles ; chaque pôle porte son dernier kilomètre. Les coûts fixes sont mutualisés aux deux échelles — l’exploitation devient durable, et la réplication rapide et peu coûteuse.</a:t>
            </a:r>
            <a:endParaRPr lang="en-US" sz="1650" dirty="0"/>
          </a:p>
        </p:txBody>
      </p:sp>
      <p:sp>
        <p:nvSpPr>
          <p:cNvPr id="54" name="Shape 39"/>
          <p:cNvSpPr/>
          <p:nvPr/>
        </p:nvSpPr>
        <p:spPr>
          <a:xfrm>
            <a:off x="566928" y="6510528"/>
            <a:ext cx="11055096" cy="0"/>
          </a:xfrm>
          <a:prstGeom prst="line">
            <a:avLst/>
          </a:prstGeom>
          <a:noFill/>
          <a:ln w="9525">
            <a:solidFill>
              <a:srgbClr val="C5CFDB"/>
            </a:solidFill>
            <a:prstDash val="solid"/>
          </a:ln>
        </p:spPr>
      </p:sp>
      <p:sp>
        <p:nvSpPr>
          <p:cNvPr id="55" name="Text 40"/>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56" name="Text 41"/>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5 / 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Un groupe ancré au Burundi — une capacité déjà à l’œuvre</a:t>
            </a:r>
            <a:endParaRPr lang="en-US" sz="2900" dirty="0"/>
          </a:p>
        </p:txBody>
      </p:sp>
      <p:sp>
        <p:nvSpPr>
          <p:cNvPr id="3" name="Shape 1"/>
          <p:cNvSpPr/>
          <p:nvPr/>
        </p:nvSpPr>
        <p:spPr>
          <a:xfrm>
            <a:off x="566928" y="1207008"/>
            <a:ext cx="11055096" cy="1042416"/>
          </a:xfrm>
          <a:prstGeom prst="roundRect">
            <a:avLst>
              <a:gd name="adj" fmla="val 5263"/>
            </a:avLst>
          </a:prstGeom>
          <a:solidFill>
            <a:srgbClr val="EEF4FA"/>
          </a:solidFill>
          <a:ln/>
        </p:spPr>
      </p:sp>
      <p:sp>
        <p:nvSpPr>
          <p:cNvPr id="4" name="Shape 2"/>
          <p:cNvSpPr/>
          <p:nvPr/>
        </p:nvSpPr>
        <p:spPr>
          <a:xfrm>
            <a:off x="841248" y="1435608"/>
            <a:ext cx="585216" cy="585216"/>
          </a:xfrm>
          <a:prstGeom prst="ellipse">
            <a:avLst/>
          </a:prstGeom>
          <a:solidFill>
            <a:srgbClr val="FFFFFF"/>
          </a:solidFill>
          <a:ln/>
        </p:spPr>
      </p:sp>
      <p:pic>
        <p:nvPicPr>
          <p:cNvPr id="5" name="Image 0" descr="assets/flag_blue.png">    </p:cNvPr>
          <p:cNvPicPr>
            <a:picLocks noChangeAspect="1"/>
          </p:cNvPicPr>
          <p:nvPr/>
        </p:nvPicPr>
        <p:blipFill>
          <a:blip r:embed="rId1"/>
          <a:stretch>
            <a:fillRect/>
          </a:stretch>
        </p:blipFill>
        <p:spPr>
          <a:xfrm>
            <a:off x="964143" y="1558503"/>
            <a:ext cx="339425" cy="339425"/>
          </a:xfrm>
          <a:prstGeom prst="rect">
            <a:avLst/>
          </a:prstGeom>
        </p:spPr>
      </p:pic>
      <p:sp>
        <p:nvSpPr>
          <p:cNvPr id="6" name="Text 3"/>
          <p:cNvSpPr/>
          <p:nvPr/>
        </p:nvSpPr>
        <p:spPr>
          <a:xfrm>
            <a:off x="1572768" y="1280160"/>
            <a:ext cx="9875520" cy="896112"/>
          </a:xfrm>
          <a:prstGeom prst="rect">
            <a:avLst/>
          </a:prstGeom>
          <a:noFill/>
          <a:ln/>
        </p:spPr>
        <p:txBody>
          <a:bodyPr wrap="square" lIns="0" tIns="0" rIns="0" bIns="0" rtlCol="0" anchor="ctr"/>
          <a:lstStyle/>
          <a:p>
            <a:pPr indent="0" marL="0">
              <a:lnSpc>
                <a:spcPts val="2200"/>
              </a:lnSpc>
              <a:buNone/>
            </a:pPr>
            <a:r>
              <a:rPr lang="en-US" sz="1700" dirty="0">
                <a:solidFill>
                  <a:srgbClr val="1F2A3D"/>
                </a:solidFill>
                <a:latin typeface="Arial" pitchFamily="34" charset="0"/>
                <a:ea typeface="Arial" pitchFamily="34" charset="-122"/>
                <a:cs typeface="Arial" pitchFamily="34" charset="-120"/>
              </a:rPr>
              <a:t>10 sites pilotes concédés par le Ministère de l’Énergie — la rampe du déploiement national, avec l’endossement du Ministre et une feuille de route active avec le comité désigné par le Gouvernement.</a:t>
            </a:r>
            <a:endParaRPr lang="en-US" sz="1700" dirty="0"/>
          </a:p>
        </p:txBody>
      </p:sp>
      <p:sp>
        <p:nvSpPr>
          <p:cNvPr id="7" name="Shape 4"/>
          <p:cNvSpPr/>
          <p:nvPr/>
        </p:nvSpPr>
        <p:spPr>
          <a:xfrm>
            <a:off x="566928" y="2395728"/>
            <a:ext cx="11055096" cy="4059936"/>
          </a:xfrm>
          <a:prstGeom prst="roundRect">
            <a:avLst>
              <a:gd name="adj" fmla="val 1351"/>
            </a:avLst>
          </a:prstGeom>
          <a:solidFill>
            <a:srgbClr val="13315C"/>
          </a:solidFill>
          <a:ln/>
        </p:spPr>
      </p:sp>
      <p:sp>
        <p:nvSpPr>
          <p:cNvPr id="8" name="Text 5"/>
          <p:cNvSpPr/>
          <p:nvPr/>
        </p:nvSpPr>
        <p:spPr>
          <a:xfrm>
            <a:off x="932688" y="2578608"/>
            <a:ext cx="10424160" cy="365760"/>
          </a:xfrm>
          <a:prstGeom prst="rect">
            <a:avLst/>
          </a:prstGeom>
          <a:noFill/>
          <a:ln/>
        </p:spPr>
        <p:txBody>
          <a:bodyPr wrap="square" lIns="0" tIns="0" rIns="0" bIns="0" rtlCol="0" anchor="ctr"/>
          <a:lstStyle/>
          <a:p>
            <a:pPr indent="0" marL="0">
              <a:buNone/>
            </a:pPr>
            <a:r>
              <a:rPr lang="en-US" sz="1600" b="1" spc="150" kern="0" dirty="0">
                <a:solidFill>
                  <a:srgbClr val="B07A1E"/>
                </a:solidFill>
                <a:latin typeface="Arial" pitchFamily="34" charset="0"/>
                <a:ea typeface="Arial" pitchFamily="34" charset="-122"/>
                <a:cs typeface="Arial" pitchFamily="34" charset="-120"/>
              </a:rPr>
              <a:t>NOTRE SOCLE OPÉRATIONNEL — UN SEUL GROUPE, DES CAPACITÉS BURUNDAISES</a:t>
            </a:r>
            <a:endParaRPr lang="en-US" sz="1600" dirty="0"/>
          </a:p>
        </p:txBody>
      </p:sp>
      <p:sp>
        <p:nvSpPr>
          <p:cNvPr id="9" name="Shape 6"/>
          <p:cNvSpPr/>
          <p:nvPr/>
        </p:nvSpPr>
        <p:spPr>
          <a:xfrm>
            <a:off x="950976" y="3090672"/>
            <a:ext cx="548640" cy="548640"/>
          </a:xfrm>
          <a:prstGeom prst="ellipse">
            <a:avLst/>
          </a:prstGeom>
          <a:solidFill>
            <a:srgbClr val="1D4370"/>
          </a:solidFill>
          <a:ln/>
        </p:spPr>
      </p:sp>
      <p:pic>
        <p:nvPicPr>
          <p:cNvPr id="10" name="Image 1" descr="assets/bolt_white.png">    </p:cNvPr>
          <p:cNvPicPr>
            <a:picLocks noChangeAspect="1"/>
          </p:cNvPicPr>
          <p:nvPr/>
        </p:nvPicPr>
        <p:blipFill>
          <a:blip r:embed="rId2"/>
          <a:stretch>
            <a:fillRect/>
          </a:stretch>
        </p:blipFill>
        <p:spPr>
          <a:xfrm>
            <a:off x="1071677" y="3211373"/>
            <a:ext cx="307238" cy="307238"/>
          </a:xfrm>
          <a:prstGeom prst="rect">
            <a:avLst/>
          </a:prstGeom>
        </p:spPr>
      </p:pic>
      <p:sp>
        <p:nvSpPr>
          <p:cNvPr id="11" name="Text 7"/>
          <p:cNvSpPr/>
          <p:nvPr/>
        </p:nvSpPr>
        <p:spPr>
          <a:xfrm>
            <a:off x="1645920" y="2999232"/>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Énergie — </a:t>
            </a:r>
            <a:pPr indent="0" marL="0">
              <a:lnSpc>
                <a:spcPts val="2250"/>
              </a:lnSpc>
              <a:buNone/>
            </a:pPr>
            <a:r>
              <a:rPr lang="en-US" sz="1750" dirty="0">
                <a:solidFill>
                  <a:srgbClr val="C9D8EA"/>
                </a:solidFill>
                <a:latin typeface="Arial" pitchFamily="34" charset="0"/>
                <a:ea typeface="Arial" pitchFamily="34" charset="-122"/>
                <a:cs typeface="Arial" pitchFamily="34" charset="-120"/>
              </a:rPr>
              <a:t>L’équipe dirigeante et opérationnelle a développé — et continue d’assurer la gestion de — la centrale solaire de Mubuga (7,5 MW), première IPP solaire du pays (CAE de 25 ans, ~20 restants), au sein d’un portefeuille IPP en développement.</a:t>
            </a:r>
            <a:endParaRPr lang="en-US" sz="1750" dirty="0"/>
          </a:p>
        </p:txBody>
      </p:sp>
      <p:sp>
        <p:nvSpPr>
          <p:cNvPr id="12" name="Shape 8"/>
          <p:cNvSpPr/>
          <p:nvPr/>
        </p:nvSpPr>
        <p:spPr>
          <a:xfrm>
            <a:off x="950976" y="4133088"/>
            <a:ext cx="548640" cy="548640"/>
          </a:xfrm>
          <a:prstGeom prst="ellipse">
            <a:avLst/>
          </a:prstGeom>
          <a:solidFill>
            <a:srgbClr val="1D4370"/>
          </a:solidFill>
          <a:ln/>
        </p:spPr>
      </p:sp>
      <p:pic>
        <p:nvPicPr>
          <p:cNvPr id="13" name="Image 2" descr="assets/wheat_white.png">    </p:cNvPr>
          <p:cNvPicPr>
            <a:picLocks noChangeAspect="1"/>
          </p:cNvPicPr>
          <p:nvPr/>
        </p:nvPicPr>
        <p:blipFill>
          <a:blip r:embed="rId3"/>
          <a:stretch>
            <a:fillRect/>
          </a:stretch>
        </p:blipFill>
        <p:spPr>
          <a:xfrm>
            <a:off x="1071677" y="4253789"/>
            <a:ext cx="307238" cy="307238"/>
          </a:xfrm>
          <a:prstGeom prst="rect">
            <a:avLst/>
          </a:prstGeom>
        </p:spPr>
      </p:pic>
      <p:sp>
        <p:nvSpPr>
          <p:cNvPr id="14" name="Text 9"/>
          <p:cNvSpPr/>
          <p:nvPr/>
        </p:nvSpPr>
        <p:spPr>
          <a:xfrm>
            <a:off x="1645920" y="4041648"/>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Agro-industrie — </a:t>
            </a:r>
            <a:pPr indent="0" marL="0">
              <a:lnSpc>
                <a:spcPts val="2250"/>
              </a:lnSpc>
              <a:buNone/>
            </a:pPr>
            <a:r>
              <a:rPr lang="en-US" sz="1750" dirty="0">
                <a:solidFill>
                  <a:srgbClr val="C9D8EA"/>
                </a:solidFill>
                <a:latin typeface="Arial" pitchFamily="34" charset="0"/>
                <a:ea typeface="Arial" pitchFamily="34" charset="-122"/>
                <a:cs typeface="Arial" pitchFamily="34" charset="-120"/>
              </a:rPr>
              <a:t>Extraction d’huile d’avocat au sein de notre consortium — le gisement de déchets du réseau : ~800 t/jour de résidus alimentent la valorisation énergétique ; biodigesteurs et biogaz pilotes déjà en cours.</a:t>
            </a:r>
            <a:endParaRPr lang="en-US" sz="1750" dirty="0"/>
          </a:p>
        </p:txBody>
      </p:sp>
      <p:sp>
        <p:nvSpPr>
          <p:cNvPr id="15" name="Shape 10"/>
          <p:cNvSpPr/>
          <p:nvPr/>
        </p:nvSpPr>
        <p:spPr>
          <a:xfrm>
            <a:off x="950976" y="5175504"/>
            <a:ext cx="548640" cy="548640"/>
          </a:xfrm>
          <a:prstGeom prst="ellipse">
            <a:avLst/>
          </a:prstGeom>
          <a:solidFill>
            <a:srgbClr val="1D4370"/>
          </a:solidFill>
          <a:ln/>
        </p:spPr>
      </p:sp>
      <p:pic>
        <p:nvPicPr>
          <p:cNvPr id="16" name="Image 3" descr="assets/tools_green.png">    </p:cNvPr>
          <p:cNvPicPr>
            <a:picLocks noChangeAspect="1"/>
          </p:cNvPicPr>
          <p:nvPr/>
        </p:nvPicPr>
        <p:blipFill>
          <a:blip r:embed="rId4"/>
          <a:stretch>
            <a:fillRect/>
          </a:stretch>
        </p:blipFill>
        <p:spPr>
          <a:xfrm>
            <a:off x="1071677" y="5296205"/>
            <a:ext cx="307238" cy="307238"/>
          </a:xfrm>
          <a:prstGeom prst="rect">
            <a:avLst/>
          </a:prstGeom>
        </p:spPr>
      </p:pic>
      <p:sp>
        <p:nvSpPr>
          <p:cNvPr id="17" name="Text 11"/>
          <p:cNvSpPr/>
          <p:nvPr/>
        </p:nvSpPr>
        <p:spPr>
          <a:xfrm>
            <a:off x="1645920" y="5084064"/>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Exécution locale — </a:t>
            </a:r>
            <a:pPr indent="0" marL="0">
              <a:lnSpc>
                <a:spcPts val="2250"/>
              </a:lnSpc>
              <a:buNone/>
            </a:pPr>
            <a:r>
              <a:rPr lang="en-US" sz="1750" dirty="0">
                <a:solidFill>
                  <a:srgbClr val="C9D8EA"/>
                </a:solidFill>
                <a:latin typeface="Arial" pitchFamily="34" charset="0"/>
                <a:ea typeface="Arial" pitchFamily="34" charset="-122"/>
                <a:cs typeface="Arial" pitchFamily="34" charset="-120"/>
              </a:rPr>
              <a:t>Construction, exploitation, logistique et hydroélectricité portées par les équipes et les capacités industrielles burundaises du groupe.</a:t>
            </a:r>
            <a:endParaRPr lang="en-US" sz="1750" dirty="0"/>
          </a:p>
        </p:txBody>
      </p:sp>
      <p:sp>
        <p:nvSpPr>
          <p:cNvPr id="18" name="Shape 12"/>
          <p:cNvSpPr/>
          <p:nvPr/>
        </p:nvSpPr>
        <p:spPr>
          <a:xfrm>
            <a:off x="932688" y="6108192"/>
            <a:ext cx="10332720" cy="0"/>
          </a:xfrm>
          <a:prstGeom prst="line">
            <a:avLst/>
          </a:prstGeom>
          <a:noFill/>
          <a:ln w="9525">
            <a:solidFill>
              <a:srgbClr val="3D5A85"/>
            </a:solidFill>
            <a:prstDash val="solid"/>
          </a:ln>
        </p:spPr>
      </p:sp>
      <p:sp>
        <p:nvSpPr>
          <p:cNvPr id="19" name="Text 13"/>
          <p:cNvSpPr/>
          <p:nvPr/>
        </p:nvSpPr>
        <p:spPr>
          <a:xfrm>
            <a:off x="932688" y="6163056"/>
            <a:ext cx="10378440" cy="274320"/>
          </a:xfrm>
          <a:prstGeom prst="rect">
            <a:avLst/>
          </a:prstGeom>
          <a:noFill/>
          <a:ln/>
        </p:spPr>
        <p:txBody>
          <a:bodyPr wrap="square" lIns="0" tIns="0" rIns="0" bIns="0" rtlCol="0" anchor="ctr"/>
          <a:lstStyle/>
          <a:p>
            <a:pPr indent="0" marL="0">
              <a:buNone/>
            </a:pPr>
            <a:r>
              <a:rPr lang="en-US" sz="1400" b="1" i="1" dirty="0">
                <a:solidFill>
                  <a:srgbClr val="FFFFFF"/>
                </a:solidFill>
                <a:latin typeface="Arial" pitchFamily="34" charset="0"/>
                <a:ea typeface="Arial" pitchFamily="34" charset="-122"/>
                <a:cs typeface="Arial" pitchFamily="34" charset="-120"/>
              </a:rPr>
              <a:t>Nous faisons ce que nous faisons le mieux — pour que chaque partenaire fasse ce qu’il fait le mieux.</a:t>
            </a:r>
            <a:endParaRPr lang="en-US" sz="1400" dirty="0"/>
          </a:p>
        </p:txBody>
      </p:sp>
      <p:sp>
        <p:nvSpPr>
          <p:cNvPr id="20" name="Shape 14"/>
          <p:cNvSpPr/>
          <p:nvPr/>
        </p:nvSpPr>
        <p:spPr>
          <a:xfrm>
            <a:off x="566928" y="6510528"/>
            <a:ext cx="11055096" cy="0"/>
          </a:xfrm>
          <a:prstGeom prst="line">
            <a:avLst/>
          </a:prstGeom>
          <a:noFill/>
          <a:ln w="9525">
            <a:solidFill>
              <a:srgbClr val="C5CFDB"/>
            </a:solidFill>
            <a:prstDash val="solid"/>
          </a:ln>
        </p:spPr>
      </p:sp>
      <p:sp>
        <p:nvSpPr>
          <p:cNvPr id="21"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22"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6 / 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Une complémentarité naturelle</a:t>
            </a:r>
            <a:endParaRPr lang="en-US" sz="2900" dirty="0"/>
          </a:p>
        </p:txBody>
      </p:sp>
      <p:sp>
        <p:nvSpPr>
          <p:cNvPr id="3" name="Shape 1"/>
          <p:cNvSpPr/>
          <p:nvPr/>
        </p:nvSpPr>
        <p:spPr>
          <a:xfrm>
            <a:off x="566928" y="1298448"/>
            <a:ext cx="11055096" cy="1700784"/>
          </a:xfrm>
          <a:prstGeom prst="roundRect">
            <a:avLst>
              <a:gd name="adj" fmla="val 3226"/>
            </a:avLst>
          </a:prstGeom>
          <a:solidFill>
            <a:srgbClr val="EEF4FA"/>
          </a:solidFill>
          <a:ln/>
        </p:spPr>
      </p:sp>
      <p:sp>
        <p:nvSpPr>
          <p:cNvPr id="4" name="Text 2"/>
          <p:cNvSpPr/>
          <p:nvPr/>
        </p:nvSpPr>
        <p:spPr>
          <a:xfrm>
            <a:off x="960120" y="1298448"/>
            <a:ext cx="10287000" cy="1700784"/>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Le pôle n’incube pas — il porte. L’incubation et l’accélération sont un métier : méthodologies, mentorat, standards, réseaux. Ce métier appartient aux organisations qui le pratiquent à travers le continent — et que l’AAIN fédère depuis 2015.</a:t>
            </a:r>
            <a:endParaRPr lang="en-US" sz="1750" dirty="0"/>
          </a:p>
        </p:txBody>
      </p:sp>
      <p:sp>
        <p:nvSpPr>
          <p:cNvPr id="5" name="Shape 3"/>
          <p:cNvSpPr/>
          <p:nvPr/>
        </p:nvSpPr>
        <p:spPr>
          <a:xfrm>
            <a:off x="566928" y="3127248"/>
            <a:ext cx="11055096" cy="1463040"/>
          </a:xfrm>
          <a:prstGeom prst="roundRect">
            <a:avLst>
              <a:gd name="adj" fmla="val 3750"/>
            </a:avLst>
          </a:prstGeom>
          <a:solidFill>
            <a:srgbClr val="F8F1E4"/>
          </a:solidFill>
          <a:ln/>
        </p:spPr>
      </p:sp>
      <p:sp>
        <p:nvSpPr>
          <p:cNvPr id="6" name="Text 4"/>
          <p:cNvSpPr/>
          <p:nvPr/>
        </p:nvSpPr>
        <p:spPr>
          <a:xfrm>
            <a:off x="960120" y="3127248"/>
            <a:ext cx="10287000" cy="1463040"/>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Ce que le pôle ajoute, c’est le socle matériel qui manque en milieu rural : l’énergie fiable, les équipements de transformation, le froid, la connectivité, la logistique jusqu’au marché, et des données d’usage qui rendent chaque activité lisible par les financeurs.</a:t>
            </a:r>
            <a:endParaRPr lang="en-US" sz="1750" dirty="0"/>
          </a:p>
        </p:txBody>
      </p:sp>
      <p:sp>
        <p:nvSpPr>
          <p:cNvPr id="7" name="Shape 5"/>
          <p:cNvSpPr/>
          <p:nvPr/>
        </p:nvSpPr>
        <p:spPr>
          <a:xfrm>
            <a:off x="566928" y="4718304"/>
            <a:ext cx="11055096" cy="1645920"/>
          </a:xfrm>
          <a:prstGeom prst="roundRect">
            <a:avLst>
              <a:gd name="adj" fmla="val 3333"/>
            </a:avLst>
          </a:prstGeom>
          <a:solidFill>
            <a:srgbClr val="13315C"/>
          </a:solidFill>
          <a:ln/>
        </p:spPr>
      </p:sp>
      <p:sp>
        <p:nvSpPr>
          <p:cNvPr id="8" name="Text 6"/>
          <p:cNvSpPr/>
          <p:nvPr/>
        </p:nvSpPr>
        <p:spPr>
          <a:xfrm>
            <a:off x="960120" y="4718304"/>
            <a:ext cx="10287000" cy="1645920"/>
          </a:xfrm>
          <a:prstGeom prst="rect">
            <a:avLst/>
          </a:prstGeom>
          <a:noFill/>
          <a:ln/>
        </p:spPr>
        <p:txBody>
          <a:bodyPr wrap="square" lIns="0" tIns="0" rIns="0" bIns="0" rtlCol="0" anchor="ctr"/>
          <a:lstStyle/>
          <a:p>
            <a:pPr indent="0" marL="0">
              <a:lnSpc>
                <a:spcPts val="2050"/>
              </a:lnSpc>
              <a:buNone/>
            </a:pPr>
            <a:r>
              <a:rPr lang="en-US" sz="1550" dirty="0">
                <a:solidFill>
                  <a:srgbClr val="FFFFFF"/>
                </a:solidFill>
                <a:latin typeface="Arial" pitchFamily="34" charset="0"/>
                <a:ea typeface="Arial" pitchFamily="34" charset="-122"/>
                <a:cs typeface="Arial" pitchFamily="34" charset="-120"/>
              </a:rPr>
              <a:t>Cette architecture rejoint le mandat de l’AAIN — « incuber les incubateurs » — et les objectifs de l’AASIA lancé à l’AAICE 2026 : chaque pôle est conçu pour accueillir les programmes des membres du réseau, au Burundi d’abord, puis partout où le modèle se réplique — au service de l’Agenda 2063 et du thème de cette conférence.</a:t>
            </a:r>
            <a:endParaRPr lang="en-US" sz="1550" dirty="0"/>
          </a:p>
        </p:txBody>
      </p:sp>
      <p:sp>
        <p:nvSpPr>
          <p:cNvPr id="9" name="Shape 7"/>
          <p:cNvSpPr/>
          <p:nvPr/>
        </p:nvSpPr>
        <p:spPr>
          <a:xfrm>
            <a:off x="566928" y="6510528"/>
            <a:ext cx="11055096" cy="0"/>
          </a:xfrm>
          <a:prstGeom prst="line">
            <a:avLst/>
          </a:prstGeom>
          <a:noFill/>
          <a:ln w="9525">
            <a:solidFill>
              <a:srgbClr val="C5CFDB"/>
            </a:solidFill>
            <a:prstDash val="solid"/>
          </a:ln>
        </p:spPr>
      </p:sp>
      <p:sp>
        <p:nvSpPr>
          <p:cNvPr id="10" name="Text 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11" name="Text 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7 / 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Les domaines où cette complémentarité peut s’écrire</a:t>
            </a:r>
            <a:endParaRPr lang="en-US" sz="2800" dirty="0"/>
          </a:p>
        </p:txBody>
      </p:sp>
      <p:sp>
        <p:nvSpPr>
          <p:cNvPr id="3" name="Text 1"/>
          <p:cNvSpPr/>
          <p:nvPr/>
        </p:nvSpPr>
        <p:spPr>
          <a:xfrm>
            <a:off x="566928" y="1152144"/>
            <a:ext cx="11064240" cy="566928"/>
          </a:xfrm>
          <a:prstGeom prst="rect">
            <a:avLst/>
          </a:prstGeom>
          <a:noFill/>
          <a:ln/>
        </p:spPr>
        <p:txBody>
          <a:bodyPr wrap="square" lIns="0" tIns="0" rIns="0" bIns="0" rtlCol="0" anchor="ctr"/>
          <a:lstStyle/>
          <a:p>
            <a:pPr indent="0" marL="0">
              <a:lnSpc>
                <a:spcPts val="2100"/>
              </a:lnSpc>
              <a:buNone/>
            </a:pPr>
            <a:r>
              <a:rPr lang="en-US" sz="1650" i="1" dirty="0">
                <a:solidFill>
                  <a:srgbClr val="13315C"/>
                </a:solidFill>
                <a:latin typeface="Arial" pitchFamily="34" charset="0"/>
                <a:ea typeface="Arial" pitchFamily="34" charset="-122"/>
                <a:cs typeface="Arial" pitchFamily="34" charset="-120"/>
              </a:rPr>
              <a:t>Avec l’AAIN et ses membres, ces complémentarités peuvent, si utile, s’inscrire dans un cadre de coopération — non contraignant, précisé par accords d’exécution.</a:t>
            </a:r>
            <a:endParaRPr lang="en-US" sz="1650" dirty="0"/>
          </a:p>
        </p:txBody>
      </p:sp>
      <p:sp>
        <p:nvSpPr>
          <p:cNvPr id="4" name="Shape 2"/>
          <p:cNvSpPr/>
          <p:nvPr/>
        </p:nvSpPr>
        <p:spPr>
          <a:xfrm>
            <a:off x="566928" y="1883664"/>
            <a:ext cx="5463540" cy="1847088"/>
          </a:xfrm>
          <a:prstGeom prst="roundRect">
            <a:avLst>
              <a:gd name="adj" fmla="val 2475"/>
            </a:avLst>
          </a:prstGeom>
          <a:solidFill>
            <a:srgbClr val="EEF4FA"/>
          </a:solidFill>
          <a:ln/>
        </p:spPr>
      </p:sp>
      <p:sp>
        <p:nvSpPr>
          <p:cNvPr id="5" name="Text 3"/>
          <p:cNvSpPr/>
          <p:nvPr/>
        </p:nvSpPr>
        <p:spPr>
          <a:xfrm>
            <a:off x="841248"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Accueil de programmes</a:t>
            </a:r>
            <a:endParaRPr lang="en-US" sz="1800" dirty="0"/>
          </a:p>
        </p:txBody>
      </p:sp>
      <p:sp>
        <p:nvSpPr>
          <p:cNvPr id="6" name="Text 4"/>
          <p:cNvSpPr/>
          <p:nvPr/>
        </p:nvSpPr>
        <p:spPr>
          <a:xfrm>
            <a:off x="841248"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Les pôles comme sites ruraux d’accueil pour programmes d’incubation, de formation et d’appui — au Burundi d’abord.</a:t>
            </a:r>
            <a:endParaRPr lang="en-US" sz="1600" dirty="0"/>
          </a:p>
        </p:txBody>
      </p:sp>
      <p:sp>
        <p:nvSpPr>
          <p:cNvPr id="7" name="Shape 5"/>
          <p:cNvSpPr/>
          <p:nvPr/>
        </p:nvSpPr>
        <p:spPr>
          <a:xfrm>
            <a:off x="6158484" y="1883664"/>
            <a:ext cx="5463540" cy="1847088"/>
          </a:xfrm>
          <a:prstGeom prst="roundRect">
            <a:avLst>
              <a:gd name="adj" fmla="val 2475"/>
            </a:avLst>
          </a:prstGeom>
          <a:solidFill>
            <a:srgbClr val="EEF4FA"/>
          </a:solidFill>
          <a:ln/>
        </p:spPr>
      </p:sp>
      <p:sp>
        <p:nvSpPr>
          <p:cNvPr id="8" name="Text 6"/>
          <p:cNvSpPr/>
          <p:nvPr/>
        </p:nvSpPr>
        <p:spPr>
          <a:xfrm>
            <a:off x="6432804"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Cursus &amp; formation</a:t>
            </a:r>
            <a:endParaRPr lang="en-US" sz="1800" dirty="0"/>
          </a:p>
        </p:txBody>
      </p:sp>
      <p:sp>
        <p:nvSpPr>
          <p:cNvPr id="9" name="Text 7"/>
          <p:cNvSpPr/>
          <p:nvPr/>
        </p:nvSpPr>
        <p:spPr>
          <a:xfrm>
            <a:off x="6432804"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Adaptation des méthodologies au terrain du pôle ; formation par les deux voies — sur les équipements et par la télé-éducation accréditée.</a:t>
            </a:r>
            <a:endParaRPr lang="en-US" sz="1600" dirty="0"/>
          </a:p>
        </p:txBody>
      </p:sp>
      <p:sp>
        <p:nvSpPr>
          <p:cNvPr id="10" name="Shape 8"/>
          <p:cNvSpPr/>
          <p:nvPr/>
        </p:nvSpPr>
        <p:spPr>
          <a:xfrm>
            <a:off x="566928" y="3858768"/>
            <a:ext cx="5463540" cy="1847088"/>
          </a:xfrm>
          <a:prstGeom prst="roundRect">
            <a:avLst>
              <a:gd name="adj" fmla="val 2475"/>
            </a:avLst>
          </a:prstGeom>
          <a:solidFill>
            <a:srgbClr val="EEF4FA"/>
          </a:solidFill>
          <a:ln/>
        </p:spPr>
      </p:sp>
      <p:sp>
        <p:nvSpPr>
          <p:cNvPr id="11" name="Text 9"/>
          <p:cNvSpPr/>
          <p:nvPr/>
        </p:nvSpPr>
        <p:spPr>
          <a:xfrm>
            <a:off x="841248"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Données &amp; apprentissage</a:t>
            </a:r>
            <a:endParaRPr lang="en-US" sz="1800" dirty="0"/>
          </a:p>
        </p:txBody>
      </p:sp>
      <p:sp>
        <p:nvSpPr>
          <p:cNvPr id="12" name="Text 10"/>
          <p:cNvSpPr/>
          <p:nvPr/>
        </p:nvSpPr>
        <p:spPr>
          <a:xfrm>
            <a:off x="841248"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Indicateurs partagés, enseignements documentés — la base d’un modèle réplicable de pôle-incubateur.</a:t>
            </a:r>
            <a:endParaRPr lang="en-US" sz="1600" dirty="0"/>
          </a:p>
        </p:txBody>
      </p:sp>
      <p:sp>
        <p:nvSpPr>
          <p:cNvPr id="13" name="Shape 11"/>
          <p:cNvSpPr/>
          <p:nvPr/>
        </p:nvSpPr>
        <p:spPr>
          <a:xfrm>
            <a:off x="6158484" y="3858768"/>
            <a:ext cx="5463540" cy="1847088"/>
          </a:xfrm>
          <a:prstGeom prst="roundRect">
            <a:avLst>
              <a:gd name="adj" fmla="val 2475"/>
            </a:avLst>
          </a:prstGeom>
          <a:solidFill>
            <a:srgbClr val="EEF4FA"/>
          </a:solidFill>
          <a:ln/>
        </p:spPr>
      </p:sp>
      <p:sp>
        <p:nvSpPr>
          <p:cNvPr id="14" name="Text 12"/>
          <p:cNvSpPr/>
          <p:nvPr/>
        </p:nvSpPr>
        <p:spPr>
          <a:xfrm>
            <a:off x="6432804"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Ressources au niveau plateforme</a:t>
            </a:r>
            <a:endParaRPr lang="en-US" sz="1800" dirty="0"/>
          </a:p>
        </p:txBody>
      </p:sp>
      <p:sp>
        <p:nvSpPr>
          <p:cNvPr id="15" name="Text 13"/>
          <p:cNvSpPr/>
          <p:nvPr/>
        </p:nvSpPr>
        <p:spPr>
          <a:xfrm>
            <a:off x="6432804"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Mobilisation conjointe auprès des partenaires de développement et des institutions continentales — hors engagements bilatéraux.</a:t>
            </a:r>
            <a:endParaRPr lang="en-US" sz="1600" dirty="0"/>
          </a:p>
        </p:txBody>
      </p:sp>
      <p:sp>
        <p:nvSpPr>
          <p:cNvPr id="16" name="Shape 14"/>
          <p:cNvSpPr/>
          <p:nvPr/>
        </p:nvSpPr>
        <p:spPr>
          <a:xfrm>
            <a:off x="566928" y="6510528"/>
            <a:ext cx="11055096" cy="0"/>
          </a:xfrm>
          <a:prstGeom prst="line">
            <a:avLst/>
          </a:prstGeom>
          <a:noFill/>
          <a:ln w="9525">
            <a:solidFill>
              <a:srgbClr val="C5CFDB"/>
            </a:solidFill>
            <a:prstDash val="solid"/>
          </a:ln>
        </p:spPr>
      </p:sp>
      <p:sp>
        <p:nvSpPr>
          <p:cNvPr id="17"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18"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8 / 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566928" y="548640"/>
            <a:ext cx="4617720" cy="914400"/>
          </a:xfrm>
          <a:prstGeom prst="rect">
            <a:avLst/>
          </a:prstGeom>
          <a:noFill/>
          <a:ln/>
        </p:spPr>
        <p:txBody>
          <a:bodyPr wrap="square" lIns="0" tIns="0" rIns="0" bIns="0" rtlCol="0" anchor="ctr"/>
          <a:lstStyle/>
          <a:p>
            <a:pPr indent="0" marL="0">
              <a:lnSpc>
                <a:spcPts val="3900"/>
              </a:lnSpc>
              <a:buNone/>
            </a:pPr>
            <a:r>
              <a:rPr lang="en-US" sz="3200" b="1" dirty="0">
                <a:solidFill>
                  <a:srgbClr val="FFFFFF"/>
                </a:solidFill>
                <a:latin typeface="Arial" pitchFamily="34" charset="0"/>
                <a:ea typeface="Arial" pitchFamily="34" charset="-122"/>
                <a:cs typeface="Arial" pitchFamily="34" charset="-120"/>
              </a:rPr>
              <a:t>Invitation à la collaboration.</a:t>
            </a:r>
            <a:endParaRPr lang="en-US" sz="3200" dirty="0"/>
          </a:p>
        </p:txBody>
      </p:sp>
      <p:sp>
        <p:nvSpPr>
          <p:cNvPr id="3" name="Shape 1"/>
          <p:cNvSpPr/>
          <p:nvPr/>
        </p:nvSpPr>
        <p:spPr>
          <a:xfrm>
            <a:off x="566928" y="1591056"/>
            <a:ext cx="4617720" cy="1536192"/>
          </a:xfrm>
          <a:prstGeom prst="roundRect">
            <a:avLst>
              <a:gd name="adj" fmla="val 2976"/>
            </a:avLst>
          </a:prstGeom>
          <a:solidFill>
            <a:srgbClr val="1D4370"/>
          </a:solidFill>
          <a:ln/>
        </p:spPr>
      </p:sp>
      <p:sp>
        <p:nvSpPr>
          <p:cNvPr id="4" name="Text 2"/>
          <p:cNvSpPr/>
          <p:nvPr/>
        </p:nvSpPr>
        <p:spPr>
          <a:xfrm>
            <a:off x="822960" y="173736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PROGRAMMES &amp; INCUBATEURS</a:t>
            </a:r>
            <a:endParaRPr lang="en-US" sz="1600" dirty="0"/>
          </a:p>
        </p:txBody>
      </p:sp>
      <p:sp>
        <p:nvSpPr>
          <p:cNvPr id="5" name="Text 3"/>
          <p:cNvSpPr/>
          <p:nvPr/>
        </p:nvSpPr>
        <p:spPr>
          <a:xfrm>
            <a:off x="822960" y="213969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Adosser formation, incubation et accompagnement aux pôles — l’antenne rurale des écosystèmes réunis à l’AAICE.</a:t>
            </a:r>
            <a:endParaRPr lang="en-US" sz="1550" dirty="0"/>
          </a:p>
        </p:txBody>
      </p:sp>
      <p:sp>
        <p:nvSpPr>
          <p:cNvPr id="6" name="Shape 4"/>
          <p:cNvSpPr/>
          <p:nvPr/>
        </p:nvSpPr>
        <p:spPr>
          <a:xfrm>
            <a:off x="566928" y="3236976"/>
            <a:ext cx="4617720" cy="1536192"/>
          </a:xfrm>
          <a:prstGeom prst="roundRect">
            <a:avLst>
              <a:gd name="adj" fmla="val 2976"/>
            </a:avLst>
          </a:prstGeom>
          <a:solidFill>
            <a:srgbClr val="1D4370"/>
          </a:solidFill>
          <a:ln/>
        </p:spPr>
      </p:sp>
      <p:sp>
        <p:nvSpPr>
          <p:cNvPr id="7" name="Text 5"/>
          <p:cNvSpPr/>
          <p:nvPr/>
        </p:nvSpPr>
        <p:spPr>
          <a:xfrm>
            <a:off x="822960" y="338328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BAILLEURS &amp; INDUSTRIELS</a:t>
            </a:r>
            <a:endParaRPr lang="en-US" sz="1600" dirty="0"/>
          </a:p>
        </p:txBody>
      </p:sp>
      <p:sp>
        <p:nvSpPr>
          <p:cNvPr id="8" name="Text 6"/>
          <p:cNvSpPr/>
          <p:nvPr/>
        </p:nvSpPr>
        <p:spPr>
          <a:xfrm>
            <a:off x="822960" y="378561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Cofinancer la montée en échelle : des pôles pilotes au déploiement national.</a:t>
            </a:r>
            <a:endParaRPr lang="en-US" sz="1550" dirty="0"/>
          </a:p>
        </p:txBody>
      </p:sp>
      <p:sp>
        <p:nvSpPr>
          <p:cNvPr id="9" name="Shape 7"/>
          <p:cNvSpPr/>
          <p:nvPr/>
        </p:nvSpPr>
        <p:spPr>
          <a:xfrm>
            <a:off x="566928" y="4882896"/>
            <a:ext cx="4617720" cy="1536192"/>
          </a:xfrm>
          <a:prstGeom prst="roundRect">
            <a:avLst>
              <a:gd name="adj" fmla="val 2976"/>
            </a:avLst>
          </a:prstGeom>
          <a:solidFill>
            <a:srgbClr val="1D4370"/>
          </a:solidFill>
          <a:ln/>
        </p:spPr>
      </p:sp>
      <p:sp>
        <p:nvSpPr>
          <p:cNvPr id="10" name="Text 8"/>
          <p:cNvSpPr/>
          <p:nvPr/>
        </p:nvSpPr>
        <p:spPr>
          <a:xfrm>
            <a:off x="822960" y="502920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GOUVERNEMENT &amp; INSTITUTIONS</a:t>
            </a:r>
            <a:endParaRPr lang="en-US" sz="1600" dirty="0"/>
          </a:p>
        </p:txBody>
      </p:sp>
      <p:sp>
        <p:nvSpPr>
          <p:cNvPr id="11" name="Text 9"/>
          <p:cNvSpPr/>
          <p:nvPr/>
        </p:nvSpPr>
        <p:spPr>
          <a:xfrm>
            <a:off x="822960" y="543153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Co-implanter les programmes publics aux pôles — en soutien des objectifs de Mission 300 : bâtir la demande en amont du réseau, en harmonie avec lui.</a:t>
            </a:r>
            <a:endParaRPr lang="en-US" sz="1550" dirty="0"/>
          </a:p>
        </p:txBody>
      </p:sp>
      <p:sp>
        <p:nvSpPr>
          <p:cNvPr id="12" name="Shape 10"/>
          <p:cNvSpPr/>
          <p:nvPr/>
        </p:nvSpPr>
        <p:spPr>
          <a:xfrm>
            <a:off x="5413248" y="512064"/>
            <a:ext cx="6263640" cy="585216"/>
          </a:xfrm>
          <a:prstGeom prst="roundRect">
            <a:avLst>
              <a:gd name="adj" fmla="val 7813"/>
            </a:avLst>
          </a:prstGeom>
          <a:solidFill>
            <a:srgbClr val="B07A1E"/>
          </a:solidFill>
          <a:ln/>
        </p:spPr>
      </p:sp>
      <p:sp>
        <p:nvSpPr>
          <p:cNvPr id="13" name="Text 11"/>
          <p:cNvSpPr/>
          <p:nvPr/>
        </p:nvSpPr>
        <p:spPr>
          <a:xfrm>
            <a:off x="5614416" y="512064"/>
            <a:ext cx="5943600" cy="58521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PREMIÈRE PIERRE POSÉE LE 4 AOÛT 2026 — NYAMUGARI, AUX CÔTÉS DE LA FAO</a:t>
            </a:r>
            <a:endParaRPr lang="en-US" sz="1350" dirty="0"/>
          </a:p>
        </p:txBody>
      </p:sp>
      <p:sp>
        <p:nvSpPr>
          <p:cNvPr id="14" name="Shape 12"/>
          <p:cNvSpPr/>
          <p:nvPr/>
        </p:nvSpPr>
        <p:spPr>
          <a:xfrm>
            <a:off x="5413248" y="1591056"/>
            <a:ext cx="6263640" cy="4160520"/>
          </a:xfrm>
          <a:prstGeom prst="rect">
            <a:avLst/>
          </a:prstGeom>
          <a:solidFill>
            <a:srgbClr val="1D4370"/>
          </a:solidFill>
          <a:ln/>
        </p:spPr>
      </p:sp>
      <p:pic>
        <p:nvPicPr>
          <p:cNvPr id="15" name="Image 0" descr="gb_slide.jpg">    </p:cNvPr>
          <p:cNvPicPr>
            <a:picLocks noChangeAspect="1"/>
          </p:cNvPicPr>
          <p:nvPr/>
        </p:nvPicPr>
        <p:blipFill>
          <a:blip r:embed="rId1"/>
          <a:stretch>
            <a:fillRect/>
          </a:stretch>
        </p:blipFill>
        <p:spPr>
          <a:xfrm>
            <a:off x="5449824" y="1627632"/>
            <a:ext cx="6190488" cy="4083710"/>
          </a:xfrm>
          <a:prstGeom prst="rect">
            <a:avLst/>
          </a:prstGeom>
        </p:spPr>
      </p:pic>
      <p:sp>
        <p:nvSpPr>
          <p:cNvPr id="16" name="Shape 13"/>
          <p:cNvSpPr/>
          <p:nvPr/>
        </p:nvSpPr>
        <p:spPr>
          <a:xfrm>
            <a:off x="5449824" y="4151376"/>
            <a:ext cx="3977640" cy="1600200"/>
          </a:xfrm>
          <a:prstGeom prst="roundRect">
            <a:avLst>
              <a:gd name="adj" fmla="val 2286"/>
            </a:avLst>
          </a:prstGeom>
          <a:solidFill>
            <a:srgbClr val="1D4370"/>
          </a:solidFill>
          <a:ln/>
        </p:spPr>
      </p:sp>
      <p:sp>
        <p:nvSpPr>
          <p:cNvPr id="17" name="Text 14"/>
          <p:cNvSpPr/>
          <p:nvPr/>
        </p:nvSpPr>
        <p:spPr>
          <a:xfrm>
            <a:off x="5669280" y="4279392"/>
            <a:ext cx="3611880" cy="1371600"/>
          </a:xfrm>
          <a:prstGeom prst="rect">
            <a:avLst/>
          </a:prstGeom>
          <a:noFill/>
          <a:ln/>
        </p:spPr>
        <p:txBody>
          <a:bodyPr wrap="square" lIns="0" tIns="0" rIns="0" bIns="0" rtlCol="0" anchor="ctr"/>
          <a:lstStyle/>
          <a:p>
            <a:pPr indent="0" marL="0">
              <a:lnSpc>
                <a:spcPts val="1550"/>
              </a:lnSpc>
              <a:buNone/>
            </a:pPr>
            <a:r>
              <a:rPr lang="en-US" sz="1200" i="1" dirty="0">
                <a:solidFill>
                  <a:srgbClr val="FFFFFF"/>
                </a:solidFill>
                <a:latin typeface="Arial" pitchFamily="34" charset="0"/>
                <a:ea typeface="Arial" pitchFamily="34" charset="-122"/>
                <a:cs typeface="Arial" pitchFamily="34" charset="-120"/>
              </a:rPr>
              <a:t>Nyamugari (Cankuzo, province de Buhumuza), 4 août 2026 — première pierre du premier pôle agro-énergétique, en présence de M. Dadémanao Pissang Tchangaï, Représentant de la FAO au Burundi, de Michael Fichtenberg (Gigawatt PURE Power Burundi) et du représentant du Gouverneur de Buhumuza.</a:t>
            </a:r>
            <a:endParaRPr lang="en-US" sz="1200" dirty="0"/>
          </a:p>
        </p:txBody>
      </p:sp>
      <p:sp>
        <p:nvSpPr>
          <p:cNvPr id="18" name="Text 15"/>
          <p:cNvSpPr/>
          <p:nvPr/>
        </p:nvSpPr>
        <p:spPr>
          <a:xfrm>
            <a:off x="10698480" y="6528816"/>
            <a:ext cx="914400" cy="256032"/>
          </a:xfrm>
          <a:prstGeom prst="rect">
            <a:avLst/>
          </a:prstGeom>
          <a:noFill/>
          <a:ln/>
        </p:spPr>
        <p:txBody>
          <a:bodyPr wrap="square" lIns="0" tIns="0" rIns="0" bIns="0" rtlCol="0" anchor="ctr"/>
          <a:lstStyle/>
          <a:p>
            <a:pPr algn="r" indent="0" marL="0">
              <a:buNone/>
            </a:pPr>
            <a:r>
              <a:rPr lang="en-US" sz="900" dirty="0">
                <a:solidFill>
                  <a:srgbClr val="4C6E9E"/>
                </a:solidFill>
                <a:latin typeface="Arial" pitchFamily="34" charset="0"/>
                <a:ea typeface="Arial" pitchFamily="34" charset="-122"/>
                <a:cs typeface="Arial" pitchFamily="34" charset="-120"/>
              </a:rPr>
              <a:t>9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640080" y="329184"/>
            <a:ext cx="8001000" cy="969264"/>
          </a:xfrm>
          <a:prstGeom prst="rect">
            <a:avLst/>
          </a:prstGeom>
          <a:noFill/>
          <a:ln/>
        </p:spPr>
        <p:txBody>
          <a:bodyPr wrap="none" lIns="0" tIns="0" rIns="0" bIns="0" rtlCol="0" anchor="ctr"/>
          <a:lstStyle/>
          <a:p>
            <a:pPr indent="0" marL="0">
              <a:buNone/>
            </a:pPr>
            <a:r>
              <a:rPr lang="en-US" sz="7200" b="1" spc="2600" kern="0" dirty="0">
                <a:solidFill>
                  <a:srgbClr val="FFFFFF"/>
                </a:solidFill>
                <a:latin typeface="Arial" pitchFamily="34" charset="0"/>
                <a:ea typeface="Arial" pitchFamily="34" charset="-122"/>
                <a:cs typeface="Arial" pitchFamily="34" charset="-120"/>
              </a:rPr>
              <a:t>GIGAWATT</a:t>
            </a:r>
            <a:endParaRPr lang="en-US" sz="7200" dirty="0"/>
          </a:p>
        </p:txBody>
      </p:sp>
      <p:sp>
        <p:nvSpPr>
          <p:cNvPr id="3" name="Text 1"/>
          <p:cNvSpPr/>
          <p:nvPr/>
        </p:nvSpPr>
        <p:spPr>
          <a:xfrm>
            <a:off x="640080" y="1371600"/>
            <a:ext cx="8001000" cy="566928"/>
          </a:xfrm>
          <a:prstGeom prst="rect">
            <a:avLst/>
          </a:prstGeom>
          <a:noFill/>
          <a:ln/>
        </p:spPr>
        <p:txBody>
          <a:bodyPr wrap="none" lIns="0" tIns="0" rIns="0" bIns="0" rtlCol="0" anchor="ctr"/>
          <a:lstStyle/>
          <a:p>
            <a:pPr indent="0" marL="0">
              <a:buNone/>
            </a:pPr>
            <a:r>
              <a:rPr lang="en-US" sz="4000" b="1" spc="3500" kern="0" dirty="0">
                <a:solidFill>
                  <a:srgbClr val="B07A1E"/>
                </a:solidFill>
                <a:latin typeface="Arial" pitchFamily="34" charset="0"/>
                <a:ea typeface="Arial" pitchFamily="34" charset="-122"/>
                <a:cs typeface="Arial" pitchFamily="34" charset="-120"/>
              </a:rPr>
              <a:t>PURE POWER</a:t>
            </a:r>
            <a:endParaRPr lang="en-US" sz="4000" dirty="0"/>
          </a:p>
        </p:txBody>
      </p:sp>
      <p:sp>
        <p:nvSpPr>
          <p:cNvPr id="4" name="Text 2"/>
          <p:cNvSpPr/>
          <p:nvPr/>
        </p:nvSpPr>
        <p:spPr>
          <a:xfrm>
            <a:off x="658368" y="1975104"/>
            <a:ext cx="7863840" cy="329184"/>
          </a:xfrm>
          <a:prstGeom prst="rect">
            <a:avLst/>
          </a:prstGeom>
          <a:noFill/>
          <a:ln/>
        </p:spPr>
        <p:txBody>
          <a:bodyPr wrap="none" lIns="0" tIns="0" rIns="0" bIns="0" rtlCol="0" anchor="ctr"/>
          <a:lstStyle/>
          <a:p>
            <a:pPr indent="0" marL="0">
              <a:buNone/>
            </a:pPr>
            <a:r>
              <a:rPr lang="en-US" sz="1900" i="1" dirty="0">
                <a:solidFill>
                  <a:srgbClr val="8FA6C2"/>
                </a:solidFill>
                <a:latin typeface="Cambria" pitchFamily="34" charset="0"/>
                <a:ea typeface="Cambria" pitchFamily="34" charset="-122"/>
                <a:cs typeface="Cambria" pitchFamily="34" charset="-120"/>
              </a:rPr>
              <a:t>Productive Uses of Renewable Energy</a:t>
            </a:r>
            <a:endParaRPr lang="en-US" sz="1900" dirty="0"/>
          </a:p>
        </p:txBody>
      </p:sp>
      <p:sp>
        <p:nvSpPr>
          <p:cNvPr id="5" name="Shape 3"/>
          <p:cNvSpPr/>
          <p:nvPr/>
        </p:nvSpPr>
        <p:spPr>
          <a:xfrm flipH="1">
            <a:off x="10076688" y="786384"/>
            <a:ext cx="0" cy="1152144"/>
          </a:xfrm>
          <a:prstGeom prst="line">
            <a:avLst/>
          </a:prstGeom>
          <a:noFill/>
          <a:ln w="12700">
            <a:solidFill>
              <a:srgbClr val="3D5A85"/>
            </a:solidFill>
            <a:prstDash val="solid"/>
          </a:ln>
        </p:spPr>
      </p:sp>
      <p:sp>
        <p:nvSpPr>
          <p:cNvPr id="6" name="Shape 4"/>
          <p:cNvSpPr/>
          <p:nvPr/>
        </p:nvSpPr>
        <p:spPr>
          <a:xfrm>
            <a:off x="9765792" y="475488"/>
            <a:ext cx="621792" cy="621792"/>
          </a:xfrm>
          <a:prstGeom prst="ellipse">
            <a:avLst/>
          </a:prstGeom>
          <a:solidFill>
            <a:srgbClr val="1D4370"/>
          </a:solidFill>
          <a:ln/>
        </p:spPr>
      </p:sp>
      <p:pic>
        <p:nvPicPr>
          <p:cNvPr id="7" name="Image 0" descr="assets/wheat_white.png">    </p:cNvPr>
          <p:cNvPicPr>
            <a:picLocks noChangeAspect="1"/>
          </p:cNvPicPr>
          <p:nvPr/>
        </p:nvPicPr>
        <p:blipFill>
          <a:blip r:embed="rId1"/>
          <a:stretch>
            <a:fillRect/>
          </a:stretch>
        </p:blipFill>
        <p:spPr>
          <a:xfrm>
            <a:off x="9921240" y="630936"/>
            <a:ext cx="310896" cy="310896"/>
          </a:xfrm>
          <a:prstGeom prst="rect">
            <a:avLst/>
          </a:prstGeom>
        </p:spPr>
      </p:pic>
      <p:sp>
        <p:nvSpPr>
          <p:cNvPr id="8" name="Shape 5"/>
          <p:cNvSpPr/>
          <p:nvPr/>
        </p:nvSpPr>
        <p:spPr>
          <a:xfrm>
            <a:off x="9078902" y="1362456"/>
            <a:ext cx="997786" cy="576072"/>
          </a:xfrm>
          <a:prstGeom prst="line">
            <a:avLst/>
          </a:prstGeom>
          <a:noFill/>
          <a:ln w="12700">
            <a:solidFill>
              <a:srgbClr val="3D5A85"/>
            </a:solidFill>
            <a:prstDash val="solid"/>
          </a:ln>
        </p:spPr>
      </p:sp>
      <p:sp>
        <p:nvSpPr>
          <p:cNvPr id="9" name="Shape 6"/>
          <p:cNvSpPr/>
          <p:nvPr/>
        </p:nvSpPr>
        <p:spPr>
          <a:xfrm>
            <a:off x="8768006" y="1051560"/>
            <a:ext cx="621792" cy="621792"/>
          </a:xfrm>
          <a:prstGeom prst="ellipse">
            <a:avLst/>
          </a:prstGeom>
          <a:solidFill>
            <a:srgbClr val="1D4370"/>
          </a:solidFill>
          <a:ln/>
        </p:spPr>
      </p:sp>
      <p:pic>
        <p:nvPicPr>
          <p:cNvPr id="10" name="Image 1" descr="assets/faucet_white.png">    </p:cNvPr>
          <p:cNvPicPr>
            <a:picLocks noChangeAspect="1"/>
          </p:cNvPicPr>
          <p:nvPr/>
        </p:nvPicPr>
        <p:blipFill>
          <a:blip r:embed="rId2"/>
          <a:stretch>
            <a:fillRect/>
          </a:stretch>
        </p:blipFill>
        <p:spPr>
          <a:xfrm>
            <a:off x="8923454" y="1207008"/>
            <a:ext cx="310896" cy="310896"/>
          </a:xfrm>
          <a:prstGeom prst="rect">
            <a:avLst/>
          </a:prstGeom>
        </p:spPr>
      </p:pic>
      <p:sp>
        <p:nvSpPr>
          <p:cNvPr id="11" name="Shape 7"/>
          <p:cNvSpPr/>
          <p:nvPr/>
        </p:nvSpPr>
        <p:spPr>
          <a:xfrm flipH="1">
            <a:off x="9078902" y="1938528"/>
            <a:ext cx="997786" cy="576072"/>
          </a:xfrm>
          <a:prstGeom prst="line">
            <a:avLst/>
          </a:prstGeom>
          <a:noFill/>
          <a:ln w="12700">
            <a:solidFill>
              <a:srgbClr val="3D5A85"/>
            </a:solidFill>
            <a:prstDash val="solid"/>
          </a:ln>
        </p:spPr>
      </p:sp>
      <p:sp>
        <p:nvSpPr>
          <p:cNvPr id="12" name="Shape 8"/>
          <p:cNvSpPr/>
          <p:nvPr/>
        </p:nvSpPr>
        <p:spPr>
          <a:xfrm>
            <a:off x="8768006" y="2203704"/>
            <a:ext cx="621792" cy="621792"/>
          </a:xfrm>
          <a:prstGeom prst="ellipse">
            <a:avLst/>
          </a:prstGeom>
          <a:solidFill>
            <a:srgbClr val="1D4370"/>
          </a:solidFill>
          <a:ln/>
        </p:spPr>
      </p:sp>
      <p:pic>
        <p:nvPicPr>
          <p:cNvPr id="13" name="Image 2" descr="assets/moto_white.png">    </p:cNvPr>
          <p:cNvPicPr>
            <a:picLocks noChangeAspect="1"/>
          </p:cNvPicPr>
          <p:nvPr/>
        </p:nvPicPr>
        <p:blipFill>
          <a:blip r:embed="rId3"/>
          <a:stretch>
            <a:fillRect/>
          </a:stretch>
        </p:blipFill>
        <p:spPr>
          <a:xfrm>
            <a:off x="8923454" y="2359152"/>
            <a:ext cx="310896" cy="310896"/>
          </a:xfrm>
          <a:prstGeom prst="rect">
            <a:avLst/>
          </a:prstGeom>
        </p:spPr>
      </p:pic>
      <p:sp>
        <p:nvSpPr>
          <p:cNvPr id="14" name="Shape 9"/>
          <p:cNvSpPr/>
          <p:nvPr/>
        </p:nvSpPr>
        <p:spPr>
          <a:xfrm>
            <a:off x="10076688" y="1938528"/>
            <a:ext cx="0" cy="1152144"/>
          </a:xfrm>
          <a:prstGeom prst="line">
            <a:avLst/>
          </a:prstGeom>
          <a:noFill/>
          <a:ln w="12700">
            <a:solidFill>
              <a:srgbClr val="3D5A85"/>
            </a:solidFill>
            <a:prstDash val="solid"/>
          </a:ln>
        </p:spPr>
      </p:sp>
      <p:sp>
        <p:nvSpPr>
          <p:cNvPr id="15" name="Shape 10"/>
          <p:cNvSpPr/>
          <p:nvPr/>
        </p:nvSpPr>
        <p:spPr>
          <a:xfrm>
            <a:off x="9765792" y="2779776"/>
            <a:ext cx="621792" cy="621792"/>
          </a:xfrm>
          <a:prstGeom prst="ellipse">
            <a:avLst/>
          </a:prstGeom>
          <a:solidFill>
            <a:srgbClr val="1D4370"/>
          </a:solidFill>
          <a:ln/>
        </p:spPr>
      </p:sp>
      <p:pic>
        <p:nvPicPr>
          <p:cNvPr id="16" name="Image 3" descr="assets/store_white.png">    </p:cNvPr>
          <p:cNvPicPr>
            <a:picLocks noChangeAspect="1"/>
          </p:cNvPicPr>
          <p:nvPr/>
        </p:nvPicPr>
        <p:blipFill>
          <a:blip r:embed="rId4"/>
          <a:stretch>
            <a:fillRect/>
          </a:stretch>
        </p:blipFill>
        <p:spPr>
          <a:xfrm>
            <a:off x="9921240" y="2935224"/>
            <a:ext cx="310896" cy="310896"/>
          </a:xfrm>
          <a:prstGeom prst="rect">
            <a:avLst/>
          </a:prstGeom>
        </p:spPr>
      </p:pic>
      <p:sp>
        <p:nvSpPr>
          <p:cNvPr id="17" name="Shape 11"/>
          <p:cNvSpPr/>
          <p:nvPr/>
        </p:nvSpPr>
        <p:spPr>
          <a:xfrm>
            <a:off x="10076688" y="1938528"/>
            <a:ext cx="997786" cy="576072"/>
          </a:xfrm>
          <a:prstGeom prst="line">
            <a:avLst/>
          </a:prstGeom>
          <a:noFill/>
          <a:ln w="12700">
            <a:solidFill>
              <a:srgbClr val="3D5A85"/>
            </a:solidFill>
            <a:prstDash val="solid"/>
          </a:ln>
        </p:spPr>
      </p:sp>
      <p:sp>
        <p:nvSpPr>
          <p:cNvPr id="18" name="Shape 12"/>
          <p:cNvSpPr/>
          <p:nvPr/>
        </p:nvSpPr>
        <p:spPr>
          <a:xfrm>
            <a:off x="10763578" y="2203704"/>
            <a:ext cx="621792" cy="621792"/>
          </a:xfrm>
          <a:prstGeom prst="ellipse">
            <a:avLst/>
          </a:prstGeom>
          <a:solidFill>
            <a:srgbClr val="1D4370"/>
          </a:solidFill>
          <a:ln/>
        </p:spPr>
      </p:sp>
      <p:pic>
        <p:nvPicPr>
          <p:cNvPr id="19" name="Image 4" descr="assets/grad_white.png">    </p:cNvPr>
          <p:cNvPicPr>
            <a:picLocks noChangeAspect="1"/>
          </p:cNvPicPr>
          <p:nvPr/>
        </p:nvPicPr>
        <p:blipFill>
          <a:blip r:embed="rId5"/>
          <a:stretch>
            <a:fillRect/>
          </a:stretch>
        </p:blipFill>
        <p:spPr>
          <a:xfrm>
            <a:off x="10919026" y="2359152"/>
            <a:ext cx="310896" cy="310896"/>
          </a:xfrm>
          <a:prstGeom prst="rect">
            <a:avLst/>
          </a:prstGeom>
        </p:spPr>
      </p:pic>
      <p:sp>
        <p:nvSpPr>
          <p:cNvPr id="20" name="Shape 13"/>
          <p:cNvSpPr/>
          <p:nvPr/>
        </p:nvSpPr>
        <p:spPr>
          <a:xfrm flipH="1">
            <a:off x="10076688" y="1362456"/>
            <a:ext cx="997786" cy="576072"/>
          </a:xfrm>
          <a:prstGeom prst="line">
            <a:avLst/>
          </a:prstGeom>
          <a:noFill/>
          <a:ln w="12700">
            <a:solidFill>
              <a:srgbClr val="3D5A85"/>
            </a:solidFill>
            <a:prstDash val="solid"/>
          </a:ln>
        </p:spPr>
      </p:sp>
      <p:sp>
        <p:nvSpPr>
          <p:cNvPr id="21" name="Shape 14"/>
          <p:cNvSpPr/>
          <p:nvPr/>
        </p:nvSpPr>
        <p:spPr>
          <a:xfrm>
            <a:off x="10763578" y="1051560"/>
            <a:ext cx="621792" cy="621792"/>
          </a:xfrm>
          <a:prstGeom prst="ellipse">
            <a:avLst/>
          </a:prstGeom>
          <a:solidFill>
            <a:srgbClr val="1D4370"/>
          </a:solidFill>
          <a:ln/>
        </p:spPr>
      </p:sp>
      <p:pic>
        <p:nvPicPr>
          <p:cNvPr id="22" name="Image 5" descr="assets/health_white.png">    </p:cNvPr>
          <p:cNvPicPr>
            <a:picLocks noChangeAspect="1"/>
          </p:cNvPicPr>
          <p:nvPr/>
        </p:nvPicPr>
        <p:blipFill>
          <a:blip r:embed="rId6"/>
          <a:stretch>
            <a:fillRect/>
          </a:stretch>
        </p:blipFill>
        <p:spPr>
          <a:xfrm>
            <a:off x="10919026" y="1207008"/>
            <a:ext cx="310896" cy="310896"/>
          </a:xfrm>
          <a:prstGeom prst="rect">
            <a:avLst/>
          </a:prstGeom>
        </p:spPr>
      </p:pic>
      <p:sp>
        <p:nvSpPr>
          <p:cNvPr id="23" name="Shape 15"/>
          <p:cNvSpPr/>
          <p:nvPr/>
        </p:nvSpPr>
        <p:spPr>
          <a:xfrm>
            <a:off x="9619488" y="1481328"/>
            <a:ext cx="914400" cy="914400"/>
          </a:xfrm>
          <a:prstGeom prst="ellipse">
            <a:avLst/>
          </a:prstGeom>
          <a:solidFill>
            <a:srgbClr val="B07A1E"/>
          </a:solidFill>
          <a:ln/>
        </p:spPr>
      </p:sp>
      <p:pic>
        <p:nvPicPr>
          <p:cNvPr id="24" name="Image 6" descr="assets/bolt_white.png">    </p:cNvPr>
          <p:cNvPicPr>
            <a:picLocks noChangeAspect="1"/>
          </p:cNvPicPr>
          <p:nvPr/>
        </p:nvPicPr>
        <p:blipFill>
          <a:blip r:embed="rId7"/>
          <a:stretch>
            <a:fillRect/>
          </a:stretch>
        </p:blipFill>
        <p:spPr>
          <a:xfrm>
            <a:off x="9848088" y="1709928"/>
            <a:ext cx="457200" cy="457200"/>
          </a:xfrm>
          <a:prstGeom prst="rect">
            <a:avLst/>
          </a:prstGeom>
        </p:spPr>
      </p:pic>
      <p:sp>
        <p:nvSpPr>
          <p:cNvPr id="25" name="Text 16"/>
          <p:cNvSpPr/>
          <p:nvPr/>
        </p:nvSpPr>
        <p:spPr>
          <a:xfrm>
            <a:off x="640080" y="2505456"/>
            <a:ext cx="7772400" cy="310896"/>
          </a:xfrm>
          <a:prstGeom prst="rect">
            <a:avLst/>
          </a:prstGeom>
          <a:noFill/>
          <a:ln/>
        </p:spPr>
        <p:txBody>
          <a:bodyPr wrap="square" lIns="0" tIns="0" rIns="0" bIns="0" rtlCol="0" anchor="ctr"/>
          <a:lstStyle/>
          <a:p>
            <a:pPr indent="0" marL="0">
              <a:buNone/>
            </a:pPr>
            <a:r>
              <a:rPr lang="en-US" sz="1350" b="1" spc="250" kern="0" dirty="0">
                <a:solidFill>
                  <a:srgbClr val="B07A1E"/>
                </a:solidFill>
                <a:latin typeface="Arial" pitchFamily="34" charset="0"/>
                <a:ea typeface="Arial" pitchFamily="34" charset="-122"/>
                <a:cs typeface="Arial" pitchFamily="34" charset="-120"/>
              </a:rPr>
              <a:t>AAICE 2026  ·  BUJUMBURA  ·  AUGUST 4–6, 2026</a:t>
            </a:r>
            <a:endParaRPr lang="en-US" sz="1350" dirty="0"/>
          </a:p>
        </p:txBody>
      </p:sp>
      <p:sp>
        <p:nvSpPr>
          <p:cNvPr id="26" name="Text 17"/>
          <p:cNvSpPr/>
          <p:nvPr/>
        </p:nvSpPr>
        <p:spPr>
          <a:xfrm>
            <a:off x="640080" y="2816352"/>
            <a:ext cx="7863840" cy="1152144"/>
          </a:xfrm>
          <a:prstGeom prst="rect">
            <a:avLst/>
          </a:prstGeom>
          <a:noFill/>
          <a:ln/>
        </p:spPr>
        <p:txBody>
          <a:bodyPr wrap="square" lIns="0" tIns="0" rIns="0" bIns="0" rtlCol="0" anchor="ctr"/>
          <a:lstStyle/>
          <a:p>
            <a:pPr indent="0" marL="0">
              <a:lnSpc>
                <a:spcPts val="3900"/>
              </a:lnSpc>
              <a:buNone/>
            </a:pPr>
            <a:r>
              <a:rPr lang="en-US" sz="3300" b="1" dirty="0">
                <a:solidFill>
                  <a:srgbClr val="FFFFFF"/>
                </a:solidFill>
                <a:latin typeface="Arial" pitchFamily="34" charset="0"/>
                <a:ea typeface="Arial" pitchFamily="34" charset="-122"/>
                <a:cs typeface="Arial" pitchFamily="34" charset="-120"/>
              </a:rPr>
              <a:t>Agro-Energy Hubs</a:t>
            </a:r>
            <a:endParaRPr lang="en-US" sz="3300" dirty="0"/>
          </a:p>
          <a:p>
            <a:pPr indent="0" marL="0">
              <a:lnSpc>
                <a:spcPts val="3900"/>
              </a:lnSpc>
              <a:buNone/>
            </a:pPr>
            <a:r>
              <a:rPr lang="en-US" sz="3300" b="1" dirty="0">
                <a:solidFill>
                  <a:srgbClr val="FFFFFF"/>
                </a:solidFill>
                <a:latin typeface="Arial" pitchFamily="34" charset="0"/>
                <a:ea typeface="Arial" pitchFamily="34" charset="-122"/>
                <a:cs typeface="Arial" pitchFamily="34" charset="-120"/>
              </a:rPr>
              <a:t>for Rural Transformation</a:t>
            </a:r>
            <a:endParaRPr lang="en-US" sz="3300" dirty="0"/>
          </a:p>
        </p:txBody>
      </p:sp>
      <p:sp>
        <p:nvSpPr>
          <p:cNvPr id="27" name="Text 18"/>
          <p:cNvSpPr/>
          <p:nvPr/>
        </p:nvSpPr>
        <p:spPr>
          <a:xfrm>
            <a:off x="640080" y="4041648"/>
            <a:ext cx="8046720" cy="530352"/>
          </a:xfrm>
          <a:prstGeom prst="rect">
            <a:avLst/>
          </a:prstGeom>
          <a:noFill/>
          <a:ln/>
        </p:spPr>
        <p:txBody>
          <a:bodyPr wrap="square" lIns="0" tIns="0" rIns="0" bIns="0" rtlCol="0" anchor="ctr"/>
          <a:lstStyle/>
          <a:p>
            <a:pPr indent="0" marL="0">
              <a:lnSpc>
                <a:spcPts val="1900"/>
              </a:lnSpc>
              <a:buNone/>
            </a:pPr>
            <a:r>
              <a:rPr lang="en-US" sz="1500" dirty="0">
                <a:solidFill>
                  <a:srgbClr val="C9D8EA"/>
                </a:solidFill>
                <a:latin typeface="Arial" pitchFamily="34" charset="0"/>
                <a:ea typeface="Arial" pitchFamily="34" charset="-122"/>
                <a:cs typeface="Arial" pitchFamily="34" charset="-120"/>
              </a:rPr>
              <a:t>Productive energy, logistics and long-term operations — infrastructure designed to carry agricultural incubation and acceleration ecosystems.</a:t>
            </a:r>
            <a:endParaRPr lang="en-US" sz="1500" dirty="0"/>
          </a:p>
        </p:txBody>
      </p:sp>
      <p:sp>
        <p:nvSpPr>
          <p:cNvPr id="28" name="Shape 19"/>
          <p:cNvSpPr/>
          <p:nvPr/>
        </p:nvSpPr>
        <p:spPr>
          <a:xfrm>
            <a:off x="640080" y="4718304"/>
            <a:ext cx="7818120" cy="713232"/>
          </a:xfrm>
          <a:prstGeom prst="roundRect">
            <a:avLst>
              <a:gd name="adj" fmla="val 7692"/>
            </a:avLst>
          </a:prstGeom>
          <a:solidFill>
            <a:srgbClr val="FFFFFF"/>
          </a:solidFill>
          <a:ln/>
        </p:spPr>
      </p:sp>
      <p:pic>
        <p:nvPicPr>
          <p:cNvPr id="29" name="Image 7" descr="assets/aain.png">    </p:cNvPr>
          <p:cNvPicPr>
            <a:picLocks noChangeAspect="1"/>
          </p:cNvPicPr>
          <p:nvPr/>
        </p:nvPicPr>
        <p:blipFill>
          <a:blip r:embed="rId8"/>
          <a:stretch>
            <a:fillRect/>
          </a:stretch>
        </p:blipFill>
        <p:spPr>
          <a:xfrm>
            <a:off x="786384" y="4818888"/>
            <a:ext cx="512064" cy="512064"/>
          </a:xfrm>
          <a:prstGeom prst="rect">
            <a:avLst/>
          </a:prstGeom>
        </p:spPr>
      </p:pic>
      <p:sp>
        <p:nvSpPr>
          <p:cNvPr id="30" name="Text 20"/>
          <p:cNvSpPr/>
          <p:nvPr/>
        </p:nvSpPr>
        <p:spPr>
          <a:xfrm>
            <a:off x="1426464" y="4718304"/>
            <a:ext cx="6949440" cy="713232"/>
          </a:xfrm>
          <a:prstGeom prst="rect">
            <a:avLst/>
          </a:prstGeom>
          <a:noFill/>
          <a:ln/>
        </p:spPr>
        <p:txBody>
          <a:bodyPr wrap="square" lIns="0" tIns="0" rIns="0" bIns="0" rtlCol="0" anchor="ctr"/>
          <a:lstStyle/>
          <a:p>
            <a:pPr indent="0" marL="0">
              <a:lnSpc>
                <a:spcPts val="1500"/>
              </a:lnSpc>
              <a:buNone/>
            </a:pPr>
            <a:r>
              <a:rPr lang="en-US" sz="1200" b="1" dirty="0">
                <a:solidFill>
                  <a:srgbClr val="13315C"/>
                </a:solidFill>
                <a:latin typeface="Arial" pitchFamily="34" charset="0"/>
                <a:ea typeface="Arial" pitchFamily="34" charset="-122"/>
                <a:cs typeface="Arial" pitchFamily="34" charset="-120"/>
              </a:rPr>
              <a:t>AAICE 2026 — “Advancing incubation and acceleration ecosystems for job opportunities in Africa”</a:t>
            </a:r>
            <a:endParaRPr lang="en-US" sz="1200" dirty="0"/>
          </a:p>
        </p:txBody>
      </p:sp>
      <p:sp>
        <p:nvSpPr>
          <p:cNvPr id="31" name="Shape 21"/>
          <p:cNvSpPr/>
          <p:nvPr/>
        </p:nvSpPr>
        <p:spPr>
          <a:xfrm>
            <a:off x="3547872" y="5577840"/>
            <a:ext cx="5138928" cy="1170432"/>
          </a:xfrm>
          <a:prstGeom prst="rect">
            <a:avLst/>
          </a:prstGeom>
          <a:solidFill>
            <a:srgbClr val="FFFFFF"/>
          </a:solidFill>
          <a:ln/>
        </p:spPr>
      </p:sp>
      <p:pic>
        <p:nvPicPr>
          <p:cNvPr id="32" name="Image 8" descr="bn_art2.png">    </p:cNvPr>
          <p:cNvPicPr>
            <a:picLocks noChangeAspect="1"/>
          </p:cNvPicPr>
          <p:nvPr/>
        </p:nvPicPr>
        <p:blipFill>
          <a:blip r:embed="rId9"/>
          <a:stretch>
            <a:fillRect/>
          </a:stretch>
        </p:blipFill>
        <p:spPr>
          <a:xfrm>
            <a:off x="3584448" y="5614416"/>
            <a:ext cx="5065776" cy="10972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3200" b="1" dirty="0">
                <a:solidFill>
                  <a:srgbClr val="13315C"/>
                </a:solidFill>
                <a:latin typeface="Arial" pitchFamily="34" charset="0"/>
                <a:ea typeface="Arial" pitchFamily="34" charset="-122"/>
                <a:cs typeface="Arial" pitchFamily="34" charset="-120"/>
              </a:rPr>
              <a:t>Incubation stops where the power stops</a:t>
            </a:r>
            <a:endParaRPr lang="en-US" sz="3200" dirty="0"/>
          </a:p>
        </p:txBody>
      </p:sp>
      <p:sp>
        <p:nvSpPr>
          <p:cNvPr id="3" name="Shape 1"/>
          <p:cNvSpPr/>
          <p:nvPr/>
        </p:nvSpPr>
        <p:spPr>
          <a:xfrm>
            <a:off x="566928" y="1298448"/>
            <a:ext cx="3602736" cy="3127248"/>
          </a:xfrm>
          <a:prstGeom prst="roundRect">
            <a:avLst>
              <a:gd name="adj" fmla="val 1754"/>
            </a:avLst>
          </a:prstGeom>
          <a:solidFill>
            <a:srgbClr val="F8F1E4"/>
          </a:solidFill>
          <a:ln/>
        </p:spPr>
      </p:sp>
      <p:sp>
        <p:nvSpPr>
          <p:cNvPr id="4" name="Text 2"/>
          <p:cNvSpPr/>
          <p:nvPr/>
        </p:nvSpPr>
        <p:spPr>
          <a:xfrm>
            <a:off x="841248" y="1481328"/>
            <a:ext cx="3054096" cy="1078992"/>
          </a:xfrm>
          <a:prstGeom prst="rect">
            <a:avLst/>
          </a:prstGeom>
          <a:noFill/>
          <a:ln/>
        </p:spPr>
        <p:txBody>
          <a:bodyPr wrap="square" lIns="0" tIns="0" rIns="0" bIns="0" rtlCol="0" anchor="ctr"/>
          <a:lstStyle/>
          <a:p>
            <a:pPr indent="0" marL="0">
              <a:buNone/>
            </a:pPr>
            <a:r>
              <a:rPr lang="en-US" sz="6400" b="1" dirty="0">
                <a:solidFill>
                  <a:srgbClr val="B07A1E"/>
                </a:solidFill>
                <a:latin typeface="Arial" pitchFamily="34" charset="0"/>
                <a:ea typeface="Arial" pitchFamily="34" charset="-122"/>
                <a:cs typeface="Arial" pitchFamily="34" charset="-120"/>
              </a:rPr>
              <a:t>85%</a:t>
            </a:r>
            <a:endParaRPr lang="en-US" sz="6400" dirty="0"/>
          </a:p>
        </p:txBody>
      </p:sp>
      <p:sp>
        <p:nvSpPr>
          <p:cNvPr id="5" name="Text 3"/>
          <p:cNvSpPr/>
          <p:nvPr/>
        </p:nvSpPr>
        <p:spPr>
          <a:xfrm>
            <a:off x="84124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of jobs are in agriculture</a:t>
            </a:r>
            <a:endParaRPr lang="en-US" sz="2200" dirty="0"/>
          </a:p>
        </p:txBody>
      </p:sp>
      <p:sp>
        <p:nvSpPr>
          <p:cNvPr id="6" name="Text 4"/>
          <p:cNvSpPr/>
          <p:nvPr/>
        </p:nvSpPr>
        <p:spPr>
          <a:xfrm>
            <a:off x="84124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and the agripreneurs are rural, not urban</a:t>
            </a:r>
            <a:endParaRPr lang="en-US" sz="1700" dirty="0"/>
          </a:p>
        </p:txBody>
      </p:sp>
      <p:sp>
        <p:nvSpPr>
          <p:cNvPr id="7" name="Shape 5"/>
          <p:cNvSpPr/>
          <p:nvPr/>
        </p:nvSpPr>
        <p:spPr>
          <a:xfrm>
            <a:off x="4293108" y="1298448"/>
            <a:ext cx="3602736" cy="3127248"/>
          </a:xfrm>
          <a:prstGeom prst="roundRect">
            <a:avLst>
              <a:gd name="adj" fmla="val 1754"/>
            </a:avLst>
          </a:prstGeom>
          <a:solidFill>
            <a:srgbClr val="EEF4FA"/>
          </a:solidFill>
          <a:ln/>
        </p:spPr>
      </p:sp>
      <p:sp>
        <p:nvSpPr>
          <p:cNvPr id="8" name="Text 6"/>
          <p:cNvSpPr/>
          <p:nvPr/>
        </p:nvSpPr>
        <p:spPr>
          <a:xfrm>
            <a:off x="456742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&lt; 2%</a:t>
            </a:r>
            <a:endParaRPr lang="en-US" sz="6400" dirty="0"/>
          </a:p>
        </p:txBody>
      </p:sp>
      <p:sp>
        <p:nvSpPr>
          <p:cNvPr id="9" name="Text 7"/>
          <p:cNvSpPr/>
          <p:nvPr/>
        </p:nvSpPr>
        <p:spPr>
          <a:xfrm>
            <a:off x="456742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rural access to electricity</a:t>
            </a:r>
            <a:endParaRPr lang="en-US" sz="2200" dirty="0"/>
          </a:p>
        </p:txBody>
      </p:sp>
      <p:sp>
        <p:nvSpPr>
          <p:cNvPr id="10" name="Text 8"/>
          <p:cNvSpPr/>
          <p:nvPr/>
        </p:nvSpPr>
        <p:spPr>
          <a:xfrm>
            <a:off x="456742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no cold chain, no processing, no prototyping</a:t>
            </a:r>
            <a:endParaRPr lang="en-US" sz="1700" dirty="0"/>
          </a:p>
        </p:txBody>
      </p:sp>
      <p:sp>
        <p:nvSpPr>
          <p:cNvPr id="11" name="Shape 9"/>
          <p:cNvSpPr/>
          <p:nvPr/>
        </p:nvSpPr>
        <p:spPr>
          <a:xfrm>
            <a:off x="8019288" y="1298448"/>
            <a:ext cx="3602736" cy="3127248"/>
          </a:xfrm>
          <a:prstGeom prst="roundRect">
            <a:avLst>
              <a:gd name="adj" fmla="val 1754"/>
            </a:avLst>
          </a:prstGeom>
          <a:solidFill>
            <a:srgbClr val="EEF4FA"/>
          </a:solidFill>
          <a:ln/>
        </p:spPr>
      </p:sp>
      <p:sp>
        <p:nvSpPr>
          <p:cNvPr id="12" name="Text 10"/>
          <p:cNvSpPr/>
          <p:nvPr/>
        </p:nvSpPr>
        <p:spPr>
          <a:xfrm>
            <a:off x="829360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37%</a:t>
            </a:r>
            <a:endParaRPr lang="en-US" sz="6400" dirty="0"/>
          </a:p>
        </p:txBody>
      </p:sp>
      <p:sp>
        <p:nvSpPr>
          <p:cNvPr id="13" name="Text 11"/>
          <p:cNvSpPr/>
          <p:nvPr/>
        </p:nvSpPr>
        <p:spPr>
          <a:xfrm>
            <a:off x="829360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of production is lost</a:t>
            </a:r>
            <a:endParaRPr lang="en-US" sz="2200" dirty="0"/>
          </a:p>
        </p:txBody>
      </p:sp>
      <p:sp>
        <p:nvSpPr>
          <p:cNvPr id="14" name="Text 12"/>
          <p:cNvSpPr/>
          <p:nvPr/>
        </p:nvSpPr>
        <p:spPr>
          <a:xfrm>
            <a:off x="829360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the first obstacle facing rural agri-entrepreneurs</a:t>
            </a:r>
            <a:endParaRPr lang="en-US" sz="1700" dirty="0"/>
          </a:p>
        </p:txBody>
      </p:sp>
      <p:sp>
        <p:nvSpPr>
          <p:cNvPr id="15" name="Shape 13"/>
          <p:cNvSpPr/>
          <p:nvPr/>
        </p:nvSpPr>
        <p:spPr>
          <a:xfrm>
            <a:off x="566928" y="4572000"/>
            <a:ext cx="11055096" cy="1810512"/>
          </a:xfrm>
          <a:prstGeom prst="roundRect">
            <a:avLst>
              <a:gd name="adj" fmla="val 3030"/>
            </a:avLst>
          </a:prstGeom>
          <a:solidFill>
            <a:srgbClr val="13315C"/>
          </a:solidFill>
          <a:ln/>
        </p:spPr>
      </p:sp>
      <p:sp>
        <p:nvSpPr>
          <p:cNvPr id="16" name="Text 14"/>
          <p:cNvSpPr/>
          <p:nvPr/>
        </p:nvSpPr>
        <p:spPr>
          <a:xfrm>
            <a:off x="960120" y="4700016"/>
            <a:ext cx="10287000" cy="1572768"/>
          </a:xfrm>
          <a:prstGeom prst="rect">
            <a:avLst/>
          </a:prstGeom>
          <a:noFill/>
          <a:ln/>
        </p:spPr>
        <p:txBody>
          <a:bodyPr wrap="square" lIns="0" tIns="0" rIns="0" bIns="0" rtlCol="0" anchor="ctr"/>
          <a:lstStyle/>
          <a:p>
            <a:pPr indent="0" marL="0">
              <a:lnSpc>
                <a:spcPts val="2600"/>
              </a:lnSpc>
              <a:buNone/>
            </a:pPr>
            <a:r>
              <a:rPr lang="en-US" sz="1850" dirty="0">
                <a:solidFill>
                  <a:srgbClr val="FFFFFF"/>
                </a:solidFill>
                <a:latin typeface="Arial" pitchFamily="34" charset="0"/>
                <a:ea typeface="Arial" pitchFamily="34" charset="-122"/>
                <a:cs typeface="Arial" pitchFamily="34" charset="-120"/>
              </a:rPr>
              <a:t>Most support infrastructure is urban; the agripreneurs are rural. The last mile of incubation is not a program — it is infrastructure: power, cold, water, connectivity, equipment. Africa’s $1 trillion agrifood market by 2030 (World Bank) will be won where those elements exist.</a:t>
            </a:r>
            <a:endParaRPr lang="en-US" sz="1850" dirty="0"/>
          </a:p>
        </p:txBody>
      </p:sp>
      <p:sp>
        <p:nvSpPr>
          <p:cNvPr id="17" name="Shape 15"/>
          <p:cNvSpPr/>
          <p:nvPr/>
        </p:nvSpPr>
        <p:spPr>
          <a:xfrm>
            <a:off x="566928" y="6510528"/>
            <a:ext cx="11055096" cy="0"/>
          </a:xfrm>
          <a:prstGeom prst="line">
            <a:avLst/>
          </a:prstGeom>
          <a:noFill/>
          <a:ln w="9525">
            <a:solidFill>
              <a:srgbClr val="C5CFDB"/>
            </a:solidFill>
            <a:prstDash val="solid"/>
          </a:ln>
        </p:spPr>
      </p:sp>
      <p:sp>
        <p:nvSpPr>
          <p:cNvPr id="18" name="Text 16"/>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19" name="Text 17"/>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2 / 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What we build and operate</a:t>
            </a:r>
            <a:endParaRPr lang="en-US" sz="2800" dirty="0"/>
          </a:p>
        </p:txBody>
      </p:sp>
      <p:sp>
        <p:nvSpPr>
          <p:cNvPr id="3" name="Text 1"/>
          <p:cNvSpPr/>
          <p:nvPr/>
        </p:nvSpPr>
        <p:spPr>
          <a:xfrm>
            <a:off x="566928" y="1115568"/>
            <a:ext cx="11064240" cy="402336"/>
          </a:xfrm>
          <a:prstGeom prst="rect">
            <a:avLst/>
          </a:prstGeom>
          <a:noFill/>
          <a:ln/>
        </p:spPr>
        <p:txBody>
          <a:bodyPr wrap="square" lIns="0" tIns="0" rIns="0" bIns="0" rtlCol="0" anchor="ctr"/>
          <a:lstStyle/>
          <a:p>
            <a:pPr indent="0" marL="0">
              <a:buNone/>
            </a:pPr>
            <a:r>
              <a:rPr lang="en-US" sz="1700" b="1" dirty="0">
                <a:solidFill>
                  <a:srgbClr val="13315C"/>
                </a:solidFill>
                <a:latin typeface="Arial" pitchFamily="34" charset="0"/>
                <a:ea typeface="Arial" pitchFamily="34" charset="-122"/>
                <a:cs typeface="Arial" pitchFamily="34" charset="-120"/>
              </a:rPr>
              <a:t>Each agro-energy hub brings together, in one rural place:</a:t>
            </a:r>
            <a:endParaRPr lang="en-US" sz="1700" dirty="0"/>
          </a:p>
        </p:txBody>
      </p:sp>
      <p:sp>
        <p:nvSpPr>
          <p:cNvPr id="4" name="Shape 2"/>
          <p:cNvSpPr/>
          <p:nvPr/>
        </p:nvSpPr>
        <p:spPr>
          <a:xfrm>
            <a:off x="566928" y="1645920"/>
            <a:ext cx="3602736" cy="2212848"/>
          </a:xfrm>
          <a:prstGeom prst="roundRect">
            <a:avLst>
              <a:gd name="adj" fmla="val 2066"/>
            </a:avLst>
          </a:prstGeom>
          <a:solidFill>
            <a:srgbClr val="EEF4FA"/>
          </a:solidFill>
          <a:ln/>
        </p:spPr>
      </p:sp>
      <p:sp>
        <p:nvSpPr>
          <p:cNvPr id="5" name="Shape 3"/>
          <p:cNvSpPr/>
          <p:nvPr/>
        </p:nvSpPr>
        <p:spPr>
          <a:xfrm>
            <a:off x="758952" y="1819656"/>
            <a:ext cx="603504" cy="603504"/>
          </a:xfrm>
          <a:prstGeom prst="ellipse">
            <a:avLst/>
          </a:prstGeom>
          <a:solidFill>
            <a:srgbClr val="FFFFFF"/>
          </a:solidFill>
          <a:ln/>
        </p:spPr>
      </p:sp>
      <p:pic>
        <p:nvPicPr>
          <p:cNvPr id="6" name="Image 0" descr="assets/wheat_blue.png">    </p:cNvPr>
          <p:cNvPicPr>
            <a:picLocks noChangeAspect="1"/>
          </p:cNvPicPr>
          <p:nvPr/>
        </p:nvPicPr>
        <p:blipFill>
          <a:blip r:embed="rId1"/>
          <a:stretch>
            <a:fillRect/>
          </a:stretch>
        </p:blipFill>
        <p:spPr>
          <a:xfrm>
            <a:off x="885688" y="1946392"/>
            <a:ext cx="350032" cy="350032"/>
          </a:xfrm>
          <a:prstGeom prst="rect">
            <a:avLst/>
          </a:prstGeom>
        </p:spPr>
      </p:pic>
      <p:sp>
        <p:nvSpPr>
          <p:cNvPr id="7" name="Text 4"/>
          <p:cNvSpPr/>
          <p:nvPr/>
        </p:nvSpPr>
        <p:spPr>
          <a:xfrm>
            <a:off x="146304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Prototype &amp; process</a:t>
            </a:r>
            <a:endParaRPr lang="en-US" sz="1700" dirty="0"/>
          </a:p>
        </p:txBody>
      </p:sp>
      <p:sp>
        <p:nvSpPr>
          <p:cNvPr id="8" name="Text 5"/>
          <p:cNvSpPr/>
          <p:nvPr/>
        </p:nvSpPr>
        <p:spPr>
          <a:xfrm>
            <a:off x="80467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Equipment park: milling, hulling, pressing, drying, cold storage</a:t>
            </a:r>
            <a:endParaRPr lang="en-US" sz="1500" dirty="0"/>
          </a:p>
        </p:txBody>
      </p:sp>
      <p:sp>
        <p:nvSpPr>
          <p:cNvPr id="9" name="Shape 6"/>
          <p:cNvSpPr/>
          <p:nvPr/>
        </p:nvSpPr>
        <p:spPr>
          <a:xfrm>
            <a:off x="4293108" y="1645920"/>
            <a:ext cx="3602736" cy="2212848"/>
          </a:xfrm>
          <a:prstGeom prst="roundRect">
            <a:avLst>
              <a:gd name="adj" fmla="val 2066"/>
            </a:avLst>
          </a:prstGeom>
          <a:solidFill>
            <a:srgbClr val="EEF4FA"/>
          </a:solidFill>
          <a:ln/>
        </p:spPr>
      </p:sp>
      <p:sp>
        <p:nvSpPr>
          <p:cNvPr id="10" name="Shape 7"/>
          <p:cNvSpPr/>
          <p:nvPr/>
        </p:nvSpPr>
        <p:spPr>
          <a:xfrm>
            <a:off x="4485132" y="1819656"/>
            <a:ext cx="603504" cy="603504"/>
          </a:xfrm>
          <a:prstGeom prst="ellipse">
            <a:avLst/>
          </a:prstGeom>
          <a:solidFill>
            <a:srgbClr val="FFFFFF"/>
          </a:solidFill>
          <a:ln/>
        </p:spPr>
      </p:sp>
      <p:pic>
        <p:nvPicPr>
          <p:cNvPr id="11" name="Image 1" descr="assets/faucet_blue.png">    </p:cNvPr>
          <p:cNvPicPr>
            <a:picLocks noChangeAspect="1"/>
          </p:cNvPicPr>
          <p:nvPr/>
        </p:nvPicPr>
        <p:blipFill>
          <a:blip r:embed="rId2"/>
          <a:stretch>
            <a:fillRect/>
          </a:stretch>
        </p:blipFill>
        <p:spPr>
          <a:xfrm>
            <a:off x="4611868" y="1946392"/>
            <a:ext cx="350032" cy="350032"/>
          </a:xfrm>
          <a:prstGeom prst="rect">
            <a:avLst/>
          </a:prstGeom>
        </p:spPr>
      </p:pic>
      <p:sp>
        <p:nvSpPr>
          <p:cNvPr id="12" name="Text 8"/>
          <p:cNvSpPr/>
          <p:nvPr/>
        </p:nvSpPr>
        <p:spPr>
          <a:xfrm>
            <a:off x="518922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Demonstrate in real conditions</a:t>
            </a:r>
            <a:endParaRPr lang="en-US" sz="1700" dirty="0"/>
          </a:p>
        </p:txBody>
      </p:sp>
      <p:sp>
        <p:nvSpPr>
          <p:cNvPr id="13" name="Text 9"/>
          <p:cNvSpPr/>
          <p:nvPr/>
        </p:nvSpPr>
        <p:spPr>
          <a:xfrm>
            <a:off x="453085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Irrigated perimeter, market gardening, aquaculture — demo units</a:t>
            </a:r>
            <a:endParaRPr lang="en-US" sz="1500" dirty="0"/>
          </a:p>
        </p:txBody>
      </p:sp>
      <p:sp>
        <p:nvSpPr>
          <p:cNvPr id="14" name="Shape 10"/>
          <p:cNvSpPr/>
          <p:nvPr/>
        </p:nvSpPr>
        <p:spPr>
          <a:xfrm>
            <a:off x="8019288" y="1645920"/>
            <a:ext cx="3602736" cy="2212848"/>
          </a:xfrm>
          <a:prstGeom prst="roundRect">
            <a:avLst>
              <a:gd name="adj" fmla="val 2066"/>
            </a:avLst>
          </a:prstGeom>
          <a:solidFill>
            <a:srgbClr val="EEF4FA"/>
          </a:solidFill>
          <a:ln/>
        </p:spPr>
      </p:sp>
      <p:sp>
        <p:nvSpPr>
          <p:cNvPr id="15" name="Shape 11"/>
          <p:cNvSpPr/>
          <p:nvPr/>
        </p:nvSpPr>
        <p:spPr>
          <a:xfrm>
            <a:off x="8211312" y="1819656"/>
            <a:ext cx="603504" cy="603504"/>
          </a:xfrm>
          <a:prstGeom prst="ellipse">
            <a:avLst/>
          </a:prstGeom>
          <a:solidFill>
            <a:srgbClr val="FFFFFF"/>
          </a:solidFill>
          <a:ln/>
        </p:spPr>
      </p:sp>
      <p:pic>
        <p:nvPicPr>
          <p:cNvPr id="16" name="Image 2" descr="assets/grad_blue.png">    </p:cNvPr>
          <p:cNvPicPr>
            <a:picLocks noChangeAspect="1"/>
          </p:cNvPicPr>
          <p:nvPr/>
        </p:nvPicPr>
        <p:blipFill>
          <a:blip r:embed="rId3"/>
          <a:stretch>
            <a:fillRect/>
          </a:stretch>
        </p:blipFill>
        <p:spPr>
          <a:xfrm>
            <a:off x="8338048" y="1946392"/>
            <a:ext cx="350032" cy="350032"/>
          </a:xfrm>
          <a:prstGeom prst="rect">
            <a:avLst/>
          </a:prstGeom>
        </p:spPr>
      </p:pic>
      <p:sp>
        <p:nvSpPr>
          <p:cNvPr id="17" name="Text 12"/>
          <p:cNvSpPr/>
          <p:nvPr/>
        </p:nvSpPr>
        <p:spPr>
          <a:xfrm>
            <a:off x="891540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Train &amp; connect</a:t>
            </a:r>
            <a:endParaRPr lang="en-US" sz="1700" dirty="0"/>
          </a:p>
        </p:txBody>
      </p:sp>
      <p:sp>
        <p:nvSpPr>
          <p:cNvPr id="18" name="Text 13"/>
          <p:cNvSpPr/>
          <p:nvPr/>
        </p:nvSpPr>
        <p:spPr>
          <a:xfrm>
            <a:off x="825703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Tele-education rooms, Starlink, AI tools — accredited curricula</a:t>
            </a:r>
            <a:endParaRPr lang="en-US" sz="1500" dirty="0"/>
          </a:p>
        </p:txBody>
      </p:sp>
      <p:sp>
        <p:nvSpPr>
          <p:cNvPr id="19" name="Shape 14"/>
          <p:cNvSpPr/>
          <p:nvPr/>
        </p:nvSpPr>
        <p:spPr>
          <a:xfrm>
            <a:off x="566928" y="3977640"/>
            <a:ext cx="3602736" cy="2212848"/>
          </a:xfrm>
          <a:prstGeom prst="roundRect">
            <a:avLst>
              <a:gd name="adj" fmla="val 2066"/>
            </a:avLst>
          </a:prstGeom>
          <a:solidFill>
            <a:srgbClr val="EEF4FA"/>
          </a:solidFill>
          <a:ln/>
        </p:spPr>
      </p:sp>
      <p:sp>
        <p:nvSpPr>
          <p:cNvPr id="20" name="Shape 15"/>
          <p:cNvSpPr/>
          <p:nvPr/>
        </p:nvSpPr>
        <p:spPr>
          <a:xfrm>
            <a:off x="758952" y="4151376"/>
            <a:ext cx="603504" cy="603504"/>
          </a:xfrm>
          <a:prstGeom prst="ellipse">
            <a:avLst/>
          </a:prstGeom>
          <a:solidFill>
            <a:srgbClr val="FFFFFF"/>
          </a:solidFill>
          <a:ln/>
        </p:spPr>
      </p:sp>
      <p:pic>
        <p:nvPicPr>
          <p:cNvPr id="21" name="Image 3" descr="assets/coins_navy.png">    </p:cNvPr>
          <p:cNvPicPr>
            <a:picLocks noChangeAspect="1"/>
          </p:cNvPicPr>
          <p:nvPr/>
        </p:nvPicPr>
        <p:blipFill>
          <a:blip r:embed="rId4"/>
          <a:stretch>
            <a:fillRect/>
          </a:stretch>
        </p:blipFill>
        <p:spPr>
          <a:xfrm>
            <a:off x="885688" y="4278112"/>
            <a:ext cx="350032" cy="350032"/>
          </a:xfrm>
          <a:prstGeom prst="rect">
            <a:avLst/>
          </a:prstGeom>
        </p:spPr>
      </p:pic>
      <p:sp>
        <p:nvSpPr>
          <p:cNvPr id="22" name="Text 16"/>
          <p:cNvSpPr/>
          <p:nvPr/>
        </p:nvSpPr>
        <p:spPr>
          <a:xfrm>
            <a:off x="146304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Access to finance</a:t>
            </a:r>
            <a:endParaRPr lang="en-US" sz="1700" dirty="0"/>
          </a:p>
        </p:txBody>
      </p:sp>
      <p:sp>
        <p:nvSpPr>
          <p:cNvPr id="23" name="Text 17"/>
          <p:cNvSpPr/>
          <p:nvPr/>
        </p:nvSpPr>
        <p:spPr>
          <a:xfrm>
            <a:off x="80467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Microfinance, savings and credit links, and PAYGo, sales and usage data lenders can read</a:t>
            </a:r>
            <a:endParaRPr lang="en-US" sz="1500" dirty="0"/>
          </a:p>
        </p:txBody>
      </p:sp>
      <p:sp>
        <p:nvSpPr>
          <p:cNvPr id="24" name="Shape 18"/>
          <p:cNvSpPr/>
          <p:nvPr/>
        </p:nvSpPr>
        <p:spPr>
          <a:xfrm>
            <a:off x="4293108" y="3977640"/>
            <a:ext cx="3602736" cy="2212848"/>
          </a:xfrm>
          <a:prstGeom prst="roundRect">
            <a:avLst>
              <a:gd name="adj" fmla="val 2066"/>
            </a:avLst>
          </a:prstGeom>
          <a:solidFill>
            <a:srgbClr val="EEF4FA"/>
          </a:solidFill>
          <a:ln/>
        </p:spPr>
      </p:sp>
      <p:sp>
        <p:nvSpPr>
          <p:cNvPr id="25" name="Shape 19"/>
          <p:cNvSpPr/>
          <p:nvPr/>
        </p:nvSpPr>
        <p:spPr>
          <a:xfrm>
            <a:off x="4485132" y="4151376"/>
            <a:ext cx="603504" cy="603504"/>
          </a:xfrm>
          <a:prstGeom prst="ellipse">
            <a:avLst/>
          </a:prstGeom>
          <a:solidFill>
            <a:srgbClr val="FFFFFF"/>
          </a:solidFill>
          <a:ln/>
        </p:spPr>
      </p:sp>
      <p:pic>
        <p:nvPicPr>
          <p:cNvPr id="26" name="Image 4" descr="assets/moto_blue.png">    </p:cNvPr>
          <p:cNvPicPr>
            <a:picLocks noChangeAspect="1"/>
          </p:cNvPicPr>
          <p:nvPr/>
        </p:nvPicPr>
        <p:blipFill>
          <a:blip r:embed="rId5"/>
          <a:stretch>
            <a:fillRect/>
          </a:stretch>
        </p:blipFill>
        <p:spPr>
          <a:xfrm>
            <a:off x="4611868" y="4278112"/>
            <a:ext cx="350032" cy="350032"/>
          </a:xfrm>
          <a:prstGeom prst="rect">
            <a:avLst/>
          </a:prstGeom>
        </p:spPr>
      </p:pic>
      <p:sp>
        <p:nvSpPr>
          <p:cNvPr id="27" name="Text 20"/>
          <p:cNvSpPr/>
          <p:nvPr/>
        </p:nvSpPr>
        <p:spPr>
          <a:xfrm>
            <a:off x="518922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Link to market</a:t>
            </a:r>
            <a:endParaRPr lang="en-US" sz="1700" dirty="0"/>
          </a:p>
        </p:txBody>
      </p:sp>
      <p:sp>
        <p:nvSpPr>
          <p:cNvPr id="28" name="Text 21"/>
          <p:cNvSpPr/>
          <p:nvPr/>
        </p:nvSpPr>
        <p:spPr>
          <a:xfrm>
            <a:off x="453085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Electric three-wheelers, aggregation, cold chain to market</a:t>
            </a:r>
            <a:endParaRPr lang="en-US" sz="1500" dirty="0"/>
          </a:p>
        </p:txBody>
      </p:sp>
      <p:sp>
        <p:nvSpPr>
          <p:cNvPr id="29" name="Shape 22"/>
          <p:cNvSpPr/>
          <p:nvPr/>
        </p:nvSpPr>
        <p:spPr>
          <a:xfrm>
            <a:off x="8019288" y="3977640"/>
            <a:ext cx="3602736" cy="2212848"/>
          </a:xfrm>
          <a:prstGeom prst="roundRect">
            <a:avLst>
              <a:gd name="adj" fmla="val 2066"/>
            </a:avLst>
          </a:prstGeom>
          <a:solidFill>
            <a:srgbClr val="EEF4FA"/>
          </a:solidFill>
          <a:ln/>
        </p:spPr>
      </p:sp>
      <p:sp>
        <p:nvSpPr>
          <p:cNvPr id="30" name="Shape 23"/>
          <p:cNvSpPr/>
          <p:nvPr/>
        </p:nvSpPr>
        <p:spPr>
          <a:xfrm>
            <a:off x="8211312" y="4151376"/>
            <a:ext cx="603504" cy="603504"/>
          </a:xfrm>
          <a:prstGeom prst="ellipse">
            <a:avLst/>
          </a:prstGeom>
          <a:solidFill>
            <a:srgbClr val="FFFFFF"/>
          </a:solidFill>
          <a:ln/>
        </p:spPr>
      </p:sp>
      <p:pic>
        <p:nvPicPr>
          <p:cNvPr id="31" name="Image 5" descr="assets/hub_navy.png">    </p:cNvPr>
          <p:cNvPicPr>
            <a:picLocks noChangeAspect="1"/>
          </p:cNvPicPr>
          <p:nvPr/>
        </p:nvPicPr>
        <p:blipFill>
          <a:blip r:embed="rId6"/>
          <a:stretch>
            <a:fillRect/>
          </a:stretch>
        </p:blipFill>
        <p:spPr>
          <a:xfrm>
            <a:off x="8338048" y="4278112"/>
            <a:ext cx="350032" cy="350032"/>
          </a:xfrm>
          <a:prstGeom prst="rect">
            <a:avLst/>
          </a:prstGeom>
        </p:spPr>
      </p:pic>
      <p:sp>
        <p:nvSpPr>
          <p:cNvPr id="32" name="Text 24"/>
          <p:cNvSpPr/>
          <p:nvPr/>
        </p:nvSpPr>
        <p:spPr>
          <a:xfrm>
            <a:off x="891540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Host programs</a:t>
            </a:r>
            <a:endParaRPr lang="en-US" sz="1700" dirty="0"/>
          </a:p>
        </p:txBody>
      </p:sp>
      <p:sp>
        <p:nvSpPr>
          <p:cNvPr id="33" name="Text 25"/>
          <p:cNvSpPr/>
          <p:nvPr/>
        </p:nvSpPr>
        <p:spPr>
          <a:xfrm>
            <a:off x="825703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Spaces designed for incubation, training and support — workshops, offices, field</a:t>
            </a:r>
            <a:endParaRPr lang="en-US" sz="1500" dirty="0"/>
          </a:p>
        </p:txBody>
      </p:sp>
      <p:sp>
        <p:nvSpPr>
          <p:cNvPr id="34" name="Text 26"/>
          <p:cNvSpPr/>
          <p:nvPr/>
        </p:nvSpPr>
        <p:spPr>
          <a:xfrm>
            <a:off x="566928" y="6254496"/>
            <a:ext cx="11064240" cy="292608"/>
          </a:xfrm>
          <a:prstGeom prst="rect">
            <a:avLst/>
          </a:prstGeom>
          <a:noFill/>
          <a:ln/>
        </p:spPr>
        <p:txBody>
          <a:bodyPr wrap="square" lIns="0" tIns="0" rIns="0" bIns="0" rtlCol="0" anchor="ctr"/>
          <a:lstStyle/>
          <a:p>
            <a:pPr indent="0" marL="0">
              <a:buNone/>
            </a:pPr>
            <a:r>
              <a:rPr lang="en-US" sz="1550" b="1" i="1" dirty="0">
                <a:solidFill>
                  <a:srgbClr val="13315C"/>
                </a:solidFill>
                <a:latin typeface="Arial" pitchFamily="34" charset="0"/>
                <a:ea typeface="Arial" pitchFamily="34" charset="-122"/>
                <a:cs typeface="Arial" pitchFamily="34" charset="-120"/>
              </a:rPr>
              <a:t>Public-interest infrastructure, operated for the long term — the physical base of incubation ecosystems.</a:t>
            </a:r>
            <a:endParaRPr lang="en-US" sz="1550" dirty="0"/>
          </a:p>
        </p:txBody>
      </p:sp>
      <p:sp>
        <p:nvSpPr>
          <p:cNvPr id="35" name="Shape 27"/>
          <p:cNvSpPr/>
          <p:nvPr/>
        </p:nvSpPr>
        <p:spPr>
          <a:xfrm>
            <a:off x="566928" y="6510528"/>
            <a:ext cx="11055096" cy="0"/>
          </a:xfrm>
          <a:prstGeom prst="line">
            <a:avLst/>
          </a:prstGeom>
          <a:noFill/>
          <a:ln w="9525">
            <a:solidFill>
              <a:srgbClr val="C5CFDB"/>
            </a:solidFill>
            <a:prstDash val="solid"/>
          </a:ln>
        </p:spPr>
      </p:sp>
      <p:sp>
        <p:nvSpPr>
          <p:cNvPr id="36" name="Text 2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37" name="Text 2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3 / 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750" b="1" dirty="0">
                <a:solidFill>
                  <a:srgbClr val="13315C"/>
                </a:solidFill>
                <a:latin typeface="Arial" pitchFamily="34" charset="0"/>
                <a:ea typeface="Arial" pitchFamily="34" charset="-122"/>
                <a:cs typeface="Arial" pitchFamily="34" charset="-120"/>
              </a:rPr>
              <a:t>The innovation is not the technology — it is the model</a:t>
            </a:r>
            <a:endParaRPr lang="en-US" sz="2750" dirty="0"/>
          </a:p>
        </p:txBody>
      </p:sp>
      <p:sp>
        <p:nvSpPr>
          <p:cNvPr id="3" name="Shape 1"/>
          <p:cNvSpPr/>
          <p:nvPr/>
        </p:nvSpPr>
        <p:spPr>
          <a:xfrm>
            <a:off x="566928" y="1298448"/>
            <a:ext cx="3602736" cy="3054096"/>
          </a:xfrm>
          <a:prstGeom prst="roundRect">
            <a:avLst>
              <a:gd name="adj" fmla="val 1796"/>
            </a:avLst>
          </a:prstGeom>
          <a:solidFill>
            <a:srgbClr val="EEF4FA"/>
          </a:solidFill>
          <a:ln/>
        </p:spPr>
      </p:sp>
      <p:sp>
        <p:nvSpPr>
          <p:cNvPr id="4" name="Text 2"/>
          <p:cNvSpPr/>
          <p:nvPr/>
        </p:nvSpPr>
        <p:spPr>
          <a:xfrm>
            <a:off x="841248" y="1517904"/>
            <a:ext cx="3054096" cy="420624"/>
          </a:xfrm>
          <a:prstGeom prst="rect">
            <a:avLst/>
          </a:prstGeom>
          <a:noFill/>
          <a:ln/>
        </p:spPr>
        <p:txBody>
          <a:bodyPr wrap="square" lIns="0" tIns="0" rIns="0" bIns="0" rtlCol="0" anchor="ctr"/>
          <a:lstStyle/>
          <a:p>
            <a:pPr indent="0" marL="0">
              <a:buNone/>
            </a:pPr>
            <a:r>
              <a:rPr lang="en-US" sz="1900" b="1" spc="80" kern="0" dirty="0">
                <a:solidFill>
                  <a:srgbClr val="13315C"/>
                </a:solidFill>
                <a:latin typeface="Arial" pitchFamily="34" charset="0"/>
                <a:ea typeface="Arial" pitchFamily="34" charset="-122"/>
                <a:cs typeface="Arial" pitchFamily="34" charset="-120"/>
              </a:rPr>
              <a:t>ONE ROOF</a:t>
            </a:r>
            <a:endParaRPr lang="en-US" sz="1900" dirty="0"/>
          </a:p>
        </p:txBody>
      </p:sp>
      <p:sp>
        <p:nvSpPr>
          <p:cNvPr id="5" name="Text 3"/>
          <p:cNvSpPr/>
          <p:nvPr/>
        </p:nvSpPr>
        <p:spPr>
          <a:xfrm>
            <a:off x="841248" y="2011680"/>
            <a:ext cx="3054096" cy="2194560"/>
          </a:xfrm>
          <a:prstGeom prst="rect">
            <a:avLst/>
          </a:prstGeom>
          <a:noFill/>
          <a:ln/>
        </p:spPr>
        <p:txBody>
          <a:bodyPr wrap="square" lIns="0" tIns="0" rIns="0" bIns="0" rtlCol="0" anchor="ctr"/>
          <a:lstStyle/>
          <a:p>
            <a:pPr indent="0" marL="0">
              <a:lnSpc>
                <a:spcPts val="2000"/>
              </a:lnSpc>
              <a:buNone/>
            </a:pPr>
            <a:r>
              <a:rPr lang="en-US" sz="1550" dirty="0">
                <a:solidFill>
                  <a:srgbClr val="1F2A3D"/>
                </a:solidFill>
                <a:latin typeface="Arial" pitchFamily="34" charset="0"/>
                <a:ea typeface="Arial" pitchFamily="34" charset="-122"/>
                <a:cs typeface="Arial" pitchFamily="34" charset="-120"/>
              </a:rPr>
              <a:t>Processing, cold, water, training, finance, mobility — every pillar aggregated in one building, one program. One investment, not six.</a:t>
            </a:r>
            <a:endParaRPr lang="en-US" sz="1550" dirty="0"/>
          </a:p>
        </p:txBody>
      </p:sp>
      <p:sp>
        <p:nvSpPr>
          <p:cNvPr id="6" name="Shape 4"/>
          <p:cNvSpPr/>
          <p:nvPr/>
        </p:nvSpPr>
        <p:spPr>
          <a:xfrm>
            <a:off x="4293108" y="1298448"/>
            <a:ext cx="3602736" cy="3054096"/>
          </a:xfrm>
          <a:prstGeom prst="roundRect">
            <a:avLst>
              <a:gd name="adj" fmla="val 1796"/>
            </a:avLst>
          </a:prstGeom>
          <a:solidFill>
            <a:srgbClr val="F8F1E4"/>
          </a:solidFill>
          <a:ln/>
        </p:spPr>
      </p:sp>
      <p:sp>
        <p:nvSpPr>
          <p:cNvPr id="7" name="Text 5"/>
          <p:cNvSpPr/>
          <p:nvPr/>
        </p:nvSpPr>
        <p:spPr>
          <a:xfrm>
            <a:off x="4567428" y="1517904"/>
            <a:ext cx="3054096" cy="420624"/>
          </a:xfrm>
          <a:prstGeom prst="rect">
            <a:avLst/>
          </a:prstGeom>
          <a:noFill/>
          <a:ln/>
        </p:spPr>
        <p:txBody>
          <a:bodyPr wrap="square" lIns="0" tIns="0" rIns="0" bIns="0" rtlCol="0" anchor="ctr"/>
          <a:lstStyle/>
          <a:p>
            <a:pPr indent="0" marL="0">
              <a:buNone/>
            </a:pPr>
            <a:r>
              <a:rPr lang="en-US" sz="1900" b="1" spc="80" kern="0" dirty="0">
                <a:solidFill>
                  <a:srgbClr val="B07A1E"/>
                </a:solidFill>
                <a:latin typeface="Arial" pitchFamily="34" charset="0"/>
                <a:ea typeface="Arial" pitchFamily="34" charset="-122"/>
                <a:cs typeface="Arial" pitchFamily="34" charset="-120"/>
              </a:rPr>
              <a:t>POWER USED ON SITE</a:t>
            </a:r>
            <a:endParaRPr lang="en-US" sz="1900" dirty="0"/>
          </a:p>
        </p:txBody>
      </p:sp>
      <p:sp>
        <p:nvSpPr>
          <p:cNvPr id="8" name="Text 6"/>
          <p:cNvSpPr/>
          <p:nvPr/>
        </p:nvSpPr>
        <p:spPr>
          <a:xfrm>
            <a:off x="4567428" y="2011680"/>
            <a:ext cx="3054096" cy="2194560"/>
          </a:xfrm>
          <a:prstGeom prst="rect">
            <a:avLst/>
          </a:prstGeom>
          <a:noFill/>
          <a:ln/>
        </p:spPr>
        <p:txBody>
          <a:bodyPr wrap="square" lIns="0" tIns="0" rIns="0" bIns="0" rtlCol="0" anchor="ctr"/>
          <a:lstStyle/>
          <a:p>
            <a:pPr indent="0" marL="0">
              <a:lnSpc>
                <a:spcPts val="2000"/>
              </a:lnSpc>
              <a:buNone/>
            </a:pPr>
            <a:r>
              <a:rPr lang="en-US" sz="1550" dirty="0">
                <a:solidFill>
                  <a:srgbClr val="1F2A3D"/>
                </a:solidFill>
                <a:latin typeface="Arial" pitchFamily="34" charset="0"/>
                <a:ea typeface="Arial" pitchFamily="34" charset="-122"/>
                <a:cs typeface="Arial" pitchFamily="34" charset="-120"/>
              </a:rPr>
              <a:t>Energy is consumed where it is produced: no poles, no lines, no connections to build first. The slowest, costliest part of electrification leaves the critical path.</a:t>
            </a:r>
            <a:endParaRPr lang="en-US" sz="1550" dirty="0"/>
          </a:p>
        </p:txBody>
      </p:sp>
      <p:sp>
        <p:nvSpPr>
          <p:cNvPr id="9" name="Shape 7"/>
          <p:cNvSpPr/>
          <p:nvPr/>
        </p:nvSpPr>
        <p:spPr>
          <a:xfrm>
            <a:off x="8019288" y="1298448"/>
            <a:ext cx="3602736" cy="3054096"/>
          </a:xfrm>
          <a:prstGeom prst="roundRect">
            <a:avLst>
              <a:gd name="adj" fmla="val 1796"/>
            </a:avLst>
          </a:prstGeom>
          <a:solidFill>
            <a:srgbClr val="EEF4FA"/>
          </a:solidFill>
          <a:ln/>
        </p:spPr>
      </p:sp>
      <p:sp>
        <p:nvSpPr>
          <p:cNvPr id="10" name="Text 8"/>
          <p:cNvSpPr/>
          <p:nvPr/>
        </p:nvSpPr>
        <p:spPr>
          <a:xfrm>
            <a:off x="8293608" y="1517904"/>
            <a:ext cx="3054096" cy="420624"/>
          </a:xfrm>
          <a:prstGeom prst="rect">
            <a:avLst/>
          </a:prstGeom>
          <a:noFill/>
          <a:ln/>
        </p:spPr>
        <p:txBody>
          <a:bodyPr wrap="square" lIns="0" tIns="0" rIns="0" bIns="0" rtlCol="0" anchor="ctr"/>
          <a:lstStyle/>
          <a:p>
            <a:pPr indent="0" marL="0">
              <a:buNone/>
            </a:pPr>
            <a:r>
              <a:rPr lang="en-US" sz="1900" b="1" spc="80" kern="0" dirty="0">
                <a:solidFill>
                  <a:srgbClr val="13315C"/>
                </a:solidFill>
                <a:latin typeface="Arial" pitchFamily="34" charset="0"/>
                <a:ea typeface="Arial" pitchFamily="34" charset="-122"/>
                <a:cs typeface="Arial" pitchFamily="34" charset="-120"/>
              </a:rPr>
              <a:t>ONE MANAGEMENT</a:t>
            </a:r>
            <a:endParaRPr lang="en-US" sz="1900" dirty="0"/>
          </a:p>
        </p:txBody>
      </p:sp>
      <p:sp>
        <p:nvSpPr>
          <p:cNvPr id="11" name="Text 9"/>
          <p:cNvSpPr/>
          <p:nvPr/>
        </p:nvSpPr>
        <p:spPr>
          <a:xfrm>
            <a:off x="8293608" y="2011680"/>
            <a:ext cx="3054096" cy="2194560"/>
          </a:xfrm>
          <a:prstGeom prst="rect">
            <a:avLst/>
          </a:prstGeom>
          <a:noFill/>
          <a:ln/>
        </p:spPr>
        <p:txBody>
          <a:bodyPr wrap="square" lIns="0" tIns="0" rIns="0" bIns="0" rtlCol="0" anchor="ctr"/>
          <a:lstStyle/>
          <a:p>
            <a:pPr indent="0" marL="0">
              <a:lnSpc>
                <a:spcPts val="2000"/>
              </a:lnSpc>
              <a:buNone/>
            </a:pPr>
            <a:r>
              <a:rPr lang="en-US" sz="1550" dirty="0">
                <a:solidFill>
                  <a:srgbClr val="1F2A3D"/>
                </a:solidFill>
                <a:latin typeface="Arial" pitchFamily="34" charset="0"/>
                <a:ea typeface="Arial" pitchFamily="34" charset="-122"/>
                <a:cs typeface="Arial" pitchFamily="34" charset="-120"/>
              </a:rPr>
              <a:t>One team, one logistics chain, one administration carry every service — and long-term operations become financeable.</a:t>
            </a:r>
            <a:endParaRPr lang="en-US" sz="1550" dirty="0"/>
          </a:p>
        </p:txBody>
      </p:sp>
      <p:sp>
        <p:nvSpPr>
          <p:cNvPr id="12" name="Shape 10"/>
          <p:cNvSpPr/>
          <p:nvPr/>
        </p:nvSpPr>
        <p:spPr>
          <a:xfrm>
            <a:off x="566928" y="4517136"/>
            <a:ext cx="11055096" cy="1463040"/>
          </a:xfrm>
          <a:prstGeom prst="roundRect">
            <a:avLst>
              <a:gd name="adj" fmla="val 3750"/>
            </a:avLst>
          </a:prstGeom>
          <a:solidFill>
            <a:srgbClr val="13315C"/>
          </a:solidFill>
          <a:ln/>
        </p:spPr>
      </p:sp>
      <p:sp>
        <p:nvSpPr>
          <p:cNvPr id="13" name="Text 11"/>
          <p:cNvSpPr/>
          <p:nvPr/>
        </p:nvSpPr>
        <p:spPr>
          <a:xfrm>
            <a:off x="960120" y="4517136"/>
            <a:ext cx="10287000" cy="1463040"/>
          </a:xfrm>
          <a:prstGeom prst="rect">
            <a:avLst/>
          </a:prstGeom>
          <a:noFill/>
          <a:ln/>
        </p:spPr>
        <p:txBody>
          <a:bodyPr wrap="square" lIns="0" tIns="0" rIns="0" bIns="0" rtlCol="0" anchor="ctr"/>
          <a:lstStyle/>
          <a:p>
            <a:pPr indent="0" marL="0">
              <a:lnSpc>
                <a:spcPts val="2300"/>
              </a:lnSpc>
              <a:buNone/>
            </a:pPr>
            <a:r>
              <a:rPr lang="en-US" sz="1750" dirty="0">
                <a:solidFill>
                  <a:srgbClr val="FFFFFF"/>
                </a:solidFill>
                <a:latin typeface="Arial" pitchFamily="34" charset="0"/>
                <a:ea typeface="Arial" pitchFamily="34" charset="-122"/>
                <a:cs typeface="Arial" pitchFamily="34" charset="-120"/>
              </a:rPr>
              <a:t>Reduced cost per site, rapid construction, durable operations: a model designed from the outset to be replicated — the difference between a pilot and a program.</a:t>
            </a:r>
            <a:endParaRPr lang="en-US" sz="1750" dirty="0"/>
          </a:p>
        </p:txBody>
      </p:sp>
      <p:sp>
        <p:nvSpPr>
          <p:cNvPr id="14" name="Shape 12"/>
          <p:cNvSpPr/>
          <p:nvPr/>
        </p:nvSpPr>
        <p:spPr>
          <a:xfrm>
            <a:off x="566928" y="6510528"/>
            <a:ext cx="11055096" cy="0"/>
          </a:xfrm>
          <a:prstGeom prst="line">
            <a:avLst/>
          </a:prstGeom>
          <a:noFill/>
          <a:ln w="9525">
            <a:solidFill>
              <a:srgbClr val="C5CFDB"/>
            </a:solidFill>
            <a:prstDash val="solid"/>
          </a:ln>
        </p:spPr>
      </p:sp>
      <p:sp>
        <p:nvSpPr>
          <p:cNvPr id="15" name="Text 13"/>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16" name="Text 14"/>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4 / 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Wheel and spokes — the backbone at two scales</a:t>
            </a:r>
            <a:endParaRPr lang="en-US" sz="2800" dirty="0"/>
          </a:p>
        </p:txBody>
      </p:sp>
      <p:sp>
        <p:nvSpPr>
          <p:cNvPr id="3" name="Shape 1"/>
          <p:cNvSpPr/>
          <p:nvPr/>
        </p:nvSpPr>
        <p:spPr>
          <a:xfrm flipH="1">
            <a:off x="3154680" y="1728216"/>
            <a:ext cx="0" cy="868680"/>
          </a:xfrm>
          <a:prstGeom prst="line">
            <a:avLst/>
          </a:prstGeom>
          <a:noFill/>
          <a:ln w="15875">
            <a:solidFill>
              <a:srgbClr val="8FA6C2"/>
            </a:solidFill>
            <a:prstDash val="solid"/>
          </a:ln>
        </p:spPr>
      </p:sp>
      <p:sp>
        <p:nvSpPr>
          <p:cNvPr id="4" name="Shape 2"/>
          <p:cNvSpPr/>
          <p:nvPr/>
        </p:nvSpPr>
        <p:spPr>
          <a:xfrm>
            <a:off x="2889504" y="1463040"/>
            <a:ext cx="530352" cy="530352"/>
          </a:xfrm>
          <a:prstGeom prst="ellipse">
            <a:avLst/>
          </a:prstGeom>
          <a:solidFill>
            <a:srgbClr val="1D4370"/>
          </a:solidFill>
          <a:ln/>
        </p:spPr>
      </p:sp>
      <p:pic>
        <p:nvPicPr>
          <p:cNvPr id="5" name="Image 0" descr="assets/hub_white.png">    </p:cNvPr>
          <p:cNvPicPr>
            <a:picLocks noChangeAspect="1"/>
          </p:cNvPicPr>
          <p:nvPr/>
        </p:nvPicPr>
        <p:blipFill>
          <a:blip r:embed="rId1"/>
          <a:stretch>
            <a:fillRect/>
          </a:stretch>
        </p:blipFill>
        <p:spPr>
          <a:xfrm>
            <a:off x="3008376" y="1581912"/>
            <a:ext cx="292608" cy="292608"/>
          </a:xfrm>
          <a:prstGeom prst="rect">
            <a:avLst/>
          </a:prstGeom>
        </p:spPr>
      </p:pic>
      <p:sp>
        <p:nvSpPr>
          <p:cNvPr id="6" name="Shape 3"/>
          <p:cNvSpPr/>
          <p:nvPr/>
        </p:nvSpPr>
        <p:spPr>
          <a:xfrm>
            <a:off x="2402381" y="2162556"/>
            <a:ext cx="752299" cy="434340"/>
          </a:xfrm>
          <a:prstGeom prst="line">
            <a:avLst/>
          </a:prstGeom>
          <a:noFill/>
          <a:ln w="15875">
            <a:solidFill>
              <a:srgbClr val="8FA6C2"/>
            </a:solidFill>
            <a:prstDash val="solid"/>
          </a:ln>
        </p:spPr>
      </p:sp>
      <p:sp>
        <p:nvSpPr>
          <p:cNvPr id="7" name="Shape 4"/>
          <p:cNvSpPr/>
          <p:nvPr/>
        </p:nvSpPr>
        <p:spPr>
          <a:xfrm>
            <a:off x="2137205" y="1897380"/>
            <a:ext cx="530352" cy="530352"/>
          </a:xfrm>
          <a:prstGeom prst="ellipse">
            <a:avLst/>
          </a:prstGeom>
          <a:solidFill>
            <a:srgbClr val="1D4370"/>
          </a:solidFill>
          <a:ln/>
        </p:spPr>
      </p:sp>
      <p:pic>
        <p:nvPicPr>
          <p:cNvPr id="8" name="Image 1" descr="assets/hub_white.png">    </p:cNvPr>
          <p:cNvPicPr>
            <a:picLocks noChangeAspect="1"/>
          </p:cNvPicPr>
          <p:nvPr/>
        </p:nvPicPr>
        <p:blipFill>
          <a:blip r:embed="rId2"/>
          <a:stretch>
            <a:fillRect/>
          </a:stretch>
        </p:blipFill>
        <p:spPr>
          <a:xfrm>
            <a:off x="2256077" y="2016252"/>
            <a:ext cx="292608" cy="292608"/>
          </a:xfrm>
          <a:prstGeom prst="rect">
            <a:avLst/>
          </a:prstGeom>
        </p:spPr>
      </p:pic>
      <p:sp>
        <p:nvSpPr>
          <p:cNvPr id="9" name="Shape 5"/>
          <p:cNvSpPr/>
          <p:nvPr/>
        </p:nvSpPr>
        <p:spPr>
          <a:xfrm flipH="1">
            <a:off x="2402381" y="2596896"/>
            <a:ext cx="752299" cy="434340"/>
          </a:xfrm>
          <a:prstGeom prst="line">
            <a:avLst/>
          </a:prstGeom>
          <a:noFill/>
          <a:ln w="15875">
            <a:solidFill>
              <a:srgbClr val="8FA6C2"/>
            </a:solidFill>
            <a:prstDash val="solid"/>
          </a:ln>
        </p:spPr>
      </p:sp>
      <p:sp>
        <p:nvSpPr>
          <p:cNvPr id="10" name="Shape 6"/>
          <p:cNvSpPr/>
          <p:nvPr/>
        </p:nvSpPr>
        <p:spPr>
          <a:xfrm>
            <a:off x="2137205" y="2766060"/>
            <a:ext cx="530352" cy="530352"/>
          </a:xfrm>
          <a:prstGeom prst="ellipse">
            <a:avLst/>
          </a:prstGeom>
          <a:solidFill>
            <a:srgbClr val="1D4370"/>
          </a:solidFill>
          <a:ln/>
        </p:spPr>
      </p:sp>
      <p:pic>
        <p:nvPicPr>
          <p:cNvPr id="11" name="Image 2" descr="assets/hub_white.png">    </p:cNvPr>
          <p:cNvPicPr>
            <a:picLocks noChangeAspect="1"/>
          </p:cNvPicPr>
          <p:nvPr/>
        </p:nvPicPr>
        <p:blipFill>
          <a:blip r:embed="rId3"/>
          <a:stretch>
            <a:fillRect/>
          </a:stretch>
        </p:blipFill>
        <p:spPr>
          <a:xfrm>
            <a:off x="2256077" y="2884932"/>
            <a:ext cx="292608" cy="292608"/>
          </a:xfrm>
          <a:prstGeom prst="rect">
            <a:avLst/>
          </a:prstGeom>
        </p:spPr>
      </p:pic>
      <p:sp>
        <p:nvSpPr>
          <p:cNvPr id="12" name="Shape 7"/>
          <p:cNvSpPr/>
          <p:nvPr/>
        </p:nvSpPr>
        <p:spPr>
          <a:xfrm>
            <a:off x="3154680" y="2596896"/>
            <a:ext cx="0" cy="868680"/>
          </a:xfrm>
          <a:prstGeom prst="line">
            <a:avLst/>
          </a:prstGeom>
          <a:noFill/>
          <a:ln w="15875">
            <a:solidFill>
              <a:srgbClr val="8FA6C2"/>
            </a:solidFill>
            <a:prstDash val="solid"/>
          </a:ln>
        </p:spPr>
      </p:sp>
      <p:sp>
        <p:nvSpPr>
          <p:cNvPr id="13" name="Shape 8"/>
          <p:cNvSpPr/>
          <p:nvPr/>
        </p:nvSpPr>
        <p:spPr>
          <a:xfrm>
            <a:off x="2889504" y="3200400"/>
            <a:ext cx="530352" cy="530352"/>
          </a:xfrm>
          <a:prstGeom prst="ellipse">
            <a:avLst/>
          </a:prstGeom>
          <a:solidFill>
            <a:srgbClr val="1D4370"/>
          </a:solidFill>
          <a:ln/>
        </p:spPr>
      </p:sp>
      <p:pic>
        <p:nvPicPr>
          <p:cNvPr id="14" name="Image 3" descr="assets/hub_white.png">    </p:cNvPr>
          <p:cNvPicPr>
            <a:picLocks noChangeAspect="1"/>
          </p:cNvPicPr>
          <p:nvPr/>
        </p:nvPicPr>
        <p:blipFill>
          <a:blip r:embed="rId4"/>
          <a:stretch>
            <a:fillRect/>
          </a:stretch>
        </p:blipFill>
        <p:spPr>
          <a:xfrm>
            <a:off x="3008376" y="3319272"/>
            <a:ext cx="292608" cy="292608"/>
          </a:xfrm>
          <a:prstGeom prst="rect">
            <a:avLst/>
          </a:prstGeom>
        </p:spPr>
      </p:pic>
      <p:sp>
        <p:nvSpPr>
          <p:cNvPr id="15" name="Shape 9"/>
          <p:cNvSpPr/>
          <p:nvPr/>
        </p:nvSpPr>
        <p:spPr>
          <a:xfrm>
            <a:off x="3154680" y="2596896"/>
            <a:ext cx="752299" cy="434340"/>
          </a:xfrm>
          <a:prstGeom prst="line">
            <a:avLst/>
          </a:prstGeom>
          <a:noFill/>
          <a:ln w="15875">
            <a:solidFill>
              <a:srgbClr val="8FA6C2"/>
            </a:solidFill>
            <a:prstDash val="solid"/>
          </a:ln>
        </p:spPr>
      </p:sp>
      <p:sp>
        <p:nvSpPr>
          <p:cNvPr id="16" name="Shape 10"/>
          <p:cNvSpPr/>
          <p:nvPr/>
        </p:nvSpPr>
        <p:spPr>
          <a:xfrm>
            <a:off x="3641803" y="2766060"/>
            <a:ext cx="530352" cy="530352"/>
          </a:xfrm>
          <a:prstGeom prst="ellipse">
            <a:avLst/>
          </a:prstGeom>
          <a:solidFill>
            <a:srgbClr val="1D4370"/>
          </a:solidFill>
          <a:ln/>
        </p:spPr>
      </p:sp>
      <p:pic>
        <p:nvPicPr>
          <p:cNvPr id="17" name="Image 4" descr="assets/hub_white.png">    </p:cNvPr>
          <p:cNvPicPr>
            <a:picLocks noChangeAspect="1"/>
          </p:cNvPicPr>
          <p:nvPr/>
        </p:nvPicPr>
        <p:blipFill>
          <a:blip r:embed="rId5"/>
          <a:stretch>
            <a:fillRect/>
          </a:stretch>
        </p:blipFill>
        <p:spPr>
          <a:xfrm>
            <a:off x="3760675" y="2884932"/>
            <a:ext cx="292608" cy="292608"/>
          </a:xfrm>
          <a:prstGeom prst="rect">
            <a:avLst/>
          </a:prstGeom>
        </p:spPr>
      </p:pic>
      <p:sp>
        <p:nvSpPr>
          <p:cNvPr id="18" name="Shape 11"/>
          <p:cNvSpPr/>
          <p:nvPr/>
        </p:nvSpPr>
        <p:spPr>
          <a:xfrm flipH="1">
            <a:off x="3154680" y="2162556"/>
            <a:ext cx="752299" cy="434340"/>
          </a:xfrm>
          <a:prstGeom prst="line">
            <a:avLst/>
          </a:prstGeom>
          <a:noFill/>
          <a:ln w="15875">
            <a:solidFill>
              <a:srgbClr val="8FA6C2"/>
            </a:solidFill>
            <a:prstDash val="solid"/>
          </a:ln>
        </p:spPr>
      </p:sp>
      <p:sp>
        <p:nvSpPr>
          <p:cNvPr id="19" name="Shape 12"/>
          <p:cNvSpPr/>
          <p:nvPr/>
        </p:nvSpPr>
        <p:spPr>
          <a:xfrm>
            <a:off x="3641803" y="1897380"/>
            <a:ext cx="530352" cy="530352"/>
          </a:xfrm>
          <a:prstGeom prst="ellipse">
            <a:avLst/>
          </a:prstGeom>
          <a:solidFill>
            <a:srgbClr val="1D4370"/>
          </a:solidFill>
          <a:ln/>
        </p:spPr>
      </p:sp>
      <p:pic>
        <p:nvPicPr>
          <p:cNvPr id="20" name="Image 5" descr="assets/hub_white.png">    </p:cNvPr>
          <p:cNvPicPr>
            <a:picLocks noChangeAspect="1"/>
          </p:cNvPicPr>
          <p:nvPr/>
        </p:nvPicPr>
        <p:blipFill>
          <a:blip r:embed="rId6"/>
          <a:stretch>
            <a:fillRect/>
          </a:stretch>
        </p:blipFill>
        <p:spPr>
          <a:xfrm>
            <a:off x="3760675" y="2016252"/>
            <a:ext cx="292608" cy="292608"/>
          </a:xfrm>
          <a:prstGeom prst="rect">
            <a:avLst/>
          </a:prstGeom>
        </p:spPr>
      </p:pic>
      <p:sp>
        <p:nvSpPr>
          <p:cNvPr id="21" name="Shape 13"/>
          <p:cNvSpPr/>
          <p:nvPr/>
        </p:nvSpPr>
        <p:spPr>
          <a:xfrm>
            <a:off x="2651760" y="2093976"/>
            <a:ext cx="1005840" cy="1005840"/>
          </a:xfrm>
          <a:prstGeom prst="ellipse">
            <a:avLst/>
          </a:prstGeom>
          <a:solidFill>
            <a:srgbClr val="13315C"/>
          </a:solidFill>
          <a:ln/>
        </p:spPr>
      </p:sp>
      <p:sp>
        <p:nvSpPr>
          <p:cNvPr id="22" name="Text 14"/>
          <p:cNvSpPr/>
          <p:nvPr/>
        </p:nvSpPr>
        <p:spPr>
          <a:xfrm>
            <a:off x="2651760" y="2093976"/>
            <a:ext cx="1005840" cy="1005840"/>
          </a:xfrm>
          <a:prstGeom prst="rect">
            <a:avLst/>
          </a:prstGeom>
          <a:noFill/>
          <a:ln/>
        </p:spPr>
        <p:txBody>
          <a:bodyPr wrap="square" lIns="0" tIns="0" rIns="0" bIns="0" rtlCol="0" anchor="ctr"/>
          <a:lstStyle/>
          <a:p>
            <a:pPr algn="ctr" indent="0" marL="0">
              <a:lnSpc>
                <a:spcPts val="1350"/>
              </a:lnSpc>
              <a:buNone/>
            </a:pPr>
            <a:r>
              <a:rPr lang="en-US" sz="1200" b="1" dirty="0">
                <a:solidFill>
                  <a:srgbClr val="FFFFFF"/>
                </a:solidFill>
                <a:latin typeface="Arial" pitchFamily="34" charset="0"/>
                <a:ea typeface="Arial" pitchFamily="34" charset="-122"/>
                <a:cs typeface="Arial" pitchFamily="34" charset="-120"/>
              </a:rPr>
              <a:t>COUNTRY</a:t>
            </a:r>
            <a:endParaRPr lang="en-US" sz="1200" dirty="0"/>
          </a:p>
          <a:p>
            <a:pPr algn="ctr" indent="0" marL="0">
              <a:lnSpc>
                <a:spcPts val="1350"/>
              </a:lnSpc>
              <a:buNone/>
            </a:pPr>
            <a:r>
              <a:rPr lang="en-US" sz="1200" b="1" dirty="0">
                <a:solidFill>
                  <a:srgbClr val="FFFFFF"/>
                </a:solidFill>
                <a:latin typeface="Arial" pitchFamily="34" charset="0"/>
                <a:ea typeface="Arial" pitchFamily="34" charset="-122"/>
                <a:cs typeface="Arial" pitchFamily="34" charset="-120"/>
              </a:rPr>
              <a:t>HQ</a:t>
            </a:r>
            <a:endParaRPr lang="en-US" sz="1200" dirty="0"/>
          </a:p>
        </p:txBody>
      </p:sp>
      <p:sp>
        <p:nvSpPr>
          <p:cNvPr id="23" name="Shape 15"/>
          <p:cNvSpPr/>
          <p:nvPr/>
        </p:nvSpPr>
        <p:spPr>
          <a:xfrm>
            <a:off x="3904488" y="2167128"/>
            <a:ext cx="4617720" cy="429768"/>
          </a:xfrm>
          <a:prstGeom prst="line">
            <a:avLst/>
          </a:prstGeom>
          <a:noFill/>
          <a:ln w="19050">
            <a:solidFill>
              <a:srgbClr val="B07A1E"/>
            </a:solidFill>
            <a:prstDash val="dash"/>
          </a:ln>
        </p:spPr>
      </p:sp>
      <p:sp>
        <p:nvSpPr>
          <p:cNvPr id="24" name="Shape 16"/>
          <p:cNvSpPr/>
          <p:nvPr/>
        </p:nvSpPr>
        <p:spPr>
          <a:xfrm flipH="1">
            <a:off x="9006840" y="1728216"/>
            <a:ext cx="0" cy="868680"/>
          </a:xfrm>
          <a:prstGeom prst="line">
            <a:avLst/>
          </a:prstGeom>
          <a:noFill/>
          <a:ln w="15875">
            <a:solidFill>
              <a:srgbClr val="8FA6C2"/>
            </a:solidFill>
            <a:prstDash val="solid"/>
          </a:ln>
        </p:spPr>
      </p:sp>
      <p:sp>
        <p:nvSpPr>
          <p:cNvPr id="25" name="Shape 17"/>
          <p:cNvSpPr/>
          <p:nvPr/>
        </p:nvSpPr>
        <p:spPr>
          <a:xfrm>
            <a:off x="8741664" y="1463040"/>
            <a:ext cx="530352" cy="530352"/>
          </a:xfrm>
          <a:prstGeom prst="ellipse">
            <a:avLst/>
          </a:prstGeom>
          <a:solidFill>
            <a:srgbClr val="1D4370"/>
          </a:solidFill>
          <a:ln/>
        </p:spPr>
      </p:sp>
      <p:pic>
        <p:nvPicPr>
          <p:cNvPr id="26" name="Image 6" descr="assets/health_white.png">    </p:cNvPr>
          <p:cNvPicPr>
            <a:picLocks noChangeAspect="1"/>
          </p:cNvPicPr>
          <p:nvPr/>
        </p:nvPicPr>
        <p:blipFill>
          <a:blip r:embed="rId7"/>
          <a:stretch>
            <a:fillRect/>
          </a:stretch>
        </p:blipFill>
        <p:spPr>
          <a:xfrm>
            <a:off x="8860536" y="1581912"/>
            <a:ext cx="292608" cy="292608"/>
          </a:xfrm>
          <a:prstGeom prst="rect">
            <a:avLst/>
          </a:prstGeom>
        </p:spPr>
      </p:pic>
      <p:sp>
        <p:nvSpPr>
          <p:cNvPr id="27" name="Shape 18"/>
          <p:cNvSpPr/>
          <p:nvPr/>
        </p:nvSpPr>
        <p:spPr>
          <a:xfrm>
            <a:off x="8254541" y="2162556"/>
            <a:ext cx="752299" cy="434340"/>
          </a:xfrm>
          <a:prstGeom prst="line">
            <a:avLst/>
          </a:prstGeom>
          <a:noFill/>
          <a:ln w="15875">
            <a:solidFill>
              <a:srgbClr val="8FA6C2"/>
            </a:solidFill>
            <a:prstDash val="solid"/>
          </a:ln>
        </p:spPr>
      </p:sp>
      <p:sp>
        <p:nvSpPr>
          <p:cNvPr id="28" name="Shape 19"/>
          <p:cNvSpPr/>
          <p:nvPr/>
        </p:nvSpPr>
        <p:spPr>
          <a:xfrm>
            <a:off x="7989365" y="1897380"/>
            <a:ext cx="530352" cy="530352"/>
          </a:xfrm>
          <a:prstGeom prst="ellipse">
            <a:avLst/>
          </a:prstGeom>
          <a:solidFill>
            <a:srgbClr val="1D4370"/>
          </a:solidFill>
          <a:ln/>
        </p:spPr>
      </p:sp>
      <p:pic>
        <p:nvPicPr>
          <p:cNvPr id="29" name="Image 7" descr="assets/wheat_white.png">    </p:cNvPr>
          <p:cNvPicPr>
            <a:picLocks noChangeAspect="1"/>
          </p:cNvPicPr>
          <p:nvPr/>
        </p:nvPicPr>
        <p:blipFill>
          <a:blip r:embed="rId8"/>
          <a:stretch>
            <a:fillRect/>
          </a:stretch>
        </p:blipFill>
        <p:spPr>
          <a:xfrm>
            <a:off x="8108237" y="2016252"/>
            <a:ext cx="292608" cy="292608"/>
          </a:xfrm>
          <a:prstGeom prst="rect">
            <a:avLst/>
          </a:prstGeom>
        </p:spPr>
      </p:pic>
      <p:sp>
        <p:nvSpPr>
          <p:cNvPr id="30" name="Shape 20"/>
          <p:cNvSpPr/>
          <p:nvPr/>
        </p:nvSpPr>
        <p:spPr>
          <a:xfrm flipH="1">
            <a:off x="8254541" y="2596896"/>
            <a:ext cx="752299" cy="434340"/>
          </a:xfrm>
          <a:prstGeom prst="line">
            <a:avLst/>
          </a:prstGeom>
          <a:noFill/>
          <a:ln w="15875">
            <a:solidFill>
              <a:srgbClr val="8FA6C2"/>
            </a:solidFill>
            <a:prstDash val="solid"/>
          </a:ln>
        </p:spPr>
      </p:sp>
      <p:sp>
        <p:nvSpPr>
          <p:cNvPr id="31" name="Shape 21"/>
          <p:cNvSpPr/>
          <p:nvPr/>
        </p:nvSpPr>
        <p:spPr>
          <a:xfrm>
            <a:off x="7989365" y="2766060"/>
            <a:ext cx="530352" cy="530352"/>
          </a:xfrm>
          <a:prstGeom prst="ellipse">
            <a:avLst/>
          </a:prstGeom>
          <a:solidFill>
            <a:srgbClr val="1D4370"/>
          </a:solidFill>
          <a:ln/>
        </p:spPr>
      </p:sp>
      <p:pic>
        <p:nvPicPr>
          <p:cNvPr id="32" name="Image 8" descr="assets/moto_white.png">    </p:cNvPr>
          <p:cNvPicPr>
            <a:picLocks noChangeAspect="1"/>
          </p:cNvPicPr>
          <p:nvPr/>
        </p:nvPicPr>
        <p:blipFill>
          <a:blip r:embed="rId9"/>
          <a:stretch>
            <a:fillRect/>
          </a:stretch>
        </p:blipFill>
        <p:spPr>
          <a:xfrm>
            <a:off x="8108237" y="2884932"/>
            <a:ext cx="292608" cy="292608"/>
          </a:xfrm>
          <a:prstGeom prst="rect">
            <a:avLst/>
          </a:prstGeom>
        </p:spPr>
      </p:pic>
      <p:sp>
        <p:nvSpPr>
          <p:cNvPr id="33" name="Shape 22"/>
          <p:cNvSpPr/>
          <p:nvPr/>
        </p:nvSpPr>
        <p:spPr>
          <a:xfrm>
            <a:off x="9006840" y="2596896"/>
            <a:ext cx="0" cy="868680"/>
          </a:xfrm>
          <a:prstGeom prst="line">
            <a:avLst/>
          </a:prstGeom>
          <a:noFill/>
          <a:ln w="15875">
            <a:solidFill>
              <a:srgbClr val="8FA6C2"/>
            </a:solidFill>
            <a:prstDash val="solid"/>
          </a:ln>
        </p:spPr>
      </p:sp>
      <p:sp>
        <p:nvSpPr>
          <p:cNvPr id="34" name="Shape 23"/>
          <p:cNvSpPr/>
          <p:nvPr/>
        </p:nvSpPr>
        <p:spPr>
          <a:xfrm>
            <a:off x="8741664" y="3200400"/>
            <a:ext cx="530352" cy="530352"/>
          </a:xfrm>
          <a:prstGeom prst="ellipse">
            <a:avLst/>
          </a:prstGeom>
          <a:solidFill>
            <a:srgbClr val="1D4370"/>
          </a:solidFill>
          <a:ln/>
        </p:spPr>
      </p:sp>
      <p:pic>
        <p:nvPicPr>
          <p:cNvPr id="35" name="Image 9" descr="assets/faucet_white.png">    </p:cNvPr>
          <p:cNvPicPr>
            <a:picLocks noChangeAspect="1"/>
          </p:cNvPicPr>
          <p:nvPr/>
        </p:nvPicPr>
        <p:blipFill>
          <a:blip r:embed="rId10"/>
          <a:stretch>
            <a:fillRect/>
          </a:stretch>
        </p:blipFill>
        <p:spPr>
          <a:xfrm>
            <a:off x="8860536" y="3319272"/>
            <a:ext cx="292608" cy="292608"/>
          </a:xfrm>
          <a:prstGeom prst="rect">
            <a:avLst/>
          </a:prstGeom>
        </p:spPr>
      </p:pic>
      <p:sp>
        <p:nvSpPr>
          <p:cNvPr id="36" name="Shape 24"/>
          <p:cNvSpPr/>
          <p:nvPr/>
        </p:nvSpPr>
        <p:spPr>
          <a:xfrm>
            <a:off x="9006840" y="2596896"/>
            <a:ext cx="752299" cy="434340"/>
          </a:xfrm>
          <a:prstGeom prst="line">
            <a:avLst/>
          </a:prstGeom>
          <a:noFill/>
          <a:ln w="15875">
            <a:solidFill>
              <a:srgbClr val="8FA6C2"/>
            </a:solidFill>
            <a:prstDash val="solid"/>
          </a:ln>
        </p:spPr>
      </p:sp>
      <p:sp>
        <p:nvSpPr>
          <p:cNvPr id="37" name="Shape 25"/>
          <p:cNvSpPr/>
          <p:nvPr/>
        </p:nvSpPr>
        <p:spPr>
          <a:xfrm>
            <a:off x="9493963" y="2766060"/>
            <a:ext cx="530352" cy="530352"/>
          </a:xfrm>
          <a:prstGeom prst="ellipse">
            <a:avLst/>
          </a:prstGeom>
          <a:solidFill>
            <a:srgbClr val="1D4370"/>
          </a:solidFill>
          <a:ln/>
        </p:spPr>
      </p:sp>
      <p:pic>
        <p:nvPicPr>
          <p:cNvPr id="38" name="Image 10" descr="assets/grad_white.png">    </p:cNvPr>
          <p:cNvPicPr>
            <a:picLocks noChangeAspect="1"/>
          </p:cNvPicPr>
          <p:nvPr/>
        </p:nvPicPr>
        <p:blipFill>
          <a:blip r:embed="rId11"/>
          <a:stretch>
            <a:fillRect/>
          </a:stretch>
        </p:blipFill>
        <p:spPr>
          <a:xfrm>
            <a:off x="9612835" y="2884932"/>
            <a:ext cx="292608" cy="292608"/>
          </a:xfrm>
          <a:prstGeom prst="rect">
            <a:avLst/>
          </a:prstGeom>
        </p:spPr>
      </p:pic>
      <p:sp>
        <p:nvSpPr>
          <p:cNvPr id="39" name="Shape 26"/>
          <p:cNvSpPr/>
          <p:nvPr/>
        </p:nvSpPr>
        <p:spPr>
          <a:xfrm flipH="1">
            <a:off x="9006840" y="2162556"/>
            <a:ext cx="752299" cy="434340"/>
          </a:xfrm>
          <a:prstGeom prst="line">
            <a:avLst/>
          </a:prstGeom>
          <a:noFill/>
          <a:ln w="15875">
            <a:solidFill>
              <a:srgbClr val="8FA6C2"/>
            </a:solidFill>
            <a:prstDash val="solid"/>
          </a:ln>
        </p:spPr>
      </p:sp>
      <p:sp>
        <p:nvSpPr>
          <p:cNvPr id="40" name="Shape 27"/>
          <p:cNvSpPr/>
          <p:nvPr/>
        </p:nvSpPr>
        <p:spPr>
          <a:xfrm>
            <a:off x="9493963" y="1897380"/>
            <a:ext cx="530352" cy="530352"/>
          </a:xfrm>
          <a:prstGeom prst="ellipse">
            <a:avLst/>
          </a:prstGeom>
          <a:solidFill>
            <a:srgbClr val="1D4370"/>
          </a:solidFill>
          <a:ln/>
        </p:spPr>
      </p:sp>
      <p:pic>
        <p:nvPicPr>
          <p:cNvPr id="41" name="Image 11" descr="assets/store_white.png">    </p:cNvPr>
          <p:cNvPicPr>
            <a:picLocks noChangeAspect="1"/>
          </p:cNvPicPr>
          <p:nvPr/>
        </p:nvPicPr>
        <p:blipFill>
          <a:blip r:embed="rId12"/>
          <a:stretch>
            <a:fillRect/>
          </a:stretch>
        </p:blipFill>
        <p:spPr>
          <a:xfrm>
            <a:off x="9612835" y="2016252"/>
            <a:ext cx="292608" cy="292608"/>
          </a:xfrm>
          <a:prstGeom prst="rect">
            <a:avLst/>
          </a:prstGeom>
        </p:spPr>
      </p:pic>
      <p:sp>
        <p:nvSpPr>
          <p:cNvPr id="42" name="Shape 28"/>
          <p:cNvSpPr/>
          <p:nvPr/>
        </p:nvSpPr>
        <p:spPr>
          <a:xfrm>
            <a:off x="8503920" y="2093976"/>
            <a:ext cx="1005840" cy="1005840"/>
          </a:xfrm>
          <a:prstGeom prst="ellipse">
            <a:avLst/>
          </a:prstGeom>
          <a:solidFill>
            <a:srgbClr val="B07A1E"/>
          </a:solidFill>
          <a:ln/>
        </p:spPr>
      </p:sp>
      <p:pic>
        <p:nvPicPr>
          <p:cNvPr id="43" name="Image 12" descr="assets/hub_white.png">    </p:cNvPr>
          <p:cNvPicPr>
            <a:picLocks noChangeAspect="1"/>
          </p:cNvPicPr>
          <p:nvPr/>
        </p:nvPicPr>
        <p:blipFill>
          <a:blip r:embed="rId13"/>
          <a:stretch>
            <a:fillRect/>
          </a:stretch>
        </p:blipFill>
        <p:spPr>
          <a:xfrm>
            <a:off x="8741664" y="2331720"/>
            <a:ext cx="530352" cy="530352"/>
          </a:xfrm>
          <a:prstGeom prst="rect">
            <a:avLst/>
          </a:prstGeom>
        </p:spPr>
      </p:pic>
      <p:sp>
        <p:nvSpPr>
          <p:cNvPr id="44" name="Text 29"/>
          <p:cNvSpPr/>
          <p:nvPr/>
        </p:nvSpPr>
        <p:spPr>
          <a:xfrm>
            <a:off x="6382512" y="1993392"/>
            <a:ext cx="1426464" cy="329184"/>
          </a:xfrm>
          <a:prstGeom prst="rect">
            <a:avLst/>
          </a:prstGeom>
          <a:noFill/>
          <a:ln/>
        </p:spPr>
        <p:txBody>
          <a:bodyPr wrap="square" lIns="0" tIns="0" rIns="0" bIns="0" rtlCol="0" anchor="ctr"/>
          <a:lstStyle/>
          <a:p>
            <a:pPr algn="r" indent="0" marL="0">
              <a:lnSpc>
                <a:spcPts val="1150"/>
              </a:lnSpc>
              <a:buNone/>
            </a:pPr>
            <a:r>
              <a:rPr lang="en-US" sz="1000" b="1" dirty="0">
                <a:solidFill>
                  <a:srgbClr val="13315C"/>
                </a:solidFill>
                <a:latin typeface="Arial" pitchFamily="34" charset="0"/>
                <a:ea typeface="Arial" pitchFamily="34" charset="-122"/>
                <a:cs typeface="Arial" pitchFamily="34" charset="-120"/>
              </a:rPr>
              <a:t>farms &amp; cooperatives</a:t>
            </a:r>
            <a:endParaRPr lang="en-US" sz="1000" dirty="0"/>
          </a:p>
        </p:txBody>
      </p:sp>
      <p:sp>
        <p:nvSpPr>
          <p:cNvPr id="45" name="Text 30"/>
          <p:cNvSpPr/>
          <p:nvPr/>
        </p:nvSpPr>
        <p:spPr>
          <a:xfrm>
            <a:off x="6382512" y="2871216"/>
            <a:ext cx="1426464" cy="329184"/>
          </a:xfrm>
          <a:prstGeom prst="rect">
            <a:avLst/>
          </a:prstGeom>
          <a:noFill/>
          <a:ln/>
        </p:spPr>
        <p:txBody>
          <a:bodyPr wrap="square" lIns="0" tIns="0" rIns="0" bIns="0" rtlCol="0" anchor="ctr"/>
          <a:lstStyle/>
          <a:p>
            <a:pPr algn="r" indent="0" marL="0">
              <a:lnSpc>
                <a:spcPts val="1150"/>
              </a:lnSpc>
              <a:buNone/>
            </a:pPr>
            <a:r>
              <a:rPr lang="en-US" sz="1000" b="1" dirty="0">
                <a:solidFill>
                  <a:srgbClr val="13315C"/>
                </a:solidFill>
                <a:latin typeface="Arial" pitchFamily="34" charset="0"/>
                <a:ea typeface="Arial" pitchFamily="34" charset="-122"/>
                <a:cs typeface="Arial" pitchFamily="34" charset="-120"/>
              </a:rPr>
              <a:t>agents &amp; e-mobility</a:t>
            </a:r>
            <a:endParaRPr lang="en-US" sz="1000" dirty="0"/>
          </a:p>
        </p:txBody>
      </p:sp>
      <p:sp>
        <p:nvSpPr>
          <p:cNvPr id="46" name="Text 31"/>
          <p:cNvSpPr/>
          <p:nvPr/>
        </p:nvSpPr>
        <p:spPr>
          <a:xfrm>
            <a:off x="10113264" y="1993392"/>
            <a:ext cx="1426464" cy="329184"/>
          </a:xfrm>
          <a:prstGeom prst="rect">
            <a:avLst/>
          </a:prstGeom>
          <a:noFill/>
          <a:ln/>
        </p:spPr>
        <p:txBody>
          <a:bodyPr wrap="square" lIns="0" tIns="0" rIns="0" bIns="0" rtlCol="0" anchor="ctr"/>
          <a:lstStyle/>
          <a:p>
            <a:pPr indent="0" marL="0">
              <a:lnSpc>
                <a:spcPts val="1150"/>
              </a:lnSpc>
              <a:buNone/>
            </a:pPr>
            <a:r>
              <a:rPr lang="en-US" sz="1000" b="1" dirty="0">
                <a:solidFill>
                  <a:srgbClr val="13315C"/>
                </a:solidFill>
                <a:latin typeface="Arial" pitchFamily="34" charset="0"/>
                <a:ea typeface="Arial" pitchFamily="34" charset="-122"/>
                <a:cs typeface="Arial" pitchFamily="34" charset="-120"/>
              </a:rPr>
              <a:t>households &amp; markets</a:t>
            </a:r>
            <a:endParaRPr lang="en-US" sz="1000" dirty="0"/>
          </a:p>
        </p:txBody>
      </p:sp>
      <p:sp>
        <p:nvSpPr>
          <p:cNvPr id="47" name="Text 32"/>
          <p:cNvSpPr/>
          <p:nvPr/>
        </p:nvSpPr>
        <p:spPr>
          <a:xfrm>
            <a:off x="10113264" y="2871216"/>
            <a:ext cx="1426464" cy="329184"/>
          </a:xfrm>
          <a:prstGeom prst="rect">
            <a:avLst/>
          </a:prstGeom>
          <a:noFill/>
          <a:ln/>
        </p:spPr>
        <p:txBody>
          <a:bodyPr wrap="square" lIns="0" tIns="0" rIns="0" bIns="0" rtlCol="0" anchor="ctr"/>
          <a:lstStyle/>
          <a:p>
            <a:pPr indent="0" marL="0">
              <a:lnSpc>
                <a:spcPts val="1150"/>
              </a:lnSpc>
              <a:buNone/>
            </a:pPr>
            <a:r>
              <a:rPr lang="en-US" sz="1000" b="1" dirty="0">
                <a:solidFill>
                  <a:srgbClr val="13315C"/>
                </a:solidFill>
                <a:latin typeface="Arial" pitchFamily="34" charset="0"/>
                <a:ea typeface="Arial" pitchFamily="34" charset="-122"/>
                <a:cs typeface="Arial" pitchFamily="34" charset="-120"/>
              </a:rPr>
              <a:t>schools &amp; training</a:t>
            </a:r>
            <a:endParaRPr lang="en-US" sz="1000" dirty="0"/>
          </a:p>
        </p:txBody>
      </p:sp>
      <p:sp>
        <p:nvSpPr>
          <p:cNvPr id="48" name="Shape 33"/>
          <p:cNvSpPr/>
          <p:nvPr/>
        </p:nvSpPr>
        <p:spPr>
          <a:xfrm>
            <a:off x="566928" y="3986784"/>
            <a:ext cx="5358384" cy="1078992"/>
          </a:xfrm>
          <a:prstGeom prst="roundRect">
            <a:avLst>
              <a:gd name="adj" fmla="val 4237"/>
            </a:avLst>
          </a:prstGeom>
          <a:solidFill>
            <a:srgbClr val="EEF4FA"/>
          </a:solidFill>
          <a:ln/>
        </p:spPr>
      </p:sp>
      <p:sp>
        <p:nvSpPr>
          <p:cNvPr id="49" name="Text 34"/>
          <p:cNvSpPr/>
          <p:nvPr/>
        </p:nvSpPr>
        <p:spPr>
          <a:xfrm>
            <a:off x="822960" y="4096512"/>
            <a:ext cx="4864608" cy="877824"/>
          </a:xfrm>
          <a:prstGeom prst="rect">
            <a:avLst/>
          </a:prstGeom>
          <a:noFill/>
          <a:ln/>
        </p:spPr>
        <p:txBody>
          <a:bodyPr wrap="square" lIns="0" tIns="0" rIns="0" bIns="0" rtlCol="0" anchor="ctr"/>
          <a:lstStyle/>
          <a:p>
            <a:pPr indent="0" marL="0">
              <a:lnSpc>
                <a:spcPts val="1600"/>
              </a:lnSpc>
              <a:buNone/>
            </a:pPr>
            <a:r>
              <a:rPr lang="en-US" sz="1250" b="1" dirty="0">
                <a:solidFill>
                  <a:srgbClr val="13315C"/>
                </a:solidFill>
                <a:latin typeface="Arial" pitchFamily="34" charset="0"/>
                <a:ea typeface="Arial" pitchFamily="34" charset="-122"/>
                <a:cs typeface="Arial" pitchFamily="34" charset="-120"/>
              </a:rPr>
              <a:t>At country scale — the HQ carries the hubs: </a:t>
            </a:r>
            <a:pPr indent="0" marL="0">
              <a:lnSpc>
                <a:spcPts val="1600"/>
              </a:lnSpc>
              <a:buNone/>
            </a:pPr>
            <a:r>
              <a:rPr lang="en-US" sz="1250" dirty="0">
                <a:solidFill>
                  <a:srgbClr val="1F2A3D"/>
                </a:solidFill>
                <a:latin typeface="Arial" pitchFamily="34" charset="0"/>
                <a:ea typeface="Arial" pitchFamily="34" charset="-122"/>
                <a:cs typeface="Arial" pitchFamily="34" charset="-120"/>
              </a:rPr>
              <a:t>engineering &amp; remote supervision · warranties · importation &amp; customs · spare parts · legal, accounting &amp; administration · government interface.</a:t>
            </a:r>
            <a:endParaRPr lang="en-US" sz="1250" dirty="0"/>
          </a:p>
        </p:txBody>
      </p:sp>
      <p:sp>
        <p:nvSpPr>
          <p:cNvPr id="50" name="Shape 35"/>
          <p:cNvSpPr/>
          <p:nvPr/>
        </p:nvSpPr>
        <p:spPr>
          <a:xfrm>
            <a:off x="6263640" y="3986784"/>
            <a:ext cx="5358384" cy="1078992"/>
          </a:xfrm>
          <a:prstGeom prst="roundRect">
            <a:avLst>
              <a:gd name="adj" fmla="val 4237"/>
            </a:avLst>
          </a:prstGeom>
          <a:solidFill>
            <a:srgbClr val="F8F1E4"/>
          </a:solidFill>
          <a:ln/>
        </p:spPr>
      </p:sp>
      <p:sp>
        <p:nvSpPr>
          <p:cNvPr id="51" name="Text 36"/>
          <p:cNvSpPr/>
          <p:nvPr/>
        </p:nvSpPr>
        <p:spPr>
          <a:xfrm>
            <a:off x="6519672" y="4096512"/>
            <a:ext cx="4864608" cy="877824"/>
          </a:xfrm>
          <a:prstGeom prst="rect">
            <a:avLst/>
          </a:prstGeom>
          <a:noFill/>
          <a:ln/>
        </p:spPr>
        <p:txBody>
          <a:bodyPr wrap="square" lIns="0" tIns="0" rIns="0" bIns="0" rtlCol="0" anchor="ctr"/>
          <a:lstStyle/>
          <a:p>
            <a:pPr indent="0" marL="0">
              <a:lnSpc>
                <a:spcPts val="1600"/>
              </a:lnSpc>
              <a:buNone/>
            </a:pPr>
            <a:r>
              <a:rPr lang="en-US" sz="1250" b="1" dirty="0">
                <a:solidFill>
                  <a:srgbClr val="13315C"/>
                </a:solidFill>
                <a:latin typeface="Arial" pitchFamily="34" charset="0"/>
                <a:ea typeface="Arial" pitchFamily="34" charset="-122"/>
                <a:cs typeface="Arial" pitchFamily="34" charset="-120"/>
              </a:rPr>
              <a:t>At hub scale — the hub carries the last mile: </a:t>
            </a:r>
            <a:pPr indent="0" marL="0">
              <a:lnSpc>
                <a:spcPts val="1600"/>
              </a:lnSpc>
              <a:buNone/>
            </a:pPr>
            <a:r>
              <a:rPr lang="en-US" sz="1250" dirty="0">
                <a:solidFill>
                  <a:srgbClr val="1F2A3D"/>
                </a:solidFill>
                <a:latin typeface="Arial" pitchFamily="34" charset="0"/>
                <a:ea typeface="Arial" pitchFamily="34" charset="-122"/>
                <a:cs typeface="Arial" pitchFamily="34" charset="-120"/>
              </a:rPr>
              <a:t>agents &amp; e-mobility · crop aggregation · cold chain to the markets · clean-cooking &amp; solar aftercare · residue collection, returned as briquettes, biogas and fertilizer.</a:t>
            </a:r>
            <a:endParaRPr lang="en-US" sz="1250" dirty="0"/>
          </a:p>
        </p:txBody>
      </p:sp>
      <p:sp>
        <p:nvSpPr>
          <p:cNvPr id="52" name="Shape 37"/>
          <p:cNvSpPr/>
          <p:nvPr/>
        </p:nvSpPr>
        <p:spPr>
          <a:xfrm>
            <a:off x="566928" y="5212080"/>
            <a:ext cx="11055096" cy="1152144"/>
          </a:xfrm>
          <a:prstGeom prst="roundRect">
            <a:avLst>
              <a:gd name="adj" fmla="val 4762"/>
            </a:avLst>
          </a:prstGeom>
          <a:solidFill>
            <a:srgbClr val="13315C"/>
          </a:solidFill>
          <a:ln/>
        </p:spPr>
      </p:sp>
      <p:sp>
        <p:nvSpPr>
          <p:cNvPr id="53" name="Text 38"/>
          <p:cNvSpPr/>
          <p:nvPr/>
        </p:nvSpPr>
        <p:spPr>
          <a:xfrm>
            <a:off x="960120" y="5212080"/>
            <a:ext cx="10287000" cy="1152144"/>
          </a:xfrm>
          <a:prstGeom prst="rect">
            <a:avLst/>
          </a:prstGeom>
          <a:noFill/>
          <a:ln/>
        </p:spPr>
        <p:txBody>
          <a:bodyPr wrap="square" lIns="0" tIns="0" rIns="0" bIns="0" rtlCol="0" anchor="ctr"/>
          <a:lstStyle/>
          <a:p>
            <a:pPr indent="0" marL="0">
              <a:lnSpc>
                <a:spcPts val="2200"/>
              </a:lnSpc>
              <a:buNone/>
            </a:pPr>
            <a:r>
              <a:rPr lang="en-US" sz="1650" dirty="0">
                <a:solidFill>
                  <a:srgbClr val="FFFFFF"/>
                </a:solidFill>
                <a:latin typeface="Arial" pitchFamily="34" charset="0"/>
                <a:ea typeface="Arial" pitchFamily="34" charset="-122"/>
                <a:cs typeface="Arial" pitchFamily="34" charset="-120"/>
              </a:rPr>
              <a:t>One HQ carries all the hubs; each hub carries its last mile. Fixed costs are pooled at both scales — operations become durable, and replication fast and low-cost.</a:t>
            </a:r>
            <a:endParaRPr lang="en-US" sz="1650" dirty="0"/>
          </a:p>
        </p:txBody>
      </p:sp>
      <p:sp>
        <p:nvSpPr>
          <p:cNvPr id="54" name="Shape 39"/>
          <p:cNvSpPr/>
          <p:nvPr/>
        </p:nvSpPr>
        <p:spPr>
          <a:xfrm>
            <a:off x="566928" y="6510528"/>
            <a:ext cx="11055096" cy="0"/>
          </a:xfrm>
          <a:prstGeom prst="line">
            <a:avLst/>
          </a:prstGeom>
          <a:noFill/>
          <a:ln w="9525">
            <a:solidFill>
              <a:srgbClr val="C5CFDB"/>
            </a:solidFill>
            <a:prstDash val="solid"/>
          </a:ln>
        </p:spPr>
      </p:sp>
      <p:sp>
        <p:nvSpPr>
          <p:cNvPr id="55" name="Text 40"/>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56" name="Text 41"/>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5 / 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A group anchored in Burundi — capacity already at work</a:t>
            </a:r>
            <a:endParaRPr lang="en-US" sz="2900" dirty="0"/>
          </a:p>
        </p:txBody>
      </p:sp>
      <p:sp>
        <p:nvSpPr>
          <p:cNvPr id="3" name="Shape 1"/>
          <p:cNvSpPr/>
          <p:nvPr/>
        </p:nvSpPr>
        <p:spPr>
          <a:xfrm>
            <a:off x="566928" y="1207008"/>
            <a:ext cx="11055096" cy="1042416"/>
          </a:xfrm>
          <a:prstGeom prst="roundRect">
            <a:avLst>
              <a:gd name="adj" fmla="val 5263"/>
            </a:avLst>
          </a:prstGeom>
          <a:solidFill>
            <a:srgbClr val="EEF4FA"/>
          </a:solidFill>
          <a:ln/>
        </p:spPr>
      </p:sp>
      <p:sp>
        <p:nvSpPr>
          <p:cNvPr id="4" name="Shape 2"/>
          <p:cNvSpPr/>
          <p:nvPr/>
        </p:nvSpPr>
        <p:spPr>
          <a:xfrm>
            <a:off x="841248" y="1435608"/>
            <a:ext cx="585216" cy="585216"/>
          </a:xfrm>
          <a:prstGeom prst="ellipse">
            <a:avLst/>
          </a:prstGeom>
          <a:solidFill>
            <a:srgbClr val="FFFFFF"/>
          </a:solidFill>
          <a:ln/>
        </p:spPr>
      </p:sp>
      <p:pic>
        <p:nvPicPr>
          <p:cNvPr id="5" name="Image 0" descr="assets/flag_blue.png">    </p:cNvPr>
          <p:cNvPicPr>
            <a:picLocks noChangeAspect="1"/>
          </p:cNvPicPr>
          <p:nvPr/>
        </p:nvPicPr>
        <p:blipFill>
          <a:blip r:embed="rId1"/>
          <a:stretch>
            <a:fillRect/>
          </a:stretch>
        </p:blipFill>
        <p:spPr>
          <a:xfrm>
            <a:off x="964143" y="1558503"/>
            <a:ext cx="339425" cy="339425"/>
          </a:xfrm>
          <a:prstGeom prst="rect">
            <a:avLst/>
          </a:prstGeom>
        </p:spPr>
      </p:pic>
      <p:sp>
        <p:nvSpPr>
          <p:cNvPr id="6" name="Text 3"/>
          <p:cNvSpPr/>
          <p:nvPr/>
        </p:nvSpPr>
        <p:spPr>
          <a:xfrm>
            <a:off x="1572768" y="1280160"/>
            <a:ext cx="9875520" cy="896112"/>
          </a:xfrm>
          <a:prstGeom prst="rect">
            <a:avLst/>
          </a:prstGeom>
          <a:noFill/>
          <a:ln/>
        </p:spPr>
        <p:txBody>
          <a:bodyPr wrap="square" lIns="0" tIns="0" rIns="0" bIns="0" rtlCol="0" anchor="ctr"/>
          <a:lstStyle/>
          <a:p>
            <a:pPr indent="0" marL="0">
              <a:lnSpc>
                <a:spcPts val="2200"/>
              </a:lnSpc>
              <a:buNone/>
            </a:pPr>
            <a:r>
              <a:rPr lang="en-US" sz="1700" dirty="0">
                <a:solidFill>
                  <a:srgbClr val="1F2A3D"/>
                </a:solidFill>
                <a:latin typeface="Arial" pitchFamily="34" charset="0"/>
                <a:ea typeface="Arial" pitchFamily="34" charset="-122"/>
                <a:cs typeface="Arial" pitchFamily="34" charset="-120"/>
              </a:rPr>
              <a:t>10 pilot sites awarded by the Ministry of Energy — the ramp to national roll-out, with the Minister’s endorsement and an active roadmap with the Government’s appointed committee.</a:t>
            </a:r>
            <a:endParaRPr lang="en-US" sz="1700" dirty="0"/>
          </a:p>
        </p:txBody>
      </p:sp>
      <p:sp>
        <p:nvSpPr>
          <p:cNvPr id="7" name="Shape 4"/>
          <p:cNvSpPr/>
          <p:nvPr/>
        </p:nvSpPr>
        <p:spPr>
          <a:xfrm>
            <a:off x="566928" y="2395728"/>
            <a:ext cx="11055096" cy="4059936"/>
          </a:xfrm>
          <a:prstGeom prst="roundRect">
            <a:avLst>
              <a:gd name="adj" fmla="val 1351"/>
            </a:avLst>
          </a:prstGeom>
          <a:solidFill>
            <a:srgbClr val="13315C"/>
          </a:solidFill>
          <a:ln/>
        </p:spPr>
      </p:sp>
      <p:sp>
        <p:nvSpPr>
          <p:cNvPr id="8" name="Text 5"/>
          <p:cNvSpPr/>
          <p:nvPr/>
        </p:nvSpPr>
        <p:spPr>
          <a:xfrm>
            <a:off x="932688" y="2578608"/>
            <a:ext cx="10424160" cy="365760"/>
          </a:xfrm>
          <a:prstGeom prst="rect">
            <a:avLst/>
          </a:prstGeom>
          <a:noFill/>
          <a:ln/>
        </p:spPr>
        <p:txBody>
          <a:bodyPr wrap="square" lIns="0" tIns="0" rIns="0" bIns="0" rtlCol="0" anchor="ctr"/>
          <a:lstStyle/>
          <a:p>
            <a:pPr indent="0" marL="0">
              <a:buNone/>
            </a:pPr>
            <a:r>
              <a:rPr lang="en-US" sz="1600" b="1" spc="150" kern="0" dirty="0">
                <a:solidFill>
                  <a:srgbClr val="B07A1E"/>
                </a:solidFill>
                <a:latin typeface="Arial" pitchFamily="34" charset="0"/>
                <a:ea typeface="Arial" pitchFamily="34" charset="-122"/>
                <a:cs typeface="Arial" pitchFamily="34" charset="-120"/>
              </a:rPr>
              <a:t>OUR OPERATING BACKBONE — ONE GROUP, BURUNDIAN CAPACITY</a:t>
            </a:r>
            <a:endParaRPr lang="en-US" sz="1600" dirty="0"/>
          </a:p>
        </p:txBody>
      </p:sp>
      <p:sp>
        <p:nvSpPr>
          <p:cNvPr id="9" name="Shape 6"/>
          <p:cNvSpPr/>
          <p:nvPr/>
        </p:nvSpPr>
        <p:spPr>
          <a:xfrm>
            <a:off x="950976" y="3090672"/>
            <a:ext cx="548640" cy="548640"/>
          </a:xfrm>
          <a:prstGeom prst="ellipse">
            <a:avLst/>
          </a:prstGeom>
          <a:solidFill>
            <a:srgbClr val="1D4370"/>
          </a:solidFill>
          <a:ln/>
        </p:spPr>
      </p:sp>
      <p:pic>
        <p:nvPicPr>
          <p:cNvPr id="10" name="Image 1" descr="assets/bolt_white.png">    </p:cNvPr>
          <p:cNvPicPr>
            <a:picLocks noChangeAspect="1"/>
          </p:cNvPicPr>
          <p:nvPr/>
        </p:nvPicPr>
        <p:blipFill>
          <a:blip r:embed="rId2"/>
          <a:stretch>
            <a:fillRect/>
          </a:stretch>
        </p:blipFill>
        <p:spPr>
          <a:xfrm>
            <a:off x="1071677" y="3211373"/>
            <a:ext cx="307238" cy="307238"/>
          </a:xfrm>
          <a:prstGeom prst="rect">
            <a:avLst/>
          </a:prstGeom>
        </p:spPr>
      </p:pic>
      <p:sp>
        <p:nvSpPr>
          <p:cNvPr id="11" name="Text 7"/>
          <p:cNvSpPr/>
          <p:nvPr/>
        </p:nvSpPr>
        <p:spPr>
          <a:xfrm>
            <a:off x="1645920" y="2999232"/>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Energy — </a:t>
            </a:r>
            <a:pPr indent="0" marL="0">
              <a:lnSpc>
                <a:spcPts val="2250"/>
              </a:lnSpc>
              <a:buNone/>
            </a:pPr>
            <a:r>
              <a:rPr lang="en-US" sz="1750" dirty="0">
                <a:solidFill>
                  <a:srgbClr val="C9D8EA"/>
                </a:solidFill>
                <a:latin typeface="Arial" pitchFamily="34" charset="0"/>
                <a:ea typeface="Arial" pitchFamily="34" charset="-122"/>
                <a:cs typeface="Arial" pitchFamily="34" charset="-120"/>
              </a:rPr>
              <a:t>The management and operating team developed — and continues to manage — the Mubuga solar plant (7.5 MW), the country’s first solar IPP (25-year PPA, ~20 remaining), within an IPP portfolio in development.</a:t>
            </a:r>
            <a:endParaRPr lang="en-US" sz="1750" dirty="0"/>
          </a:p>
        </p:txBody>
      </p:sp>
      <p:sp>
        <p:nvSpPr>
          <p:cNvPr id="12" name="Shape 8"/>
          <p:cNvSpPr/>
          <p:nvPr/>
        </p:nvSpPr>
        <p:spPr>
          <a:xfrm>
            <a:off x="950976" y="4133088"/>
            <a:ext cx="548640" cy="548640"/>
          </a:xfrm>
          <a:prstGeom prst="ellipse">
            <a:avLst/>
          </a:prstGeom>
          <a:solidFill>
            <a:srgbClr val="1D4370"/>
          </a:solidFill>
          <a:ln/>
        </p:spPr>
      </p:sp>
      <p:pic>
        <p:nvPicPr>
          <p:cNvPr id="13" name="Image 2" descr="assets/wheat_white.png">    </p:cNvPr>
          <p:cNvPicPr>
            <a:picLocks noChangeAspect="1"/>
          </p:cNvPicPr>
          <p:nvPr/>
        </p:nvPicPr>
        <p:blipFill>
          <a:blip r:embed="rId3"/>
          <a:stretch>
            <a:fillRect/>
          </a:stretch>
        </p:blipFill>
        <p:spPr>
          <a:xfrm>
            <a:off x="1071677" y="4253789"/>
            <a:ext cx="307238" cy="307238"/>
          </a:xfrm>
          <a:prstGeom prst="rect">
            <a:avLst/>
          </a:prstGeom>
        </p:spPr>
      </p:pic>
      <p:sp>
        <p:nvSpPr>
          <p:cNvPr id="14" name="Text 9"/>
          <p:cNvSpPr/>
          <p:nvPr/>
        </p:nvSpPr>
        <p:spPr>
          <a:xfrm>
            <a:off x="1645920" y="4041648"/>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Agro-industry — </a:t>
            </a:r>
            <a:pPr indent="0" marL="0">
              <a:lnSpc>
                <a:spcPts val="2250"/>
              </a:lnSpc>
              <a:buNone/>
            </a:pPr>
            <a:r>
              <a:rPr lang="en-US" sz="1750" dirty="0">
                <a:solidFill>
                  <a:srgbClr val="C9D8EA"/>
                </a:solidFill>
                <a:latin typeface="Arial" pitchFamily="34" charset="0"/>
                <a:ea typeface="Arial" pitchFamily="34" charset="-122"/>
                <a:cs typeface="Arial" pitchFamily="34" charset="-120"/>
              </a:rPr>
              <a:t>Avocado oil extraction within our consortium — the network’s waste feedstock: ~800 t/day of residues power the waste-to-energy line; pilot bio-digesters and biogas already underway.</a:t>
            </a:r>
            <a:endParaRPr lang="en-US" sz="1750" dirty="0"/>
          </a:p>
        </p:txBody>
      </p:sp>
      <p:sp>
        <p:nvSpPr>
          <p:cNvPr id="15" name="Shape 10"/>
          <p:cNvSpPr/>
          <p:nvPr/>
        </p:nvSpPr>
        <p:spPr>
          <a:xfrm>
            <a:off x="950976" y="5175504"/>
            <a:ext cx="548640" cy="548640"/>
          </a:xfrm>
          <a:prstGeom prst="ellipse">
            <a:avLst/>
          </a:prstGeom>
          <a:solidFill>
            <a:srgbClr val="1D4370"/>
          </a:solidFill>
          <a:ln/>
        </p:spPr>
      </p:sp>
      <p:pic>
        <p:nvPicPr>
          <p:cNvPr id="16" name="Image 3" descr="assets/tools_green.png">    </p:cNvPr>
          <p:cNvPicPr>
            <a:picLocks noChangeAspect="1"/>
          </p:cNvPicPr>
          <p:nvPr/>
        </p:nvPicPr>
        <p:blipFill>
          <a:blip r:embed="rId4"/>
          <a:stretch>
            <a:fillRect/>
          </a:stretch>
        </p:blipFill>
        <p:spPr>
          <a:xfrm>
            <a:off x="1071677" y="5296205"/>
            <a:ext cx="307238" cy="307238"/>
          </a:xfrm>
          <a:prstGeom prst="rect">
            <a:avLst/>
          </a:prstGeom>
        </p:spPr>
      </p:pic>
      <p:sp>
        <p:nvSpPr>
          <p:cNvPr id="17" name="Text 11"/>
          <p:cNvSpPr/>
          <p:nvPr/>
        </p:nvSpPr>
        <p:spPr>
          <a:xfrm>
            <a:off x="1645920" y="5084064"/>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Local execution — </a:t>
            </a:r>
            <a:pPr indent="0" marL="0">
              <a:lnSpc>
                <a:spcPts val="2250"/>
              </a:lnSpc>
              <a:buNone/>
            </a:pPr>
            <a:r>
              <a:rPr lang="en-US" sz="1750" dirty="0">
                <a:solidFill>
                  <a:srgbClr val="C9D8EA"/>
                </a:solidFill>
                <a:latin typeface="Arial" pitchFamily="34" charset="0"/>
                <a:ea typeface="Arial" pitchFamily="34" charset="-122"/>
                <a:cs typeface="Arial" pitchFamily="34" charset="-120"/>
              </a:rPr>
              <a:t>Construction, operations, logistics and hydropower carried by the group’s own Burundian teams and industrial capacity.</a:t>
            </a:r>
            <a:endParaRPr lang="en-US" sz="1750" dirty="0"/>
          </a:p>
        </p:txBody>
      </p:sp>
      <p:sp>
        <p:nvSpPr>
          <p:cNvPr id="18" name="Shape 12"/>
          <p:cNvSpPr/>
          <p:nvPr/>
        </p:nvSpPr>
        <p:spPr>
          <a:xfrm>
            <a:off x="932688" y="6108192"/>
            <a:ext cx="10332720" cy="0"/>
          </a:xfrm>
          <a:prstGeom prst="line">
            <a:avLst/>
          </a:prstGeom>
          <a:noFill/>
          <a:ln w="9525">
            <a:solidFill>
              <a:srgbClr val="3D5A85"/>
            </a:solidFill>
            <a:prstDash val="solid"/>
          </a:ln>
        </p:spPr>
      </p:sp>
      <p:sp>
        <p:nvSpPr>
          <p:cNvPr id="19" name="Text 13"/>
          <p:cNvSpPr/>
          <p:nvPr/>
        </p:nvSpPr>
        <p:spPr>
          <a:xfrm>
            <a:off x="932688" y="6163056"/>
            <a:ext cx="10378440" cy="274320"/>
          </a:xfrm>
          <a:prstGeom prst="rect">
            <a:avLst/>
          </a:prstGeom>
          <a:noFill/>
          <a:ln/>
        </p:spPr>
        <p:txBody>
          <a:bodyPr wrap="square" lIns="0" tIns="0" rIns="0" bIns="0" rtlCol="0" anchor="ctr"/>
          <a:lstStyle/>
          <a:p>
            <a:pPr indent="0" marL="0">
              <a:buNone/>
            </a:pPr>
            <a:r>
              <a:rPr lang="en-US" sz="1400" b="1" i="1" dirty="0">
                <a:solidFill>
                  <a:srgbClr val="FFFFFF"/>
                </a:solidFill>
                <a:latin typeface="Arial" pitchFamily="34" charset="0"/>
                <a:ea typeface="Arial" pitchFamily="34" charset="-122"/>
                <a:cs typeface="Arial" pitchFamily="34" charset="-120"/>
              </a:rPr>
              <a:t>We do what we do best — so that every partner can do what they do best.</a:t>
            </a:r>
            <a:endParaRPr lang="en-US" sz="1400" dirty="0"/>
          </a:p>
        </p:txBody>
      </p:sp>
      <p:sp>
        <p:nvSpPr>
          <p:cNvPr id="20" name="Shape 14"/>
          <p:cNvSpPr/>
          <p:nvPr/>
        </p:nvSpPr>
        <p:spPr>
          <a:xfrm>
            <a:off x="566928" y="6510528"/>
            <a:ext cx="11055096" cy="0"/>
          </a:xfrm>
          <a:prstGeom prst="line">
            <a:avLst/>
          </a:prstGeom>
          <a:noFill/>
          <a:ln w="9525">
            <a:solidFill>
              <a:srgbClr val="C5CFDB"/>
            </a:solidFill>
            <a:prstDash val="solid"/>
          </a:ln>
        </p:spPr>
      </p:sp>
      <p:sp>
        <p:nvSpPr>
          <p:cNvPr id="21"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22"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6 / 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A natural complementarity</a:t>
            </a:r>
            <a:endParaRPr lang="en-US" sz="2900" dirty="0"/>
          </a:p>
        </p:txBody>
      </p:sp>
      <p:sp>
        <p:nvSpPr>
          <p:cNvPr id="3" name="Shape 1"/>
          <p:cNvSpPr/>
          <p:nvPr/>
        </p:nvSpPr>
        <p:spPr>
          <a:xfrm>
            <a:off x="566928" y="1298448"/>
            <a:ext cx="11055096" cy="1700784"/>
          </a:xfrm>
          <a:prstGeom prst="roundRect">
            <a:avLst>
              <a:gd name="adj" fmla="val 3226"/>
            </a:avLst>
          </a:prstGeom>
          <a:solidFill>
            <a:srgbClr val="EEF4FA"/>
          </a:solidFill>
          <a:ln/>
        </p:spPr>
      </p:sp>
      <p:sp>
        <p:nvSpPr>
          <p:cNvPr id="4" name="Text 2"/>
          <p:cNvSpPr/>
          <p:nvPr/>
        </p:nvSpPr>
        <p:spPr>
          <a:xfrm>
            <a:off x="960120" y="1298448"/>
            <a:ext cx="10287000" cy="1700784"/>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The hub does not incubate — it carries. Incubation and acceleration are a profession: methodologies, mentorship, standards, networks. That profession belongs to the organizations that practice it across the continent — and that AAIN has federated since 2015.</a:t>
            </a:r>
            <a:endParaRPr lang="en-US" sz="1750" dirty="0"/>
          </a:p>
        </p:txBody>
      </p:sp>
      <p:sp>
        <p:nvSpPr>
          <p:cNvPr id="5" name="Shape 3"/>
          <p:cNvSpPr/>
          <p:nvPr/>
        </p:nvSpPr>
        <p:spPr>
          <a:xfrm>
            <a:off x="566928" y="3127248"/>
            <a:ext cx="11055096" cy="1463040"/>
          </a:xfrm>
          <a:prstGeom prst="roundRect">
            <a:avLst>
              <a:gd name="adj" fmla="val 3750"/>
            </a:avLst>
          </a:prstGeom>
          <a:solidFill>
            <a:srgbClr val="F8F1E4"/>
          </a:solidFill>
          <a:ln/>
        </p:spPr>
      </p:sp>
      <p:sp>
        <p:nvSpPr>
          <p:cNvPr id="6" name="Text 4"/>
          <p:cNvSpPr/>
          <p:nvPr/>
        </p:nvSpPr>
        <p:spPr>
          <a:xfrm>
            <a:off x="960120" y="3127248"/>
            <a:ext cx="10287000" cy="1463040"/>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What the hub adds is the physical base missing in rural areas: reliable power, processing equipment, cold chain, connectivity, logistics to market, and usage data that make every activity legible to financiers.</a:t>
            </a:r>
            <a:endParaRPr lang="en-US" sz="1750" dirty="0"/>
          </a:p>
        </p:txBody>
      </p:sp>
      <p:sp>
        <p:nvSpPr>
          <p:cNvPr id="7" name="Shape 5"/>
          <p:cNvSpPr/>
          <p:nvPr/>
        </p:nvSpPr>
        <p:spPr>
          <a:xfrm>
            <a:off x="566928" y="4718304"/>
            <a:ext cx="11055096" cy="1645920"/>
          </a:xfrm>
          <a:prstGeom prst="roundRect">
            <a:avLst>
              <a:gd name="adj" fmla="val 3333"/>
            </a:avLst>
          </a:prstGeom>
          <a:solidFill>
            <a:srgbClr val="13315C"/>
          </a:solidFill>
          <a:ln/>
        </p:spPr>
      </p:sp>
      <p:sp>
        <p:nvSpPr>
          <p:cNvPr id="8" name="Text 6"/>
          <p:cNvSpPr/>
          <p:nvPr/>
        </p:nvSpPr>
        <p:spPr>
          <a:xfrm>
            <a:off x="960120" y="4718304"/>
            <a:ext cx="10287000" cy="1645920"/>
          </a:xfrm>
          <a:prstGeom prst="rect">
            <a:avLst/>
          </a:prstGeom>
          <a:noFill/>
          <a:ln/>
        </p:spPr>
        <p:txBody>
          <a:bodyPr wrap="square" lIns="0" tIns="0" rIns="0" bIns="0" rtlCol="0" anchor="ctr"/>
          <a:lstStyle/>
          <a:p>
            <a:pPr indent="0" marL="0">
              <a:lnSpc>
                <a:spcPts val="2050"/>
              </a:lnSpc>
              <a:buNone/>
            </a:pPr>
            <a:r>
              <a:rPr lang="en-US" sz="1550" dirty="0">
                <a:solidFill>
                  <a:srgbClr val="FFFFFF"/>
                </a:solidFill>
                <a:latin typeface="Arial" pitchFamily="34" charset="0"/>
                <a:ea typeface="Arial" pitchFamily="34" charset="-122"/>
                <a:cs typeface="Arial" pitchFamily="34" charset="-120"/>
              </a:rPr>
              <a:t>This architecture meets AAIN’s mandate — incubating incubators — and the goals of AASIA, launched at AAICE 2026: each hub is designed to host member programs, in Burundi first and wherever the model replicates — in service of Agenda 2063 and of this conference’s theme.</a:t>
            </a:r>
            <a:endParaRPr lang="en-US" sz="1550" dirty="0"/>
          </a:p>
        </p:txBody>
      </p:sp>
      <p:sp>
        <p:nvSpPr>
          <p:cNvPr id="9" name="Shape 7"/>
          <p:cNvSpPr/>
          <p:nvPr/>
        </p:nvSpPr>
        <p:spPr>
          <a:xfrm>
            <a:off x="566928" y="6510528"/>
            <a:ext cx="11055096" cy="0"/>
          </a:xfrm>
          <a:prstGeom prst="line">
            <a:avLst/>
          </a:prstGeom>
          <a:noFill/>
          <a:ln w="9525">
            <a:solidFill>
              <a:srgbClr val="C5CFDB"/>
            </a:solidFill>
            <a:prstDash val="solid"/>
          </a:ln>
        </p:spPr>
      </p:sp>
      <p:sp>
        <p:nvSpPr>
          <p:cNvPr id="10" name="Text 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11" name="Text 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7 / 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Where this complementarity can be written</a:t>
            </a:r>
            <a:endParaRPr lang="en-US" sz="2800" dirty="0"/>
          </a:p>
        </p:txBody>
      </p:sp>
      <p:sp>
        <p:nvSpPr>
          <p:cNvPr id="3" name="Text 1"/>
          <p:cNvSpPr/>
          <p:nvPr/>
        </p:nvSpPr>
        <p:spPr>
          <a:xfrm>
            <a:off x="566928" y="1152144"/>
            <a:ext cx="11064240" cy="566928"/>
          </a:xfrm>
          <a:prstGeom prst="rect">
            <a:avLst/>
          </a:prstGeom>
          <a:noFill/>
          <a:ln/>
        </p:spPr>
        <p:txBody>
          <a:bodyPr wrap="square" lIns="0" tIns="0" rIns="0" bIns="0" rtlCol="0" anchor="ctr"/>
          <a:lstStyle/>
          <a:p>
            <a:pPr indent="0" marL="0">
              <a:lnSpc>
                <a:spcPts val="2100"/>
              </a:lnSpc>
              <a:buNone/>
            </a:pPr>
            <a:r>
              <a:rPr lang="en-US" sz="1650" i="1" dirty="0">
                <a:solidFill>
                  <a:srgbClr val="13315C"/>
                </a:solidFill>
                <a:latin typeface="Arial" pitchFamily="34" charset="0"/>
                <a:ea typeface="Arial" pitchFamily="34" charset="-122"/>
                <a:cs typeface="Arial" pitchFamily="34" charset="-120"/>
              </a:rPr>
              <a:t>With AAIN and its members, these complementarities can, where useful, be set down in a cooperation framework — non-binding, detailed through implementation agreements.</a:t>
            </a:r>
            <a:endParaRPr lang="en-US" sz="1650" dirty="0"/>
          </a:p>
        </p:txBody>
      </p:sp>
      <p:sp>
        <p:nvSpPr>
          <p:cNvPr id="4" name="Shape 2"/>
          <p:cNvSpPr/>
          <p:nvPr/>
        </p:nvSpPr>
        <p:spPr>
          <a:xfrm>
            <a:off x="566928" y="1883664"/>
            <a:ext cx="5463540" cy="1847088"/>
          </a:xfrm>
          <a:prstGeom prst="roundRect">
            <a:avLst>
              <a:gd name="adj" fmla="val 2475"/>
            </a:avLst>
          </a:prstGeom>
          <a:solidFill>
            <a:srgbClr val="EEF4FA"/>
          </a:solidFill>
          <a:ln/>
        </p:spPr>
      </p:sp>
      <p:sp>
        <p:nvSpPr>
          <p:cNvPr id="5" name="Text 3"/>
          <p:cNvSpPr/>
          <p:nvPr/>
        </p:nvSpPr>
        <p:spPr>
          <a:xfrm>
            <a:off x="841248"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Hosting programs</a:t>
            </a:r>
            <a:endParaRPr lang="en-US" sz="1800" dirty="0"/>
          </a:p>
        </p:txBody>
      </p:sp>
      <p:sp>
        <p:nvSpPr>
          <p:cNvPr id="6" name="Text 4"/>
          <p:cNvSpPr/>
          <p:nvPr/>
        </p:nvSpPr>
        <p:spPr>
          <a:xfrm>
            <a:off x="841248"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The hubs as rural host sites for incubation, training and support programs — in Burundi first.</a:t>
            </a:r>
            <a:endParaRPr lang="en-US" sz="1600" dirty="0"/>
          </a:p>
        </p:txBody>
      </p:sp>
      <p:sp>
        <p:nvSpPr>
          <p:cNvPr id="7" name="Shape 5"/>
          <p:cNvSpPr/>
          <p:nvPr/>
        </p:nvSpPr>
        <p:spPr>
          <a:xfrm>
            <a:off x="6158484" y="1883664"/>
            <a:ext cx="5463540" cy="1847088"/>
          </a:xfrm>
          <a:prstGeom prst="roundRect">
            <a:avLst>
              <a:gd name="adj" fmla="val 2475"/>
            </a:avLst>
          </a:prstGeom>
          <a:solidFill>
            <a:srgbClr val="EEF4FA"/>
          </a:solidFill>
          <a:ln/>
        </p:spPr>
      </p:sp>
      <p:sp>
        <p:nvSpPr>
          <p:cNvPr id="8" name="Text 6"/>
          <p:cNvSpPr/>
          <p:nvPr/>
        </p:nvSpPr>
        <p:spPr>
          <a:xfrm>
            <a:off x="6432804"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Curricula &amp; training</a:t>
            </a:r>
            <a:endParaRPr lang="en-US" sz="1800" dirty="0"/>
          </a:p>
        </p:txBody>
      </p:sp>
      <p:sp>
        <p:nvSpPr>
          <p:cNvPr id="9" name="Text 7"/>
          <p:cNvSpPr/>
          <p:nvPr/>
        </p:nvSpPr>
        <p:spPr>
          <a:xfrm>
            <a:off x="6432804"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Adapting methodologies to the hub environment; training by both routes — on the equipment and through accredited tele-education.</a:t>
            </a:r>
            <a:endParaRPr lang="en-US" sz="1600" dirty="0"/>
          </a:p>
        </p:txBody>
      </p:sp>
      <p:sp>
        <p:nvSpPr>
          <p:cNvPr id="10" name="Shape 8"/>
          <p:cNvSpPr/>
          <p:nvPr/>
        </p:nvSpPr>
        <p:spPr>
          <a:xfrm>
            <a:off x="566928" y="3858768"/>
            <a:ext cx="5463540" cy="1847088"/>
          </a:xfrm>
          <a:prstGeom prst="roundRect">
            <a:avLst>
              <a:gd name="adj" fmla="val 2475"/>
            </a:avLst>
          </a:prstGeom>
          <a:solidFill>
            <a:srgbClr val="EEF4FA"/>
          </a:solidFill>
          <a:ln/>
        </p:spPr>
      </p:sp>
      <p:sp>
        <p:nvSpPr>
          <p:cNvPr id="11" name="Text 9"/>
          <p:cNvSpPr/>
          <p:nvPr/>
        </p:nvSpPr>
        <p:spPr>
          <a:xfrm>
            <a:off x="841248"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Data &amp; learning</a:t>
            </a:r>
            <a:endParaRPr lang="en-US" sz="1800" dirty="0"/>
          </a:p>
        </p:txBody>
      </p:sp>
      <p:sp>
        <p:nvSpPr>
          <p:cNvPr id="12" name="Text 10"/>
          <p:cNvSpPr/>
          <p:nvPr/>
        </p:nvSpPr>
        <p:spPr>
          <a:xfrm>
            <a:off x="841248"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Shared indicators and documented lessons — the base of a replicable hub-incubator model.</a:t>
            </a:r>
            <a:endParaRPr lang="en-US" sz="1600" dirty="0"/>
          </a:p>
        </p:txBody>
      </p:sp>
      <p:sp>
        <p:nvSpPr>
          <p:cNvPr id="13" name="Shape 11"/>
          <p:cNvSpPr/>
          <p:nvPr/>
        </p:nvSpPr>
        <p:spPr>
          <a:xfrm>
            <a:off x="6158484" y="3858768"/>
            <a:ext cx="5463540" cy="1847088"/>
          </a:xfrm>
          <a:prstGeom prst="roundRect">
            <a:avLst>
              <a:gd name="adj" fmla="val 2475"/>
            </a:avLst>
          </a:prstGeom>
          <a:solidFill>
            <a:srgbClr val="EEF4FA"/>
          </a:solidFill>
          <a:ln/>
        </p:spPr>
      </p:sp>
      <p:sp>
        <p:nvSpPr>
          <p:cNvPr id="14" name="Text 12"/>
          <p:cNvSpPr/>
          <p:nvPr/>
        </p:nvSpPr>
        <p:spPr>
          <a:xfrm>
            <a:off x="6432804"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Platform-level resources</a:t>
            </a:r>
            <a:endParaRPr lang="en-US" sz="1800" dirty="0"/>
          </a:p>
        </p:txBody>
      </p:sp>
      <p:sp>
        <p:nvSpPr>
          <p:cNvPr id="15" name="Text 13"/>
          <p:cNvSpPr/>
          <p:nvPr/>
        </p:nvSpPr>
        <p:spPr>
          <a:xfrm>
            <a:off x="6432804"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Joint mobilization with development partners and continental institutions — outside bilateral commitments.</a:t>
            </a:r>
            <a:endParaRPr lang="en-US" sz="1600" dirty="0"/>
          </a:p>
        </p:txBody>
      </p:sp>
      <p:sp>
        <p:nvSpPr>
          <p:cNvPr id="16" name="Shape 14"/>
          <p:cNvSpPr/>
          <p:nvPr/>
        </p:nvSpPr>
        <p:spPr>
          <a:xfrm>
            <a:off x="566928" y="6510528"/>
            <a:ext cx="11055096" cy="0"/>
          </a:xfrm>
          <a:prstGeom prst="line">
            <a:avLst/>
          </a:prstGeom>
          <a:noFill/>
          <a:ln w="9525">
            <a:solidFill>
              <a:srgbClr val="C5CFDB"/>
            </a:solidFill>
            <a:prstDash val="solid"/>
          </a:ln>
        </p:spPr>
      </p:sp>
      <p:sp>
        <p:nvSpPr>
          <p:cNvPr id="17"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18"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8 / 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566928" y="548640"/>
            <a:ext cx="4617720" cy="914400"/>
          </a:xfrm>
          <a:prstGeom prst="rect">
            <a:avLst/>
          </a:prstGeom>
          <a:noFill/>
          <a:ln/>
        </p:spPr>
        <p:txBody>
          <a:bodyPr wrap="square" lIns="0" tIns="0" rIns="0" bIns="0" rtlCol="0" anchor="ctr"/>
          <a:lstStyle/>
          <a:p>
            <a:pPr indent="0" marL="0">
              <a:lnSpc>
                <a:spcPts val="3900"/>
              </a:lnSpc>
              <a:buNone/>
            </a:pPr>
            <a:r>
              <a:rPr lang="en-US" sz="3200" b="1" dirty="0">
                <a:solidFill>
                  <a:srgbClr val="FFFFFF"/>
                </a:solidFill>
                <a:latin typeface="Arial" pitchFamily="34" charset="0"/>
                <a:ea typeface="Arial" pitchFamily="34" charset="-122"/>
                <a:cs typeface="Arial" pitchFamily="34" charset="-120"/>
              </a:rPr>
              <a:t>An invitation to collaborate.</a:t>
            </a:r>
            <a:endParaRPr lang="en-US" sz="3200" dirty="0"/>
          </a:p>
        </p:txBody>
      </p:sp>
      <p:sp>
        <p:nvSpPr>
          <p:cNvPr id="3" name="Shape 1"/>
          <p:cNvSpPr/>
          <p:nvPr/>
        </p:nvSpPr>
        <p:spPr>
          <a:xfrm>
            <a:off x="566928" y="1591056"/>
            <a:ext cx="4617720" cy="1536192"/>
          </a:xfrm>
          <a:prstGeom prst="roundRect">
            <a:avLst>
              <a:gd name="adj" fmla="val 2976"/>
            </a:avLst>
          </a:prstGeom>
          <a:solidFill>
            <a:srgbClr val="1D4370"/>
          </a:solidFill>
          <a:ln/>
        </p:spPr>
      </p:sp>
      <p:sp>
        <p:nvSpPr>
          <p:cNvPr id="4" name="Text 2"/>
          <p:cNvSpPr/>
          <p:nvPr/>
        </p:nvSpPr>
        <p:spPr>
          <a:xfrm>
            <a:off x="822960" y="173736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PROGRAMS &amp; INCUBATORS</a:t>
            </a:r>
            <a:endParaRPr lang="en-US" sz="1600" dirty="0"/>
          </a:p>
        </p:txBody>
      </p:sp>
      <p:sp>
        <p:nvSpPr>
          <p:cNvPr id="5" name="Text 3"/>
          <p:cNvSpPr/>
          <p:nvPr/>
        </p:nvSpPr>
        <p:spPr>
          <a:xfrm>
            <a:off x="822960" y="213969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Anchor training, incubation and mentorship at the hubs — the rural outpost of the ecosystems gathered at AAICE.</a:t>
            </a:r>
            <a:endParaRPr lang="en-US" sz="1550" dirty="0"/>
          </a:p>
        </p:txBody>
      </p:sp>
      <p:sp>
        <p:nvSpPr>
          <p:cNvPr id="6" name="Shape 4"/>
          <p:cNvSpPr/>
          <p:nvPr/>
        </p:nvSpPr>
        <p:spPr>
          <a:xfrm>
            <a:off x="566928" y="3236976"/>
            <a:ext cx="4617720" cy="1536192"/>
          </a:xfrm>
          <a:prstGeom prst="roundRect">
            <a:avLst>
              <a:gd name="adj" fmla="val 2976"/>
            </a:avLst>
          </a:prstGeom>
          <a:solidFill>
            <a:srgbClr val="1D4370"/>
          </a:solidFill>
          <a:ln/>
        </p:spPr>
      </p:sp>
      <p:sp>
        <p:nvSpPr>
          <p:cNvPr id="7" name="Text 5"/>
          <p:cNvSpPr/>
          <p:nvPr/>
        </p:nvSpPr>
        <p:spPr>
          <a:xfrm>
            <a:off x="822960" y="338328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FUNDERS &amp; INDUSTRY</a:t>
            </a:r>
            <a:endParaRPr lang="en-US" sz="1600" dirty="0"/>
          </a:p>
        </p:txBody>
      </p:sp>
      <p:sp>
        <p:nvSpPr>
          <p:cNvPr id="8" name="Text 6"/>
          <p:cNvSpPr/>
          <p:nvPr/>
        </p:nvSpPr>
        <p:spPr>
          <a:xfrm>
            <a:off x="822960" y="378561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Co-finance the scale-up: from the pilot hubs to national roll-out.</a:t>
            </a:r>
            <a:endParaRPr lang="en-US" sz="1550" dirty="0"/>
          </a:p>
        </p:txBody>
      </p:sp>
      <p:sp>
        <p:nvSpPr>
          <p:cNvPr id="9" name="Shape 7"/>
          <p:cNvSpPr/>
          <p:nvPr/>
        </p:nvSpPr>
        <p:spPr>
          <a:xfrm>
            <a:off x="566928" y="4882896"/>
            <a:ext cx="4617720" cy="1536192"/>
          </a:xfrm>
          <a:prstGeom prst="roundRect">
            <a:avLst>
              <a:gd name="adj" fmla="val 2976"/>
            </a:avLst>
          </a:prstGeom>
          <a:solidFill>
            <a:srgbClr val="1D4370"/>
          </a:solidFill>
          <a:ln/>
        </p:spPr>
      </p:sp>
      <p:sp>
        <p:nvSpPr>
          <p:cNvPr id="10" name="Text 8"/>
          <p:cNvSpPr/>
          <p:nvPr/>
        </p:nvSpPr>
        <p:spPr>
          <a:xfrm>
            <a:off x="822960" y="502920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GOVERNMENT &amp; INSTITUTIONS</a:t>
            </a:r>
            <a:endParaRPr lang="en-US" sz="1600" dirty="0"/>
          </a:p>
        </p:txBody>
      </p:sp>
      <p:sp>
        <p:nvSpPr>
          <p:cNvPr id="11" name="Text 9"/>
          <p:cNvSpPr/>
          <p:nvPr/>
        </p:nvSpPr>
        <p:spPr>
          <a:xfrm>
            <a:off x="822960" y="543153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Co-locate public programs at the hubs — supporting Mission 300’s goals: building demand ahead of grid arrival, in harmony with it.</a:t>
            </a:r>
            <a:endParaRPr lang="en-US" sz="1550" dirty="0"/>
          </a:p>
        </p:txBody>
      </p:sp>
      <p:sp>
        <p:nvSpPr>
          <p:cNvPr id="12" name="Shape 10"/>
          <p:cNvSpPr/>
          <p:nvPr/>
        </p:nvSpPr>
        <p:spPr>
          <a:xfrm>
            <a:off x="5413248" y="512064"/>
            <a:ext cx="6263640" cy="585216"/>
          </a:xfrm>
          <a:prstGeom prst="roundRect">
            <a:avLst>
              <a:gd name="adj" fmla="val 7813"/>
            </a:avLst>
          </a:prstGeom>
          <a:solidFill>
            <a:srgbClr val="B07A1E"/>
          </a:solidFill>
          <a:ln/>
        </p:spPr>
      </p:sp>
      <p:sp>
        <p:nvSpPr>
          <p:cNvPr id="13" name="Text 11"/>
          <p:cNvSpPr/>
          <p:nvPr/>
        </p:nvSpPr>
        <p:spPr>
          <a:xfrm>
            <a:off x="5614416" y="512064"/>
            <a:ext cx="5943600" cy="58521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GROUND BROKEN ON AUGUST 4, 2026 — NYAMUGARI, ALONGSIDE FAO</a:t>
            </a:r>
            <a:endParaRPr lang="en-US" sz="1350" dirty="0"/>
          </a:p>
        </p:txBody>
      </p:sp>
      <p:sp>
        <p:nvSpPr>
          <p:cNvPr id="14" name="Shape 12"/>
          <p:cNvSpPr/>
          <p:nvPr/>
        </p:nvSpPr>
        <p:spPr>
          <a:xfrm>
            <a:off x="5413248" y="1591056"/>
            <a:ext cx="6263640" cy="4160520"/>
          </a:xfrm>
          <a:prstGeom prst="rect">
            <a:avLst/>
          </a:prstGeom>
          <a:solidFill>
            <a:srgbClr val="1D4370"/>
          </a:solidFill>
          <a:ln/>
        </p:spPr>
      </p:sp>
      <p:pic>
        <p:nvPicPr>
          <p:cNvPr id="15" name="Image 0" descr="gb_slide.jpg">    </p:cNvPr>
          <p:cNvPicPr>
            <a:picLocks noChangeAspect="1"/>
          </p:cNvPicPr>
          <p:nvPr/>
        </p:nvPicPr>
        <p:blipFill>
          <a:blip r:embed="rId1"/>
          <a:stretch>
            <a:fillRect/>
          </a:stretch>
        </p:blipFill>
        <p:spPr>
          <a:xfrm>
            <a:off x="5449824" y="1627632"/>
            <a:ext cx="6190488" cy="4083710"/>
          </a:xfrm>
          <a:prstGeom prst="rect">
            <a:avLst/>
          </a:prstGeom>
        </p:spPr>
      </p:pic>
      <p:sp>
        <p:nvSpPr>
          <p:cNvPr id="16" name="Shape 13"/>
          <p:cNvSpPr/>
          <p:nvPr/>
        </p:nvSpPr>
        <p:spPr>
          <a:xfrm>
            <a:off x="5449824" y="4151376"/>
            <a:ext cx="3977640" cy="1600200"/>
          </a:xfrm>
          <a:prstGeom prst="roundRect">
            <a:avLst>
              <a:gd name="adj" fmla="val 2286"/>
            </a:avLst>
          </a:prstGeom>
          <a:solidFill>
            <a:srgbClr val="1D4370"/>
          </a:solidFill>
          <a:ln/>
        </p:spPr>
      </p:sp>
      <p:sp>
        <p:nvSpPr>
          <p:cNvPr id="17" name="Text 14"/>
          <p:cNvSpPr/>
          <p:nvPr/>
        </p:nvSpPr>
        <p:spPr>
          <a:xfrm>
            <a:off x="5669280" y="4279392"/>
            <a:ext cx="3611880" cy="1371600"/>
          </a:xfrm>
          <a:prstGeom prst="rect">
            <a:avLst/>
          </a:prstGeom>
          <a:noFill/>
          <a:ln/>
        </p:spPr>
        <p:txBody>
          <a:bodyPr wrap="square" lIns="0" tIns="0" rIns="0" bIns="0" rtlCol="0" anchor="ctr"/>
          <a:lstStyle/>
          <a:p>
            <a:pPr indent="0" marL="0">
              <a:lnSpc>
                <a:spcPts val="1550"/>
              </a:lnSpc>
              <a:buNone/>
            </a:pPr>
            <a:r>
              <a:rPr lang="en-US" sz="1200" i="1" dirty="0">
                <a:solidFill>
                  <a:srgbClr val="FFFFFF"/>
                </a:solidFill>
                <a:latin typeface="Arial" pitchFamily="34" charset="0"/>
                <a:ea typeface="Arial" pitchFamily="34" charset="-122"/>
                <a:cs typeface="Arial" pitchFamily="34" charset="-120"/>
              </a:rPr>
              <a:t>Nyamugari (Cankuzo, Buhumuza Province), August 4, 2026 — ground broken on the first agro-energy hub, with Mr. Dadémanao Pissang Tchangaï, FAO Representative in Burundi, Michael Fichtenberg (Gigawatt PURE Power Burundi) and the representative of the Governor of Buhumuza.</a:t>
            </a:r>
            <a:endParaRPr lang="en-US" sz="1200" dirty="0"/>
          </a:p>
        </p:txBody>
      </p:sp>
      <p:sp>
        <p:nvSpPr>
          <p:cNvPr id="18" name="Text 15"/>
          <p:cNvSpPr/>
          <p:nvPr/>
        </p:nvSpPr>
        <p:spPr>
          <a:xfrm>
            <a:off x="10698480" y="6528816"/>
            <a:ext cx="914400" cy="256032"/>
          </a:xfrm>
          <a:prstGeom prst="rect">
            <a:avLst/>
          </a:prstGeom>
          <a:noFill/>
          <a:ln/>
        </p:spPr>
        <p:txBody>
          <a:bodyPr wrap="square" lIns="0" tIns="0" rIns="0" bIns="0" rtlCol="0" anchor="ctr"/>
          <a:lstStyle/>
          <a:p>
            <a:pPr algn="r" indent="0" marL="0">
              <a:buNone/>
            </a:pPr>
            <a:r>
              <a:rPr lang="en-US" sz="900" dirty="0">
                <a:solidFill>
                  <a:srgbClr val="4C6E9E"/>
                </a:solidFill>
                <a:latin typeface="Arial" pitchFamily="34" charset="0"/>
                <a:ea typeface="Arial" pitchFamily="34" charset="-122"/>
                <a:cs typeface="Arial" pitchFamily="34" charset="-120"/>
              </a:rPr>
              <a:t>9 / 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2026-08-05T12:39:51Z</dcterms:created>
  <dcterms:modified xsi:type="dcterms:W3CDTF">2026-08-05T12:39:51Z</dcterms:modified>
</cp:coreProperties>
</file>