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Registre : présentation du programme, pas une proposition. Le thème officiel de l’AAICE en bandeau situe d’emblée le pôle dans le monde de l’audience. La complémentarité s’exprime par la conception, pas par l’adresse directe.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partagé de cette conférence, posé en termes d’infrastructure. Aucune adresse directe à l’audience.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de l’objet : six fonctions réunies en un lieu. Les intitulés décrivent ce que l’infrastructure permet — pas ce que l’audience devrait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crédibilité : énergie en exploitation, agro-industrie en marche, exécution locale en interne. Les faits, sans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registre : humilité sur le métier de l’incubation, clarté sur ce que l’infrastructure apporte, et alignement explicite — une fois — sur le mandat de l’AAIN, l’AASIA et l’Agenda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porte ouverte, sans pression : quatre domaines décrits au conditionnel, le cadre de coopération mentionné une fois, « si utile ». Aucune date, aucune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par l’humilité et le réel : le commencement assumé, la première pierre en preuve, et le credo du groupe en guise de signature. Pas de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a presentation of the program, not a proposal. The official AAICE theme on the bar places the hub inside the audience’s world from the first slide. Complementarity is expressed through design, not direct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diagnosis of this conference, stated in infrastructure terms. No direct address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description of the object: six functions in one place. The labels describe what the infrastructure enables — not what the audience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energy in operation, agro-industry in motion, local execution in-house. The facts,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register: humility about the profession of incubation, clarity about what the infrastructure adds, and explicit alignment — once — with AAIN’s mandate, AASIA and 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door, without pressure: four areas described in the conditional, the cooperation framework mentioned once, “where useful.” No date,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humility and the real: the beginning owned, the first stone as proof, and the group’s credo as the signature. No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4–6 AOÛT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Pôles Agro-Énergétiques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pour la Transformation Rurale</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L’énergie productive, la logistique et l’exploitation de long terme — une infrastructure conçue pour porter les écosystèmes d’incubation et d’accélération agricoles.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 Advancing incubation and acceleration ecosystems for job opportunities in Africa »</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L’incubation s’arrête là où s’arrête le courant</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85 %</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des emplois sont agricoles</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et les agripreneurs sont ruraux, pas urbains</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2 %</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d’électricité en milieu rural</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ni froid, ni transformation, ni prototypage possibles</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37 %</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 la production perdue</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le premier obstacle des agro-entrepreneurs ruraux</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L’essentiel de l’infrastructure d’appui est urbain ; les agripreneurs sont ruraux. Le dernier kilomètre de l’incubation n’est pas un programme — c’est une infrastructure : énergie, froid, eau, connectivité, équipements. Le marché agroalimentaire africain de 1 000 Md$ d’ici 2030 (Banque mondiale) se gagnera là où ces éléments existent.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Le pôle agro-énergétique — ce que nous construisons et opérons</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Chaque pôle réunit, en un même lieu rural :</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Prototyper &amp; transformer</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Parc d’équipements : mouture, décorticage, pressage, séchage, froid</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Démontrer en conditions réelles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Périmètre irrigué, maraîchage, aquaculture — unités de démonstration</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Former &amp; connecter</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Salles de télé-éducation, Starlink, outils d’IA — cursus accrédités</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Rendre lisible</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Données PAYGo, ventes et usages — des activités lisibles par les financeurs</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Relier au marché</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Tricycles électriques, agrégation, chaîne du froid jusqu’au marché</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Accueillir des programmes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Espaces conçus pour l’incubation, la formation et l’appui — ateliers, bureaux, terrain</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Une infrastructure d’intérêt public, opérée dans la durée — le socle matériel des écosystèmes d’incubation.</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 groupe ancré au Burundi — une capacité déjà à l’œuvre</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sites pilotes concédés par le Ministère de l’Énergie — la rampe du déploiement national, avec l’endossement du Ministre et une feuille de route active avec le comité désigné par le Gouvernement.</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NOTRE SOCLE OPÉRATIONNEL — UN SEUL GROUPE, DES CAPACITÉS BURUNDAISES</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Énergie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L’équipe dirigeante et opérationnelle a développé — et continue d’assurer la gestion de — la centrale solaire de Mubuga (7,5 MW), première IPP solaire du pays (CAE de 25 ans, ~20 restants), au sein d’un portefeuille IPP en développement.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Extraction d’huile d’avocat au sein de notre consortium — le gisement de déchets du réseau : ~800 t/jour de résidus alimentent la valorisation énergétique ; biodigesteurs et biogaz pilotes déjà en cours.</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Exécution locale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exploitation, logistique et hydroélectricité portées par les équipes et les capacités industrielles burundaises du groupe.</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Nous faisons ce que nous faisons le mieux — pour que chaque partenaire fasse ce qu’il fait le mieux.</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Une complémentarité naturelle</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Le pôle n’incube pas — il porte. L’incubation et l’accélération sont un métier : méthodologies, mentorat, standards, réseaux. Ce métier appartient aux organisations qui le pratiquent à travers le continent — et que l’AAIN fédère depuis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Ce que le pôle ajoute, c’est le socle matériel qui manque en milieu rural : l’énergie fiable, les équipements de transformation, le froid, la connectivité, la logistique jusqu’au marché, et des données d’usage qui rendent chaque activité lisible par les financeurs.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Cette architecture rejoint le mandat de l’AAIN — « incuber les incubateurs » — et les objectifs de l’AASIA lancé à l’AAICE 2026 : chaque pôle est conçu pour accueillir les programmes des membres du réseau, au Burundi d’abord, puis partout où le modèle se réplique — au service de l’Agenda 2063 et du thème de cette conférence.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Les domaines où cette complémentarité peut s’écrire</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Avec l’AAIN et ses membres, ces complémentarités peuvent, si utile, s’inscrire dans un cadre de coopération — non contraignant, précisé par accords d’exécution.</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Accueil de programmes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Les pôles comme sites ruraux d’accueil pour programmes d’incubation, de formation et d’appui — au Burundi d’abord.</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Cursus &amp; formation</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Adaptation des méthodologies au terrain du pôle ; formation par les deux voies — sur les équipements et par la télé-éducation accréditée.</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Données &amp; apprentissage</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Indicateurs partagés, enseignements documentés — la base d’un modèle réplicable de pôle-incubateur.</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Ressources au niveau plateforme</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Mobilisation conjointe auprès des partenaires de développement et des institutions continentales — hors engagements bilatéraux.</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12064"/>
            <a:ext cx="4617720" cy="1481328"/>
          </a:xfrm>
          <a:prstGeom prst="rect">
            <a:avLst/>
          </a:prstGeom>
          <a:noFill/>
          <a:ln/>
        </p:spPr>
        <p:txBody>
          <a:bodyPr wrap="square" lIns="0" tIns="0" rIns="0" bIns="0" rtlCol="0" anchor="ctr"/>
          <a:lstStyle/>
          <a:p>
            <a:pPr indent="0" marL="0">
              <a:lnSpc>
                <a:spcPts val="3700"/>
              </a:lnSpc>
              <a:buNone/>
            </a:pPr>
            <a:r>
              <a:rPr lang="en-US" sz="3000" b="1" dirty="0">
                <a:solidFill>
                  <a:srgbClr val="FFFFFF"/>
                </a:solidFill>
                <a:latin typeface="Arial" pitchFamily="34" charset="0"/>
                <a:ea typeface="Arial" pitchFamily="34" charset="-122"/>
                <a:cs typeface="Arial" pitchFamily="34" charset="-120"/>
              </a:rPr>
              <a:t>Nous en sommes</a:t>
            </a:r>
            <a:endParaRPr lang="en-US" sz="3000" dirty="0"/>
          </a:p>
          <a:p>
            <a:pPr indent="0" marL="0">
              <a:lnSpc>
                <a:spcPts val="3700"/>
              </a:lnSpc>
              <a:buNone/>
            </a:pPr>
            <a:r>
              <a:rPr lang="en-US" sz="3000" b="1" dirty="0">
                <a:solidFill>
                  <a:srgbClr val="FFFFFF"/>
                </a:solidFill>
                <a:latin typeface="Arial" pitchFamily="34" charset="0"/>
                <a:ea typeface="Arial" pitchFamily="34" charset="-122"/>
                <a:cs typeface="Arial" pitchFamily="34" charset="-120"/>
              </a:rPr>
              <a:t>au commencement —</a:t>
            </a:r>
            <a:endParaRPr lang="en-US" sz="3000" dirty="0"/>
          </a:p>
          <a:p>
            <a:pPr indent="0" marL="0">
              <a:lnSpc>
                <a:spcPts val="3700"/>
              </a:lnSpc>
              <a:buNone/>
            </a:pPr>
            <a:r>
              <a:rPr lang="en-US" sz="3000" b="1" dirty="0">
                <a:solidFill>
                  <a:srgbClr val="FFFFFF"/>
                </a:solidFill>
                <a:latin typeface="Arial" pitchFamily="34" charset="0"/>
                <a:ea typeface="Arial" pitchFamily="34" charset="-122"/>
                <a:cs typeface="Arial" pitchFamily="34" charset="-120"/>
              </a:rPr>
              <a:t>et c’est déjà réel.</a:t>
            </a:r>
            <a:endParaRPr lang="en-US" sz="3000" dirty="0"/>
          </a:p>
        </p:txBody>
      </p:sp>
      <p:sp>
        <p:nvSpPr>
          <p:cNvPr id="3" name="Text 1"/>
          <p:cNvSpPr/>
          <p:nvPr/>
        </p:nvSpPr>
        <p:spPr>
          <a:xfrm>
            <a:off x="566928" y="2194560"/>
            <a:ext cx="4617720" cy="1234440"/>
          </a:xfrm>
          <a:prstGeom prst="rect">
            <a:avLst/>
          </a:prstGeom>
          <a:noFill/>
          <a:ln/>
        </p:spPr>
        <p:txBody>
          <a:bodyPr wrap="square" lIns="0" tIns="0" rIns="0" bIns="0" rtlCol="0" anchor="ctr"/>
          <a:lstStyle/>
          <a:p>
            <a:pPr indent="0" marL="0">
              <a:lnSpc>
                <a:spcPts val="1900"/>
              </a:lnSpc>
              <a:buNone/>
            </a:pPr>
            <a:r>
              <a:rPr lang="en-US" sz="1450" dirty="0">
                <a:solidFill>
                  <a:srgbClr val="C9D8EA"/>
                </a:solidFill>
                <a:latin typeface="Arial" pitchFamily="34" charset="0"/>
                <a:ea typeface="Arial" pitchFamily="34" charset="-122"/>
                <a:cs typeface="Arial" pitchFamily="34" charset="-120"/>
              </a:rPr>
              <a:t>La première pierre a été posée le 4 août à Nyamugari. Ce qui suit — l’incubation, l’accélération, la formation — se construira avec celles et ceux qui en portent le métier à travers le continent.</a:t>
            </a:r>
            <a:endParaRPr lang="en-US" sz="1450" dirty="0"/>
          </a:p>
        </p:txBody>
      </p:sp>
      <p:sp>
        <p:nvSpPr>
          <p:cNvPr id="4" name="Shape 2"/>
          <p:cNvSpPr/>
          <p:nvPr/>
        </p:nvSpPr>
        <p:spPr>
          <a:xfrm>
            <a:off x="566928" y="3712464"/>
            <a:ext cx="4617720" cy="1335024"/>
          </a:xfrm>
          <a:prstGeom prst="roundRect">
            <a:avLst>
              <a:gd name="adj" fmla="val 3425"/>
            </a:avLst>
          </a:prstGeom>
          <a:solidFill>
            <a:srgbClr val="1D4370"/>
          </a:solidFill>
          <a:ln/>
        </p:spPr>
      </p:sp>
      <p:sp>
        <p:nvSpPr>
          <p:cNvPr id="5" name="Text 3"/>
          <p:cNvSpPr/>
          <p:nvPr/>
        </p:nvSpPr>
        <p:spPr>
          <a:xfrm>
            <a:off x="859536" y="3712464"/>
            <a:ext cx="4069080" cy="1335024"/>
          </a:xfrm>
          <a:prstGeom prst="rect">
            <a:avLst/>
          </a:prstGeom>
          <a:noFill/>
          <a:ln/>
        </p:spPr>
        <p:txBody>
          <a:bodyPr wrap="square" lIns="0" tIns="0" rIns="0" bIns="0" rtlCol="0" anchor="ctr"/>
          <a:lstStyle/>
          <a:p>
            <a:pPr indent="0" marL="0">
              <a:lnSpc>
                <a:spcPts val="2050"/>
              </a:lnSpc>
              <a:buNone/>
            </a:pPr>
            <a:r>
              <a:rPr lang="en-US" sz="1550" i="1" dirty="0">
                <a:solidFill>
                  <a:srgbClr val="FFFFFF"/>
                </a:solidFill>
                <a:latin typeface="Arial" pitchFamily="34" charset="0"/>
                <a:ea typeface="Arial" pitchFamily="34" charset="-122"/>
                <a:cs typeface="Arial" pitchFamily="34" charset="-120"/>
              </a:rPr>
              <a:t>« Nous faisons ce que nous faisons le mieux — pour que chaque partenaire fasse ce qu’il fait le mieux. »</a:t>
            </a:r>
            <a:endParaRPr lang="en-US" sz="1550" dirty="0"/>
          </a:p>
        </p:txBody>
      </p:sp>
      <p:sp>
        <p:nvSpPr>
          <p:cNvPr id="6" name="Text 4"/>
          <p:cNvSpPr/>
          <p:nvPr/>
        </p:nvSpPr>
        <p:spPr>
          <a:xfrm>
            <a:off x="566928" y="5358384"/>
            <a:ext cx="4617720" cy="292608"/>
          </a:xfrm>
          <a:prstGeom prst="rect">
            <a:avLst/>
          </a:prstGeom>
          <a:noFill/>
          <a:ln/>
        </p:spPr>
        <p:txBody>
          <a:bodyPr wrap="square" lIns="0" tIns="0" rIns="0" bIns="0" rtlCol="0" anchor="ctr"/>
          <a:lstStyle/>
          <a:p>
            <a:pPr indent="0" marL="0">
              <a:buNone/>
            </a:pPr>
            <a:r>
              <a:rPr lang="en-US" sz="1250" b="1" spc="100" kern="0" dirty="0">
                <a:solidFill>
                  <a:srgbClr val="8FA6C2"/>
                </a:solidFill>
                <a:latin typeface="Arial" pitchFamily="34" charset="0"/>
                <a:ea typeface="Arial" pitchFamily="34" charset="-122"/>
                <a:cs typeface="Arial" pitchFamily="34" charset="-120"/>
              </a:rPr>
              <a:t>FAO · Gigawatt Burundi · PURE Power Program</a:t>
            </a:r>
            <a:endParaRPr lang="en-US" sz="1250" dirty="0"/>
          </a:p>
        </p:txBody>
      </p:sp>
      <p:sp>
        <p:nvSpPr>
          <p:cNvPr id="7" name="Shape 5"/>
          <p:cNvSpPr/>
          <p:nvPr/>
        </p:nvSpPr>
        <p:spPr>
          <a:xfrm>
            <a:off x="5413248" y="512064"/>
            <a:ext cx="6263640" cy="585216"/>
          </a:xfrm>
          <a:prstGeom prst="roundRect">
            <a:avLst>
              <a:gd name="adj" fmla="val 7813"/>
            </a:avLst>
          </a:prstGeom>
          <a:solidFill>
            <a:srgbClr val="B07A1E"/>
          </a:solidFill>
          <a:ln/>
        </p:spPr>
      </p:sp>
      <p:sp>
        <p:nvSpPr>
          <p:cNvPr id="8" name="Text 6"/>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PREMIÈRE PIERRE POSÉE LE 4 AOÛT 2026 — NYAMUGARI, AUX CÔTÉS DE LA FAO</a:t>
            </a:r>
            <a:endParaRPr lang="en-US" sz="1350" dirty="0"/>
          </a:p>
        </p:txBody>
      </p:sp>
      <p:sp>
        <p:nvSpPr>
          <p:cNvPr id="9" name="Shape 7"/>
          <p:cNvSpPr/>
          <p:nvPr/>
        </p:nvSpPr>
        <p:spPr>
          <a:xfrm>
            <a:off x="5413248" y="1591056"/>
            <a:ext cx="6263640" cy="4160520"/>
          </a:xfrm>
          <a:prstGeom prst="rect">
            <a:avLst/>
          </a:prstGeom>
          <a:solidFill>
            <a:srgbClr val="1D4370"/>
          </a:solidFill>
          <a:ln/>
        </p:spPr>
      </p:sp>
      <p:pic>
        <p:nvPicPr>
          <p:cNvPr id="10"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1" name="Shape 8"/>
          <p:cNvSpPr/>
          <p:nvPr/>
        </p:nvSpPr>
        <p:spPr>
          <a:xfrm>
            <a:off x="5449824" y="4151376"/>
            <a:ext cx="3977640" cy="1600200"/>
          </a:xfrm>
          <a:prstGeom prst="roundRect">
            <a:avLst>
              <a:gd name="adj" fmla="val 2286"/>
            </a:avLst>
          </a:prstGeom>
          <a:solidFill>
            <a:srgbClr val="1D4370"/>
          </a:solidFill>
          <a:ln/>
        </p:spPr>
      </p:sp>
      <p:sp>
        <p:nvSpPr>
          <p:cNvPr id="12" name="Text 9"/>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province de Buhumuza), 4 août 2026 — première pierre du premier pôle agro-énergétique, en présence de M. Dadémanao Pissang Tchangaï, Représentant de la FAO au Burundi, de Michael Fichtenberg (Gigawatt PURE Power Burundi) et du représentant du Gouverneur de Buhumuza.</a:t>
            </a:r>
            <a:endParaRPr lang="en-US" sz="1200" dirty="0"/>
          </a:p>
        </p:txBody>
      </p:sp>
      <p:sp>
        <p:nvSpPr>
          <p:cNvPr id="13" name="Text 10"/>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7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AUGUST 4–6,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Agro-Energy Hubs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for Rural Transformation</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Productive energy, logistics and long-term operations — infrastructure designed to carry agricultural incubation and acceleration ecosystems.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“Advancing incubation and acceleration ecosystems for job opportunities in Africa”</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Incubation stops where the power stops</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jobs are in agriculture</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and the agripreneurs are rural, not urban</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rural access to electricity</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no cold chain, no processing, no prototyping</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production is lost</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the first obstacle facing rural agri-entrepreneurs</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Most support infrastructure is urban; the agripreneurs are rural. The last mile of incubation is not a program — it is infrastructure: power, cold, water, connectivity, equipment. Africa’s $1 trillion agrifood market by 2030 (World Bank) will be won where those elements exist.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The agro-energy hub — what we build and operate</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Each hub brings together, in one rural place:</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 &amp; process</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Equipment park: milling, hulling, pressing, drying, cold storage</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Demonstrate in real conditions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Irrigated perimeter, market gardening, aquaculture — demo units</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Train &amp; connect</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Tele-education rooms, Starlink, AI tools — accredited curricula</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Make activity legible</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PAYGo, sales and usage data — activities lenders can read</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Link to market</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Electric three-wheelers, aggregation, cold chain to market</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Host programs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Spaces designed for incubation, training and support — workshops, offices, field</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Public-interest infrastructure, operated for the long term — the physical base of incubation ecosystems.</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group anchored in Burundi — capacity already at work</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pilot sites awarded by the Ministry of Energy — the ramp to national roll-out, with the Minister’s endorsement and an active roadmap with the Government’s appointed committee.</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OUR OPERATING BACKBONE — ONE GROUP, BURUNDIAN CAPACITY</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Energy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The management and operating team developed — and continues to manage — the Mubuga solar plant (7.5 MW), the country’s first solar IPP (25-year PPA, ~20 remaining), within an IPP portfolio in development.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Avocado oil extraction within our consortium — the network’s waste feedstock: ~800 t/day of residues power the waste-to-energy line; pilot bio-digesters and biogas already underway.</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Local execution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operations, logistics and hydropower carried by the group’s own Burundian teams and industrial capacity.</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We do what we do best — so that every partner can do what they do best.</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natural complementarity</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The hub does not incubate — it carries. Incubation and acceleration are a profession: methodologies, mentorship, standards, networks. That profession belongs to the organizations that practice it across the continent — and that AAIN has federated since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What the hub adds is the physical base missing in rural areas: reliable power, processing equipment, cold chain, connectivity, logistics to market, and usage data that make every activity legible to financiers.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This architecture meets AAIN’s mandate — incubating incubators — and the goals of AASIA, launched at AAICE 2026: each hub is designed to host member programs, in Burundi first and wherever the model replicates — in service of Agenda 2063 and of this conference’s theme.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Where this complementarity can be written</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With AAIN and its members, these complementarities can, where useful, be set down in a cooperation framework — non-binding, detailed through implementation agreements.</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Hosting programs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The hubs as rural host sites for incubation, training and support programs — in Burundi first.</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Curricula &amp; training</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Adapting methodologies to the hub environment; training by both routes — on the equipment and through accredited tele-education.</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Data &amp; learning</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Shared indicators and documented lessons — the base of a replicable hub-incubator model.</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Platform-level resources</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Joint mobilization with development partners and continental institutions — outside bilateral commitments.</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12064"/>
            <a:ext cx="4617720" cy="1481328"/>
          </a:xfrm>
          <a:prstGeom prst="rect">
            <a:avLst/>
          </a:prstGeom>
          <a:noFill/>
          <a:ln/>
        </p:spPr>
        <p:txBody>
          <a:bodyPr wrap="square" lIns="0" tIns="0" rIns="0" bIns="0" rtlCol="0" anchor="ctr"/>
          <a:lstStyle/>
          <a:p>
            <a:pPr indent="0" marL="0">
              <a:lnSpc>
                <a:spcPts val="3700"/>
              </a:lnSpc>
              <a:buNone/>
            </a:pPr>
            <a:r>
              <a:rPr lang="en-US" sz="3000" b="1" dirty="0">
                <a:solidFill>
                  <a:srgbClr val="FFFFFF"/>
                </a:solidFill>
                <a:latin typeface="Arial" pitchFamily="34" charset="0"/>
                <a:ea typeface="Arial" pitchFamily="34" charset="-122"/>
                <a:cs typeface="Arial" pitchFamily="34" charset="-120"/>
              </a:rPr>
              <a:t>We are at</a:t>
            </a:r>
            <a:endParaRPr lang="en-US" sz="3000" dirty="0"/>
          </a:p>
          <a:p>
            <a:pPr indent="0" marL="0">
              <a:lnSpc>
                <a:spcPts val="3700"/>
              </a:lnSpc>
              <a:buNone/>
            </a:pPr>
            <a:r>
              <a:rPr lang="en-US" sz="3000" b="1" dirty="0">
                <a:solidFill>
                  <a:srgbClr val="FFFFFF"/>
                </a:solidFill>
                <a:latin typeface="Arial" pitchFamily="34" charset="0"/>
                <a:ea typeface="Arial" pitchFamily="34" charset="-122"/>
                <a:cs typeface="Arial" pitchFamily="34" charset="-120"/>
              </a:rPr>
              <a:t>the beginning —</a:t>
            </a:r>
            <a:endParaRPr lang="en-US" sz="3000" dirty="0"/>
          </a:p>
          <a:p>
            <a:pPr indent="0" marL="0">
              <a:lnSpc>
                <a:spcPts val="3700"/>
              </a:lnSpc>
              <a:buNone/>
            </a:pPr>
            <a:r>
              <a:rPr lang="en-US" sz="3000" b="1" dirty="0">
                <a:solidFill>
                  <a:srgbClr val="FFFFFF"/>
                </a:solidFill>
                <a:latin typeface="Arial" pitchFamily="34" charset="0"/>
                <a:ea typeface="Arial" pitchFamily="34" charset="-122"/>
                <a:cs typeface="Arial" pitchFamily="34" charset="-120"/>
              </a:rPr>
              <a:t>and it is already real.</a:t>
            </a:r>
            <a:endParaRPr lang="en-US" sz="3000" dirty="0"/>
          </a:p>
        </p:txBody>
      </p:sp>
      <p:sp>
        <p:nvSpPr>
          <p:cNvPr id="3" name="Text 1"/>
          <p:cNvSpPr/>
          <p:nvPr/>
        </p:nvSpPr>
        <p:spPr>
          <a:xfrm>
            <a:off x="566928" y="2194560"/>
            <a:ext cx="4617720" cy="1234440"/>
          </a:xfrm>
          <a:prstGeom prst="rect">
            <a:avLst/>
          </a:prstGeom>
          <a:noFill/>
          <a:ln/>
        </p:spPr>
        <p:txBody>
          <a:bodyPr wrap="square" lIns="0" tIns="0" rIns="0" bIns="0" rtlCol="0" anchor="ctr"/>
          <a:lstStyle/>
          <a:p>
            <a:pPr indent="0" marL="0">
              <a:lnSpc>
                <a:spcPts val="1900"/>
              </a:lnSpc>
              <a:buNone/>
            </a:pPr>
            <a:r>
              <a:rPr lang="en-US" sz="1450" dirty="0">
                <a:solidFill>
                  <a:srgbClr val="C9D8EA"/>
                </a:solidFill>
                <a:latin typeface="Arial" pitchFamily="34" charset="0"/>
                <a:ea typeface="Arial" pitchFamily="34" charset="-122"/>
                <a:cs typeface="Arial" pitchFamily="34" charset="-120"/>
              </a:rPr>
              <a:t>Ground was broken on August 4 at Nyamugari. What follows — incubation, acceleration, training — will be built with those who carry that profession across the continent.</a:t>
            </a:r>
            <a:endParaRPr lang="en-US" sz="1450" dirty="0"/>
          </a:p>
        </p:txBody>
      </p:sp>
      <p:sp>
        <p:nvSpPr>
          <p:cNvPr id="4" name="Shape 2"/>
          <p:cNvSpPr/>
          <p:nvPr/>
        </p:nvSpPr>
        <p:spPr>
          <a:xfrm>
            <a:off x="566928" y="3712464"/>
            <a:ext cx="4617720" cy="1335024"/>
          </a:xfrm>
          <a:prstGeom prst="roundRect">
            <a:avLst>
              <a:gd name="adj" fmla="val 3425"/>
            </a:avLst>
          </a:prstGeom>
          <a:solidFill>
            <a:srgbClr val="1D4370"/>
          </a:solidFill>
          <a:ln/>
        </p:spPr>
      </p:sp>
      <p:sp>
        <p:nvSpPr>
          <p:cNvPr id="5" name="Text 3"/>
          <p:cNvSpPr/>
          <p:nvPr/>
        </p:nvSpPr>
        <p:spPr>
          <a:xfrm>
            <a:off x="859536" y="3712464"/>
            <a:ext cx="4069080" cy="1335024"/>
          </a:xfrm>
          <a:prstGeom prst="rect">
            <a:avLst/>
          </a:prstGeom>
          <a:noFill/>
          <a:ln/>
        </p:spPr>
        <p:txBody>
          <a:bodyPr wrap="square" lIns="0" tIns="0" rIns="0" bIns="0" rtlCol="0" anchor="ctr"/>
          <a:lstStyle/>
          <a:p>
            <a:pPr indent="0" marL="0">
              <a:lnSpc>
                <a:spcPts val="2050"/>
              </a:lnSpc>
              <a:buNone/>
            </a:pPr>
            <a:r>
              <a:rPr lang="en-US" sz="1550" i="1" dirty="0">
                <a:solidFill>
                  <a:srgbClr val="FFFFFF"/>
                </a:solidFill>
                <a:latin typeface="Arial" pitchFamily="34" charset="0"/>
                <a:ea typeface="Arial" pitchFamily="34" charset="-122"/>
                <a:cs typeface="Arial" pitchFamily="34" charset="-120"/>
              </a:rPr>
              <a:t>“We do what we do best — so that every partner can do what they do best.”</a:t>
            </a:r>
            <a:endParaRPr lang="en-US" sz="1550" dirty="0"/>
          </a:p>
        </p:txBody>
      </p:sp>
      <p:sp>
        <p:nvSpPr>
          <p:cNvPr id="6" name="Text 4"/>
          <p:cNvSpPr/>
          <p:nvPr/>
        </p:nvSpPr>
        <p:spPr>
          <a:xfrm>
            <a:off x="566928" y="5358384"/>
            <a:ext cx="4617720" cy="292608"/>
          </a:xfrm>
          <a:prstGeom prst="rect">
            <a:avLst/>
          </a:prstGeom>
          <a:noFill/>
          <a:ln/>
        </p:spPr>
        <p:txBody>
          <a:bodyPr wrap="square" lIns="0" tIns="0" rIns="0" bIns="0" rtlCol="0" anchor="ctr"/>
          <a:lstStyle/>
          <a:p>
            <a:pPr indent="0" marL="0">
              <a:buNone/>
            </a:pPr>
            <a:r>
              <a:rPr lang="en-US" sz="1250" b="1" spc="100" kern="0" dirty="0">
                <a:solidFill>
                  <a:srgbClr val="8FA6C2"/>
                </a:solidFill>
                <a:latin typeface="Arial" pitchFamily="34" charset="0"/>
                <a:ea typeface="Arial" pitchFamily="34" charset="-122"/>
                <a:cs typeface="Arial" pitchFamily="34" charset="-120"/>
              </a:rPr>
              <a:t>FAO · Gigawatt Burundi · PURE Power Program</a:t>
            </a:r>
            <a:endParaRPr lang="en-US" sz="1250" dirty="0"/>
          </a:p>
        </p:txBody>
      </p:sp>
      <p:sp>
        <p:nvSpPr>
          <p:cNvPr id="7" name="Shape 5"/>
          <p:cNvSpPr/>
          <p:nvPr/>
        </p:nvSpPr>
        <p:spPr>
          <a:xfrm>
            <a:off x="5413248" y="512064"/>
            <a:ext cx="6263640" cy="585216"/>
          </a:xfrm>
          <a:prstGeom prst="roundRect">
            <a:avLst>
              <a:gd name="adj" fmla="val 7813"/>
            </a:avLst>
          </a:prstGeom>
          <a:solidFill>
            <a:srgbClr val="B07A1E"/>
          </a:solidFill>
          <a:ln/>
        </p:spPr>
      </p:sp>
      <p:sp>
        <p:nvSpPr>
          <p:cNvPr id="8" name="Text 6"/>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GROUND BROKEN ON AUGUST 4, 2026 — NYAMUGARI, ALONGSIDE FAO</a:t>
            </a:r>
            <a:endParaRPr lang="en-US" sz="1350" dirty="0"/>
          </a:p>
        </p:txBody>
      </p:sp>
      <p:sp>
        <p:nvSpPr>
          <p:cNvPr id="9" name="Shape 7"/>
          <p:cNvSpPr/>
          <p:nvPr/>
        </p:nvSpPr>
        <p:spPr>
          <a:xfrm>
            <a:off x="5413248" y="1591056"/>
            <a:ext cx="6263640" cy="4160520"/>
          </a:xfrm>
          <a:prstGeom prst="rect">
            <a:avLst/>
          </a:prstGeom>
          <a:solidFill>
            <a:srgbClr val="1D4370"/>
          </a:solidFill>
          <a:ln/>
        </p:spPr>
      </p:sp>
      <p:pic>
        <p:nvPicPr>
          <p:cNvPr id="10"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1" name="Shape 8"/>
          <p:cNvSpPr/>
          <p:nvPr/>
        </p:nvSpPr>
        <p:spPr>
          <a:xfrm>
            <a:off x="5449824" y="4151376"/>
            <a:ext cx="3977640" cy="1600200"/>
          </a:xfrm>
          <a:prstGeom prst="roundRect">
            <a:avLst>
              <a:gd name="adj" fmla="val 2286"/>
            </a:avLst>
          </a:prstGeom>
          <a:solidFill>
            <a:srgbClr val="1D4370"/>
          </a:solidFill>
          <a:ln/>
        </p:spPr>
      </p:sp>
      <p:sp>
        <p:nvSpPr>
          <p:cNvPr id="12" name="Text 9"/>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Buhumuza Province), August 4, 2026 — ground broken on the first agro-energy hub, with Mr. Dadémanao Pissang Tchangaï, FAO Representative in Burundi, Michael Fichtenberg (Gigawatt PURE Power Burundi) and the representative of the Governor of Buhumuza.</a:t>
            </a:r>
            <a:endParaRPr lang="en-US" sz="1200" dirty="0"/>
          </a:p>
        </p:txBody>
      </p:sp>
      <p:sp>
        <p:nvSpPr>
          <p:cNvPr id="13" name="Text 10"/>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2026-08-05T01:28:44Z</dcterms:created>
  <dcterms:modified xsi:type="dcterms:W3CDTF">2026-08-05T01:28:44Z</dcterms:modified>
</cp:coreProperties>
</file>