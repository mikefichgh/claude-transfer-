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15D"/>
        </a:solidFill>
      </p:bgPr>
    </p:bg>
    <p:spTree>
      <p:nvGrpSpPr>
        <p:cNvPr id="1" name=""/>
        <p:cNvGrpSpPr/>
        <p:nvPr/>
      </p:nvGrpSpPr>
      <p:grpSpPr>
        <a:xfrm>
          <a:off x="0" y="0"/>
          <a:ext cx="0" cy="0"/>
          <a:chOff x="0" y="0"/>
          <a:chExt cx="0" cy="0"/>
        </a:xfrm>
      </p:grpSpPr>
      <p:sp>
        <p:nvSpPr>
          <p:cNvPr id="2" name="Text 0"/>
          <p:cNvSpPr/>
          <p:nvPr/>
        </p:nvSpPr>
        <p:spPr>
          <a:xfrm>
            <a:off x="548640" y="502920"/>
            <a:ext cx="7360920" cy="1188720"/>
          </a:xfrm>
          <a:prstGeom prst="rect">
            <a:avLst/>
          </a:prstGeom>
          <a:noFill/>
          <a:ln/>
        </p:spPr>
        <p:txBody>
          <a:bodyPr wrap="none" lIns="0" tIns="0" rIns="0" bIns="0" rtlCol="0" anchor="ctr"/>
          <a:lstStyle/>
          <a:p>
            <a:pPr algn="l" indent="0" marL="0">
              <a:buNone/>
            </a:pPr>
            <a:r>
              <a:rPr lang="en-US" sz="7600" b="1" dirty="0">
                <a:solidFill>
                  <a:srgbClr val="FFFFFF"/>
                </a:solidFill>
                <a:latin typeface="Arial Black" pitchFamily="34" charset="0"/>
                <a:ea typeface="Arial Black" pitchFamily="34" charset="-122"/>
                <a:cs typeface="Arial Black" pitchFamily="34" charset="-120"/>
              </a:rPr>
              <a:t>PURE POWER</a:t>
            </a:r>
            <a:endParaRPr lang="en-US" sz="7600" dirty="0"/>
          </a:p>
        </p:txBody>
      </p:sp>
      <p:sp>
        <p:nvSpPr>
          <p:cNvPr id="3" name="Text 1"/>
          <p:cNvSpPr/>
          <p:nvPr/>
        </p:nvSpPr>
        <p:spPr>
          <a:xfrm>
            <a:off x="548640" y="1536192"/>
            <a:ext cx="7360920" cy="1965960"/>
          </a:xfrm>
          <a:prstGeom prst="rect">
            <a:avLst/>
          </a:prstGeom>
          <a:noFill/>
          <a:ln/>
        </p:spPr>
        <p:txBody>
          <a:bodyPr wrap="none" lIns="0" tIns="0" rIns="0" bIns="0" rtlCol="0" anchor="ctr"/>
          <a:lstStyle/>
          <a:p>
            <a:pPr algn="l" indent="0" marL="0">
              <a:buNone/>
            </a:pPr>
            <a:r>
              <a:rPr lang="en-US" sz="13700" b="1" dirty="0">
                <a:solidFill>
                  <a:srgbClr val="B07B1F"/>
                </a:solidFill>
                <a:latin typeface="Arial Black" pitchFamily="34" charset="0"/>
                <a:ea typeface="Arial Black" pitchFamily="34" charset="-122"/>
                <a:cs typeface="Arial Black" pitchFamily="34" charset="-120"/>
              </a:rPr>
              <a:t>AFRICA</a:t>
            </a:r>
            <a:endParaRPr lang="en-US" sz="13700" dirty="0"/>
          </a:p>
        </p:txBody>
      </p:sp>
      <p:sp>
        <p:nvSpPr>
          <p:cNvPr id="4" name="Text 2"/>
          <p:cNvSpPr/>
          <p:nvPr/>
        </p:nvSpPr>
        <p:spPr>
          <a:xfrm>
            <a:off x="548640" y="3520440"/>
            <a:ext cx="5943600" cy="457200"/>
          </a:xfrm>
          <a:prstGeom prst="rect">
            <a:avLst/>
          </a:prstGeom>
          <a:noFill/>
          <a:ln/>
        </p:spPr>
        <p:txBody>
          <a:bodyPr wrap="none" lIns="0" tIns="0" rIns="0" bIns="0" rtlCol="0" anchor="ctr"/>
          <a:lstStyle/>
          <a:p>
            <a:pPr algn="l" indent="0" marL="0">
              <a:buNone/>
            </a:pPr>
            <a:r>
              <a:rPr lang="en-US" sz="2200" i="1" dirty="0">
                <a:solidFill>
                  <a:srgbClr val="B6D0E1"/>
                </a:solidFill>
                <a:latin typeface="Cambria" pitchFamily="34" charset="0"/>
                <a:ea typeface="Cambria" pitchFamily="34" charset="-122"/>
                <a:cs typeface="Cambria" pitchFamily="34" charset="-120"/>
              </a:rPr>
              <a:t>Productive Uses of Renewable Energy</a:t>
            </a:r>
            <a:endParaRPr lang="en-US" sz="2200" dirty="0"/>
          </a:p>
        </p:txBody>
      </p:sp>
      <p:pic>
        <p:nvPicPr>
          <p:cNvPr id="5" name="Image 0" descr="assets/motif_title.png">    </p:cNvPr>
          <p:cNvPicPr>
            <a:picLocks noChangeAspect="1"/>
          </p:cNvPicPr>
          <p:nvPr/>
        </p:nvPicPr>
        <p:blipFill>
          <a:blip r:embed="rId1"/>
          <a:stretch>
            <a:fillRect/>
          </a:stretch>
        </p:blipFill>
        <p:spPr>
          <a:xfrm>
            <a:off x="7726680" y="1188720"/>
            <a:ext cx="4206240" cy="4206240"/>
          </a:xfrm>
          <a:prstGeom prst="rect">
            <a:avLst/>
          </a:prstGeom>
        </p:spPr>
      </p:pic>
      <p:sp>
        <p:nvSpPr>
          <p:cNvPr id="6" name="Text 3"/>
          <p:cNvSpPr/>
          <p:nvPr/>
        </p:nvSpPr>
        <p:spPr>
          <a:xfrm>
            <a:off x="548640" y="4160520"/>
            <a:ext cx="6949440" cy="1005840"/>
          </a:xfrm>
          <a:prstGeom prst="rect">
            <a:avLst/>
          </a:prstGeom>
          <a:noFill/>
          <a:ln/>
        </p:spPr>
        <p:txBody>
          <a:bodyPr wrap="square" lIns="0" tIns="0" rIns="0" bIns="0" rtlCol="0" anchor="ctr"/>
          <a:lstStyle/>
          <a:p>
            <a:pPr indent="0" marL="0">
              <a:lnSpc>
                <a:spcPct val="110000"/>
              </a:lnSpc>
              <a:buNone/>
            </a:pPr>
            <a:r>
              <a:rPr lang="en-US" sz="2400" dirty="0">
                <a:solidFill>
                  <a:srgbClr val="FFFFFF"/>
                </a:solidFill>
                <a:latin typeface="Calibri" pitchFamily="34" charset="0"/>
                <a:ea typeface="Calibri" pitchFamily="34" charset="-122"/>
                <a:cs typeface="Calibri" pitchFamily="34" charset="-120"/>
              </a:rPr>
              <a:t>The continental agro-energy hub platform – powering Africa’s last mile through Africa’s own institutions.</a:t>
            </a:r>
            <a:endParaRPr lang="en-US" sz="2400" dirty="0"/>
          </a:p>
        </p:txBody>
      </p:sp>
      <p:sp>
        <p:nvSpPr>
          <p:cNvPr id="7" name="Text 4"/>
          <p:cNvSpPr/>
          <p:nvPr/>
        </p:nvSpPr>
        <p:spPr>
          <a:xfrm>
            <a:off x="548640" y="5349240"/>
            <a:ext cx="6949440" cy="548640"/>
          </a:xfrm>
          <a:prstGeom prst="rect">
            <a:avLst/>
          </a:prstGeom>
          <a:noFill/>
          <a:ln/>
        </p:spPr>
        <p:txBody>
          <a:bodyPr wrap="square" lIns="0" tIns="0" rIns="0" bIns="0" rtlCol="0" anchor="ctr"/>
          <a:lstStyle/>
          <a:p>
            <a:pPr indent="0" marL="0">
              <a:lnSpc>
                <a:spcPct val="105000"/>
              </a:lnSpc>
              <a:buNone/>
            </a:pPr>
            <a:r>
              <a:rPr lang="en-US" sz="1600" dirty="0">
                <a:solidFill>
                  <a:srgbClr val="B6D0E1"/>
                </a:solidFill>
                <a:latin typeface="Calibri" pitchFamily="34" charset="0"/>
                <a:ea typeface="Calibri" pitchFamily="34" charset="-122"/>
                <a:cs typeface="Calibri" pitchFamily="34" charset="-120"/>
              </a:rPr>
              <a:t>Led by a proven development team – first to market in renewable energy across several African markets.</a:t>
            </a:r>
            <a:endParaRPr lang="en-US" sz="1600" dirty="0"/>
          </a:p>
        </p:txBody>
      </p:sp>
      <p:sp>
        <p:nvSpPr>
          <p:cNvPr id="8" name="Text 5"/>
          <p:cNvSpPr/>
          <p:nvPr/>
        </p:nvSpPr>
        <p:spPr>
          <a:xfrm>
            <a:off x="548640" y="5943600"/>
            <a:ext cx="4572000" cy="365760"/>
          </a:xfrm>
          <a:prstGeom prst="rect">
            <a:avLst/>
          </a:prstGeom>
          <a:noFill/>
          <a:ln/>
        </p:spPr>
        <p:txBody>
          <a:bodyPr wrap="square" lIns="0" tIns="0" rIns="0" bIns="0" rtlCol="0" anchor="ctr"/>
          <a:lstStyle/>
          <a:p>
            <a:pPr indent="0" marL="0">
              <a:buNone/>
            </a:pPr>
            <a:r>
              <a:rPr lang="en-US" sz="1400" dirty="0">
                <a:solidFill>
                  <a:srgbClr val="B6D0E1"/>
                </a:solidFill>
                <a:latin typeface="Calibri" pitchFamily="34" charset="0"/>
                <a:ea typeface="Calibri" pitchFamily="34" charset="-122"/>
                <a:cs typeface="Calibri" pitchFamily="34" charset="-120"/>
              </a:rPr>
              <a:t>Concept teaser · August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685800"/>
          </a:xfrm>
          <a:prstGeom prst="rect">
            <a:avLst/>
          </a:prstGeom>
          <a:noFill/>
          <a:ln/>
        </p:spPr>
        <p:txBody>
          <a:bodyPr wrap="none" lIns="0" tIns="0" rIns="0" bIns="0" rtlCol="0" anchor="ctr"/>
          <a:lstStyle/>
          <a:p>
            <a:pPr indent="0" marL="0">
              <a:buNone/>
            </a:pPr>
            <a:r>
              <a:rPr lang="en-US" sz="3100" b="1" dirty="0">
                <a:solidFill>
                  <a:srgbClr val="14315D"/>
                </a:solidFill>
                <a:latin typeface="Arial Black" pitchFamily="34" charset="0"/>
                <a:ea typeface="Arial Black" pitchFamily="34" charset="-122"/>
                <a:cs typeface="Arial Black" pitchFamily="34" charset="-120"/>
              </a:rPr>
              <a:t>Africa’s last mile is not a technology problem.</a:t>
            </a:r>
            <a:endParaRPr lang="en-US" sz="3100" dirty="0"/>
          </a:p>
        </p:txBody>
      </p:sp>
      <p:sp>
        <p:nvSpPr>
          <p:cNvPr id="3" name="Text 1"/>
          <p:cNvSpPr/>
          <p:nvPr/>
        </p:nvSpPr>
        <p:spPr>
          <a:xfrm>
            <a:off x="548640" y="1143000"/>
            <a:ext cx="11064240" cy="685800"/>
          </a:xfrm>
          <a:prstGeom prst="rect">
            <a:avLst/>
          </a:prstGeom>
          <a:noFill/>
          <a:ln/>
        </p:spPr>
        <p:txBody>
          <a:bodyPr wrap="none" lIns="0" tIns="0" rIns="0" bIns="0" rtlCol="0" anchor="ctr"/>
          <a:lstStyle/>
          <a:p>
            <a:pPr indent="0" marL="0">
              <a:buNone/>
            </a:pPr>
            <a:r>
              <a:rPr lang="en-US" sz="3100" b="1" dirty="0">
                <a:solidFill>
                  <a:srgbClr val="B07B1F"/>
                </a:solidFill>
                <a:latin typeface="Arial Black" pitchFamily="34" charset="0"/>
                <a:ea typeface="Arial Black" pitchFamily="34" charset="-122"/>
                <a:cs typeface="Arial Black" pitchFamily="34" charset="-120"/>
              </a:rPr>
              <a:t>It is organization. Management. Logistics.</a:t>
            </a:r>
            <a:endParaRPr lang="en-US" sz="3100" dirty="0"/>
          </a:p>
        </p:txBody>
      </p:sp>
      <p:sp>
        <p:nvSpPr>
          <p:cNvPr id="4" name="Shape 2"/>
          <p:cNvSpPr/>
          <p:nvPr/>
        </p:nvSpPr>
        <p:spPr>
          <a:xfrm>
            <a:off x="548640" y="2240280"/>
            <a:ext cx="3593592" cy="3017520"/>
          </a:xfrm>
          <a:prstGeom prst="roundRect">
            <a:avLst>
              <a:gd name="adj" fmla="val 2424"/>
            </a:avLst>
          </a:prstGeom>
          <a:solidFill>
            <a:srgbClr val="EDF1F6"/>
          </a:solidFill>
          <a:ln/>
        </p:spPr>
      </p:sp>
      <p:pic>
        <p:nvPicPr>
          <p:cNvPr id="5" name="Image 0" descr="assets/icon_bolt_gold.png">    </p:cNvPr>
          <p:cNvPicPr>
            <a:picLocks noChangeAspect="1"/>
          </p:cNvPicPr>
          <p:nvPr/>
        </p:nvPicPr>
        <p:blipFill>
          <a:blip r:embed="rId1"/>
          <a:stretch>
            <a:fillRect/>
          </a:stretch>
        </p:blipFill>
        <p:spPr>
          <a:xfrm>
            <a:off x="868680" y="2532888"/>
            <a:ext cx="603504" cy="603504"/>
          </a:xfrm>
          <a:prstGeom prst="rect">
            <a:avLst/>
          </a:prstGeom>
        </p:spPr>
      </p:pic>
      <p:sp>
        <p:nvSpPr>
          <p:cNvPr id="6" name="Text 3"/>
          <p:cNvSpPr/>
          <p:nvPr/>
        </p:nvSpPr>
        <p:spPr>
          <a:xfrm>
            <a:off x="868680" y="3227832"/>
            <a:ext cx="2953512" cy="777240"/>
          </a:xfrm>
          <a:prstGeom prst="rect">
            <a:avLst/>
          </a:prstGeom>
          <a:noFill/>
          <a:ln/>
        </p:spPr>
        <p:txBody>
          <a:bodyPr wrap="square" lIns="0" tIns="0" rIns="0" bIns="0" rtlCol="0" anchor="t"/>
          <a:lstStyle/>
          <a:p>
            <a:pPr indent="0" marL="0">
              <a:buNone/>
            </a:pPr>
            <a:r>
              <a:rPr lang="en-US" sz="3400" b="1" dirty="0">
                <a:solidFill>
                  <a:srgbClr val="14315D"/>
                </a:solidFill>
                <a:latin typeface="Arial Black" pitchFamily="34" charset="0"/>
                <a:ea typeface="Arial Black" pitchFamily="34" charset="-122"/>
                <a:cs typeface="Arial Black" pitchFamily="34" charset="-120"/>
              </a:rPr>
              <a:t>600M</a:t>
            </a:r>
            <a:endParaRPr lang="en-US" sz="3400" dirty="0"/>
          </a:p>
        </p:txBody>
      </p:sp>
      <p:sp>
        <p:nvSpPr>
          <p:cNvPr id="7" name="Text 4"/>
          <p:cNvSpPr/>
          <p:nvPr/>
        </p:nvSpPr>
        <p:spPr>
          <a:xfrm>
            <a:off x="868680" y="4050792"/>
            <a:ext cx="2953512" cy="1143000"/>
          </a:xfrm>
          <a:prstGeom prst="rect">
            <a:avLst/>
          </a:prstGeom>
          <a:noFill/>
          <a:ln/>
        </p:spPr>
        <p:txBody>
          <a:bodyPr wrap="square" lIns="0" tIns="0" rIns="0" bIns="0" rtlCol="0" anchor="ctr"/>
          <a:lstStyle/>
          <a:p>
            <a:pPr indent="0" marL="0">
              <a:lnSpc>
                <a:spcPct val="104000"/>
              </a:lnSpc>
              <a:buNone/>
            </a:pPr>
            <a:r>
              <a:rPr lang="en-US" sz="1500" dirty="0">
                <a:solidFill>
                  <a:srgbClr val="333333"/>
                </a:solidFill>
                <a:latin typeface="Calibri" pitchFamily="34" charset="0"/>
                <a:ea typeface="Calibri" pitchFamily="34" charset="-122"/>
                <a:cs typeface="Calibri" pitchFamily="34" charset="-120"/>
              </a:rPr>
              <a:t>Africans still live without electricity – the overwhelming majority in rural, agricultural communities beyond the grid.</a:t>
            </a:r>
            <a:endParaRPr lang="en-US" sz="1500" dirty="0"/>
          </a:p>
        </p:txBody>
      </p:sp>
      <p:sp>
        <p:nvSpPr>
          <p:cNvPr id="8" name="Shape 5"/>
          <p:cNvSpPr/>
          <p:nvPr/>
        </p:nvSpPr>
        <p:spPr>
          <a:xfrm>
            <a:off x="4297680" y="2240280"/>
            <a:ext cx="3593592" cy="3017520"/>
          </a:xfrm>
          <a:prstGeom prst="roundRect">
            <a:avLst>
              <a:gd name="adj" fmla="val 2424"/>
            </a:avLst>
          </a:prstGeom>
          <a:solidFill>
            <a:srgbClr val="EDF1F6"/>
          </a:solidFill>
          <a:ln/>
        </p:spPr>
      </p:sp>
      <p:pic>
        <p:nvPicPr>
          <p:cNvPr id="9" name="Image 1" descr="assets/icon_globe.png">    </p:cNvPr>
          <p:cNvPicPr>
            <a:picLocks noChangeAspect="1"/>
          </p:cNvPicPr>
          <p:nvPr/>
        </p:nvPicPr>
        <p:blipFill>
          <a:blip r:embed="rId2"/>
          <a:stretch>
            <a:fillRect/>
          </a:stretch>
        </p:blipFill>
        <p:spPr>
          <a:xfrm>
            <a:off x="4617720" y="2532888"/>
            <a:ext cx="603504" cy="603504"/>
          </a:xfrm>
          <a:prstGeom prst="rect">
            <a:avLst/>
          </a:prstGeom>
        </p:spPr>
      </p:pic>
      <p:sp>
        <p:nvSpPr>
          <p:cNvPr id="10" name="Text 6"/>
          <p:cNvSpPr/>
          <p:nvPr/>
        </p:nvSpPr>
        <p:spPr>
          <a:xfrm>
            <a:off x="4617720" y="3227832"/>
            <a:ext cx="2953512" cy="777240"/>
          </a:xfrm>
          <a:prstGeom prst="rect">
            <a:avLst/>
          </a:prstGeom>
          <a:noFill/>
          <a:ln/>
        </p:spPr>
        <p:txBody>
          <a:bodyPr wrap="square" lIns="0" tIns="0" rIns="0" bIns="0" rtlCol="0" anchor="t"/>
          <a:lstStyle/>
          <a:p>
            <a:pPr indent="0" marL="0">
              <a:buNone/>
            </a:pPr>
            <a:r>
              <a:rPr lang="en-US" sz="2200" b="1" dirty="0">
                <a:solidFill>
                  <a:srgbClr val="14315D"/>
                </a:solidFill>
                <a:latin typeface="Arial Black" pitchFamily="34" charset="0"/>
                <a:ea typeface="Arial Black" pitchFamily="34" charset="-122"/>
                <a:cs typeface="Arial Black" pitchFamily="34" charset="-120"/>
              </a:rPr>
              <a:t>A thousand programs</a:t>
            </a:r>
            <a:endParaRPr lang="en-US" sz="2200" dirty="0"/>
          </a:p>
        </p:txBody>
      </p:sp>
      <p:sp>
        <p:nvSpPr>
          <p:cNvPr id="11" name="Text 7"/>
          <p:cNvSpPr/>
          <p:nvPr/>
        </p:nvSpPr>
        <p:spPr>
          <a:xfrm>
            <a:off x="4617720" y="4050792"/>
            <a:ext cx="2953512" cy="1143000"/>
          </a:xfrm>
          <a:prstGeom prst="rect">
            <a:avLst/>
          </a:prstGeom>
          <a:noFill/>
          <a:ln/>
        </p:spPr>
        <p:txBody>
          <a:bodyPr wrap="square" lIns="0" tIns="0" rIns="0" bIns="0" rtlCol="0" anchor="ctr"/>
          <a:lstStyle/>
          <a:p>
            <a:pPr indent="0" marL="0">
              <a:lnSpc>
                <a:spcPct val="104000"/>
              </a:lnSpc>
              <a:buNone/>
            </a:pPr>
            <a:r>
              <a:rPr lang="en-US" sz="1500" dirty="0">
                <a:solidFill>
                  <a:srgbClr val="333333"/>
                </a:solidFill>
                <a:latin typeface="Calibri" pitchFamily="34" charset="0"/>
                <a:ea typeface="Calibri" pitchFamily="34" charset="-122"/>
                <a:cs typeface="Calibri" pitchFamily="34" charset="-120"/>
              </a:rPr>
              <a:t>Solar home systems, clean cookstoves, health, education – deployed as separate single-purpose programs, each carrying its own overhead, most ending at handover.</a:t>
            </a:r>
            <a:endParaRPr lang="en-US" sz="1500" dirty="0"/>
          </a:p>
        </p:txBody>
      </p:sp>
      <p:sp>
        <p:nvSpPr>
          <p:cNvPr id="12" name="Shape 8"/>
          <p:cNvSpPr/>
          <p:nvPr/>
        </p:nvSpPr>
        <p:spPr>
          <a:xfrm>
            <a:off x="8046720" y="2240280"/>
            <a:ext cx="3593592" cy="3017520"/>
          </a:xfrm>
          <a:prstGeom prst="roundRect">
            <a:avLst>
              <a:gd name="adj" fmla="val 2424"/>
            </a:avLst>
          </a:prstGeom>
          <a:solidFill>
            <a:srgbClr val="EDF1F6"/>
          </a:solidFill>
          <a:ln/>
        </p:spPr>
      </p:sp>
      <p:pic>
        <p:nvPicPr>
          <p:cNvPr id="13" name="Image 2" descr="assets/icon_handshake.png">    </p:cNvPr>
          <p:cNvPicPr>
            <a:picLocks noChangeAspect="1"/>
          </p:cNvPicPr>
          <p:nvPr/>
        </p:nvPicPr>
        <p:blipFill>
          <a:blip r:embed="rId3"/>
          <a:stretch>
            <a:fillRect/>
          </a:stretch>
        </p:blipFill>
        <p:spPr>
          <a:xfrm>
            <a:off x="8366760" y="2532888"/>
            <a:ext cx="603504" cy="603504"/>
          </a:xfrm>
          <a:prstGeom prst="rect">
            <a:avLst/>
          </a:prstGeom>
        </p:spPr>
      </p:pic>
      <p:sp>
        <p:nvSpPr>
          <p:cNvPr id="14" name="Text 9"/>
          <p:cNvSpPr/>
          <p:nvPr/>
        </p:nvSpPr>
        <p:spPr>
          <a:xfrm>
            <a:off x="8366760" y="3227832"/>
            <a:ext cx="2953512" cy="777240"/>
          </a:xfrm>
          <a:prstGeom prst="rect">
            <a:avLst/>
          </a:prstGeom>
          <a:noFill/>
          <a:ln/>
        </p:spPr>
        <p:txBody>
          <a:bodyPr wrap="square" lIns="0" tIns="0" rIns="0" bIns="0" rtlCol="0" anchor="t"/>
          <a:lstStyle/>
          <a:p>
            <a:pPr indent="0" marL="0">
              <a:buNone/>
            </a:pPr>
            <a:r>
              <a:rPr lang="en-US" sz="2200" b="1" dirty="0">
                <a:solidFill>
                  <a:srgbClr val="14315D"/>
                </a:solidFill>
                <a:latin typeface="Arial Black" pitchFamily="34" charset="0"/>
                <a:ea typeface="Arial Black" pitchFamily="34" charset="-122"/>
                <a:cs typeface="Arial Black" pitchFamily="34" charset="-120"/>
              </a:rPr>
              <a:t>Overhead &amp; aftercare</a:t>
            </a:r>
            <a:endParaRPr lang="en-US" sz="2200" dirty="0"/>
          </a:p>
        </p:txBody>
      </p:sp>
      <p:sp>
        <p:nvSpPr>
          <p:cNvPr id="15" name="Text 10"/>
          <p:cNvSpPr/>
          <p:nvPr/>
        </p:nvSpPr>
        <p:spPr>
          <a:xfrm>
            <a:off x="8366760" y="4050792"/>
            <a:ext cx="2953512" cy="1143000"/>
          </a:xfrm>
          <a:prstGeom prst="rect">
            <a:avLst/>
          </a:prstGeom>
          <a:noFill/>
          <a:ln/>
        </p:spPr>
        <p:txBody>
          <a:bodyPr wrap="square" lIns="0" tIns="0" rIns="0" bIns="0" rtlCol="0" anchor="ctr"/>
          <a:lstStyle/>
          <a:p>
            <a:pPr indent="0" marL="0">
              <a:lnSpc>
                <a:spcPct val="104000"/>
              </a:lnSpc>
              <a:buNone/>
            </a:pPr>
            <a:r>
              <a:rPr lang="en-US" sz="1500" dirty="0">
                <a:solidFill>
                  <a:srgbClr val="333333"/>
                </a:solidFill>
                <a:latin typeface="Calibri" pitchFamily="34" charset="0"/>
                <a:ea typeface="Calibri" pitchFamily="34" charset="-122"/>
                <a:cs typeface="Calibri" pitchFamily="34" charset="-120"/>
              </a:rPr>
              <a:t>Fixed overhead spread over small loads is what has always killed rural energy – and decades-long aftercare is what decides whether systems still run.</a:t>
            </a:r>
            <a:endParaRPr lang="en-US" sz="1500" dirty="0"/>
          </a:p>
        </p:txBody>
      </p:sp>
      <p:sp>
        <p:nvSpPr>
          <p:cNvPr id="16" name="Text 11"/>
          <p:cNvSpPr/>
          <p:nvPr/>
        </p:nvSpPr>
        <p:spPr>
          <a:xfrm>
            <a:off x="548640" y="5532120"/>
            <a:ext cx="11064240" cy="777240"/>
          </a:xfrm>
          <a:prstGeom prst="rect">
            <a:avLst/>
          </a:prstGeom>
          <a:noFill/>
          <a:ln/>
        </p:spPr>
        <p:txBody>
          <a:bodyPr wrap="square" lIns="0" tIns="0" rIns="0" bIns="0" rtlCol="0" anchor="ctr"/>
          <a:lstStyle/>
          <a:p>
            <a:pPr indent="0" marL="0">
              <a:lnSpc>
                <a:spcPct val="105000"/>
              </a:lnSpc>
              <a:buNone/>
            </a:pPr>
            <a:r>
              <a:rPr lang="en-US" sz="1900" i="1" dirty="0">
                <a:solidFill>
                  <a:srgbClr val="5A5A5A"/>
                </a:solidFill>
                <a:latin typeface="Calibri" pitchFamily="34" charset="0"/>
                <a:ea typeface="Calibri" pitchFamily="34" charset="-122"/>
                <a:cs typeface="Calibri" pitchFamily="34" charset="-120"/>
              </a:rPr>
              <a:t>Generation is proven and capital is mobilizing at record scale. What breaks down is deployment – organization, management and logistics at the last mile.</a:t>
            </a:r>
            <a:endParaRPr lang="en-US" sz="1900" dirty="0"/>
          </a:p>
        </p:txBody>
      </p:sp>
      <p:sp>
        <p:nvSpPr>
          <p:cNvPr id="17" name="Text 12"/>
          <p:cNvSpPr/>
          <p:nvPr/>
        </p:nvSpPr>
        <p:spPr>
          <a:xfrm>
            <a:off x="548640" y="6473952"/>
            <a:ext cx="8686800" cy="274320"/>
          </a:xfrm>
          <a:prstGeom prst="rect">
            <a:avLst/>
          </a:prstGeom>
          <a:noFill/>
          <a:ln/>
        </p:spPr>
        <p:txBody>
          <a:bodyPr wrap="square" lIns="0" tIns="0" rIns="0" bIns="0" rtlCol="0" anchor="ctr"/>
          <a:lstStyle/>
          <a:p>
            <a:pPr indent="0" marL="0">
              <a:buNone/>
            </a:pPr>
            <a:r>
              <a:rPr lang="en-US" sz="1000" b="1" dirty="0">
                <a:solidFill>
                  <a:srgbClr val="5A5A5A"/>
                </a:solidFill>
                <a:latin typeface="Calibri" pitchFamily="34" charset="0"/>
                <a:ea typeface="Calibri" pitchFamily="34" charset="-122"/>
                <a:cs typeface="Calibri" pitchFamily="34" charset="-120"/>
              </a:rPr>
              <a:t>PURE Power Africa</a:t>
            </a:r>
            <a:pPr indent="0" marL="0">
              <a:buNone/>
            </a:pPr>
            <a:r>
              <a:rPr lang="en-US" sz="1000" dirty="0">
                <a:solidFill>
                  <a:srgbClr val="5A5A5A"/>
                </a:solidFill>
                <a:latin typeface="Calibri" pitchFamily="34" charset="0"/>
                <a:ea typeface="Calibri" pitchFamily="34" charset="-122"/>
                <a:cs typeface="Calibri" pitchFamily="34" charset="-120"/>
              </a:rPr>
              <a:t>   ·   Concept teaser   ·   Strictly private &amp; confidential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none" lIns="0" tIns="0" rIns="0" bIns="0" rtlCol="0" anchor="ctr"/>
          <a:lstStyle/>
          <a:p>
            <a:pPr indent="0" marL="0">
              <a:buNone/>
            </a:pPr>
            <a:r>
              <a:rPr lang="en-US" sz="3200" b="1" dirty="0">
                <a:solidFill>
                  <a:srgbClr val="14315D"/>
                </a:solidFill>
                <a:latin typeface="Arial Black" pitchFamily="34" charset="0"/>
                <a:ea typeface="Arial Black" pitchFamily="34" charset="-122"/>
                <a:cs typeface="Arial Black" pitchFamily="34" charset="-120"/>
              </a:rPr>
              <a:t>One wheel, many spokes – at every level</a:t>
            </a:r>
            <a:endParaRPr lang="en-US" sz="3200" dirty="0"/>
          </a:p>
        </p:txBody>
      </p:sp>
      <p:pic>
        <p:nvPicPr>
          <p:cNvPr id="3" name="Image 0" descr="assets/motif_rings.png">    </p:cNvPr>
          <p:cNvPicPr>
            <a:picLocks noChangeAspect="1"/>
          </p:cNvPicPr>
          <p:nvPr/>
        </p:nvPicPr>
        <p:blipFill>
          <a:blip r:embed="rId1"/>
          <a:stretch>
            <a:fillRect/>
          </a:stretch>
        </p:blipFill>
        <p:spPr>
          <a:xfrm>
            <a:off x="457200" y="1325880"/>
            <a:ext cx="4754880" cy="4754880"/>
          </a:xfrm>
          <a:prstGeom prst="rect">
            <a:avLst/>
          </a:prstGeom>
        </p:spPr>
      </p:pic>
      <p:sp>
        <p:nvSpPr>
          <p:cNvPr id="4" name="Text 1"/>
          <p:cNvSpPr/>
          <p:nvPr/>
        </p:nvSpPr>
        <p:spPr>
          <a:xfrm>
            <a:off x="457200" y="6108192"/>
            <a:ext cx="4754880" cy="502920"/>
          </a:xfrm>
          <a:prstGeom prst="rect">
            <a:avLst/>
          </a:prstGeom>
          <a:noFill/>
          <a:ln/>
        </p:spPr>
        <p:txBody>
          <a:bodyPr wrap="square" lIns="0" tIns="0" rIns="0" bIns="0" rtlCol="0" anchor="ctr"/>
          <a:lstStyle/>
          <a:p>
            <a:pPr algn="ctr" indent="0" marL="0">
              <a:lnSpc>
                <a:spcPct val="100000"/>
              </a:lnSpc>
              <a:buNone/>
            </a:pPr>
            <a:r>
              <a:rPr lang="en-US" sz="1300" i="1" dirty="0">
                <a:solidFill>
                  <a:srgbClr val="5A5A5A"/>
                </a:solidFill>
                <a:latin typeface="Calibri" pitchFamily="34" charset="0"/>
                <a:ea typeface="Calibri" pitchFamily="34" charset="-122"/>
                <a:cs typeface="Calibri" pitchFamily="34" charset="-120"/>
              </a:rPr>
              <a:t>Design follows each country’s size, density, electrification rate and grid plans – a DRC is not a Burundi.</a:t>
            </a:r>
            <a:endParaRPr lang="en-US" sz="1300" dirty="0"/>
          </a:p>
        </p:txBody>
      </p:sp>
      <p:sp>
        <p:nvSpPr>
          <p:cNvPr id="5" name="Shape 2"/>
          <p:cNvSpPr/>
          <p:nvPr/>
        </p:nvSpPr>
        <p:spPr>
          <a:xfrm>
            <a:off x="5669280" y="1243584"/>
            <a:ext cx="329184" cy="329184"/>
          </a:xfrm>
          <a:prstGeom prst="ellipse">
            <a:avLst/>
          </a:prstGeom>
          <a:solidFill>
            <a:srgbClr val="B07B1F"/>
          </a:solidFill>
          <a:ln/>
        </p:spPr>
      </p:sp>
      <p:sp>
        <p:nvSpPr>
          <p:cNvPr id="6" name="Text 3"/>
          <p:cNvSpPr/>
          <p:nvPr/>
        </p:nvSpPr>
        <p:spPr>
          <a:xfrm>
            <a:off x="5669280" y="1243584"/>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6144768" y="1225296"/>
            <a:ext cx="5532120" cy="365760"/>
          </a:xfrm>
          <a:prstGeom prst="rect">
            <a:avLst/>
          </a:prstGeom>
          <a:noFill/>
          <a:ln/>
        </p:spPr>
        <p:txBody>
          <a:bodyPr wrap="none" lIns="0" tIns="0" rIns="0" bIns="0" rtlCol="0" anchor="ctr"/>
          <a:lstStyle/>
          <a:p>
            <a:pPr indent="0" marL="0">
              <a:buNone/>
            </a:pPr>
            <a:r>
              <a:rPr lang="en-US" sz="1750" b="1" dirty="0">
                <a:solidFill>
                  <a:srgbClr val="14315D"/>
                </a:solidFill>
                <a:latin typeface="Arial" pitchFamily="34" charset="0"/>
                <a:ea typeface="Arial" pitchFamily="34" charset="-122"/>
                <a:cs typeface="Arial" pitchFamily="34" charset="-120"/>
              </a:rPr>
              <a:t>Continental HQ – Burundi</a:t>
            </a:r>
            <a:endParaRPr lang="en-US" sz="1750" dirty="0"/>
          </a:p>
        </p:txBody>
      </p:sp>
      <p:sp>
        <p:nvSpPr>
          <p:cNvPr id="8" name="Text 5"/>
          <p:cNvSpPr/>
          <p:nvPr/>
        </p:nvSpPr>
        <p:spPr>
          <a:xfrm>
            <a:off x="6144768" y="1591056"/>
            <a:ext cx="5532120" cy="932688"/>
          </a:xfrm>
          <a:prstGeom prst="rect">
            <a:avLst/>
          </a:prstGeom>
          <a:noFill/>
          <a:ln/>
        </p:spPr>
        <p:txBody>
          <a:bodyPr wrap="square" lIns="0" tIns="0" rIns="0" bIns="0" rtlCol="0" anchor="ctr"/>
          <a:lstStyle/>
          <a:p>
            <a:pPr indent="0" marL="0">
              <a:lnSpc>
                <a:spcPct val="103000"/>
              </a:lnSpc>
              <a:buNone/>
            </a:pPr>
            <a:r>
              <a:rPr lang="en-US" sz="1400" dirty="0">
                <a:solidFill>
                  <a:srgbClr val="333333"/>
                </a:solidFill>
                <a:latin typeface="Calibri" pitchFamily="34" charset="0"/>
                <a:ea typeface="Calibri" pitchFamily="34" charset="-122"/>
                <a:cs typeface="Calibri" pitchFamily="34" charset="-120"/>
              </a:rPr>
              <a:t>Direction, standards, financing architecture, KPIs and data – plus aggregated procurement and vendor negotiation, template legal work, and the continental train-the-trainers academy.</a:t>
            </a:r>
            <a:endParaRPr lang="en-US" sz="1400" dirty="0"/>
          </a:p>
        </p:txBody>
      </p:sp>
      <p:sp>
        <p:nvSpPr>
          <p:cNvPr id="9" name="Shape 6"/>
          <p:cNvSpPr/>
          <p:nvPr/>
        </p:nvSpPr>
        <p:spPr>
          <a:xfrm>
            <a:off x="5669280" y="2670048"/>
            <a:ext cx="329184" cy="329184"/>
          </a:xfrm>
          <a:prstGeom prst="ellipse">
            <a:avLst/>
          </a:prstGeom>
          <a:solidFill>
            <a:srgbClr val="1E4A7A"/>
          </a:solidFill>
          <a:ln/>
        </p:spPr>
      </p:sp>
      <p:sp>
        <p:nvSpPr>
          <p:cNvPr id="10" name="Text 7"/>
          <p:cNvSpPr/>
          <p:nvPr/>
        </p:nvSpPr>
        <p:spPr>
          <a:xfrm>
            <a:off x="5669280" y="2670048"/>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p:nvPr/>
        </p:nvSpPr>
        <p:spPr>
          <a:xfrm>
            <a:off x="6144768" y="2651760"/>
            <a:ext cx="5532120" cy="365760"/>
          </a:xfrm>
          <a:prstGeom prst="rect">
            <a:avLst/>
          </a:prstGeom>
          <a:noFill/>
          <a:ln/>
        </p:spPr>
        <p:txBody>
          <a:bodyPr wrap="none" lIns="0" tIns="0" rIns="0" bIns="0" rtlCol="0" anchor="ctr"/>
          <a:lstStyle/>
          <a:p>
            <a:pPr indent="0" marL="0">
              <a:buNone/>
            </a:pPr>
            <a:r>
              <a:rPr lang="en-US" sz="1750" b="1" dirty="0">
                <a:solidFill>
                  <a:srgbClr val="14315D"/>
                </a:solidFill>
                <a:latin typeface="Arial" pitchFamily="34" charset="0"/>
                <a:ea typeface="Arial" pitchFamily="34" charset="-122"/>
                <a:cs typeface="Arial" pitchFamily="34" charset="-120"/>
              </a:rPr>
              <a:t>Country HQs – through AAIN partnerships</a:t>
            </a:r>
            <a:endParaRPr lang="en-US" sz="1750" dirty="0"/>
          </a:p>
        </p:txBody>
      </p:sp>
      <p:sp>
        <p:nvSpPr>
          <p:cNvPr id="12" name="Text 9"/>
          <p:cNvSpPr/>
          <p:nvPr/>
        </p:nvSpPr>
        <p:spPr>
          <a:xfrm>
            <a:off x="6144768" y="3017520"/>
            <a:ext cx="5532120" cy="713232"/>
          </a:xfrm>
          <a:prstGeom prst="rect">
            <a:avLst/>
          </a:prstGeom>
          <a:noFill/>
          <a:ln/>
        </p:spPr>
        <p:txBody>
          <a:bodyPr wrap="square" lIns="0" tIns="0" rIns="0" bIns="0" rtlCol="0" anchor="ctr"/>
          <a:lstStyle/>
          <a:p>
            <a:pPr indent="0" marL="0">
              <a:lnSpc>
                <a:spcPct val="103000"/>
              </a:lnSpc>
              <a:buNone/>
            </a:pPr>
            <a:r>
              <a:rPr lang="en-US" sz="1400" dirty="0">
                <a:solidFill>
                  <a:srgbClr val="333333"/>
                </a:solidFill>
                <a:latin typeface="Calibri" pitchFamily="34" charset="0"/>
                <a:ea typeface="Calibri" pitchFamily="34" charset="-122"/>
                <a:cs typeface="Calibri" pitchFamily="34" charset="-120"/>
              </a:rPr>
              <a:t>The national wheel: customs, tax, accounting, legal, ministries, culture and local supply – functions that cannot, and should not, be centralized.</a:t>
            </a:r>
            <a:endParaRPr lang="en-US" sz="1400" dirty="0"/>
          </a:p>
        </p:txBody>
      </p:sp>
      <p:sp>
        <p:nvSpPr>
          <p:cNvPr id="13" name="Shape 10"/>
          <p:cNvSpPr/>
          <p:nvPr/>
        </p:nvSpPr>
        <p:spPr>
          <a:xfrm>
            <a:off x="5669280" y="3822192"/>
            <a:ext cx="329184" cy="329184"/>
          </a:xfrm>
          <a:prstGeom prst="ellipse">
            <a:avLst/>
          </a:prstGeom>
          <a:solidFill>
            <a:srgbClr val="2E6B4F"/>
          </a:solidFill>
          <a:ln/>
        </p:spPr>
      </p:sp>
      <p:sp>
        <p:nvSpPr>
          <p:cNvPr id="14" name="Text 11"/>
          <p:cNvSpPr/>
          <p:nvPr/>
        </p:nvSpPr>
        <p:spPr>
          <a:xfrm>
            <a:off x="5669280" y="382219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2"/>
          <p:cNvSpPr/>
          <p:nvPr/>
        </p:nvSpPr>
        <p:spPr>
          <a:xfrm>
            <a:off x="6144768" y="3803904"/>
            <a:ext cx="5532120" cy="365760"/>
          </a:xfrm>
          <a:prstGeom prst="rect">
            <a:avLst/>
          </a:prstGeom>
          <a:noFill/>
          <a:ln/>
        </p:spPr>
        <p:txBody>
          <a:bodyPr wrap="none" lIns="0" tIns="0" rIns="0" bIns="0" rtlCol="0" anchor="ctr"/>
          <a:lstStyle/>
          <a:p>
            <a:pPr indent="0" marL="0">
              <a:buNone/>
            </a:pPr>
            <a:r>
              <a:rPr lang="en-US" sz="1750" b="1" dirty="0">
                <a:solidFill>
                  <a:srgbClr val="14315D"/>
                </a:solidFill>
                <a:latin typeface="Arial" pitchFamily="34" charset="0"/>
                <a:ea typeface="Arial" pitchFamily="34" charset="-122"/>
                <a:cs typeface="Arial" pitchFamily="34" charset="-120"/>
              </a:rPr>
              <a:t>Subregional wheels – members’ branches</a:t>
            </a:r>
            <a:endParaRPr lang="en-US" sz="1750" dirty="0"/>
          </a:p>
        </p:txBody>
      </p:sp>
      <p:sp>
        <p:nvSpPr>
          <p:cNvPr id="16" name="Text 13"/>
          <p:cNvSpPr/>
          <p:nvPr/>
        </p:nvSpPr>
        <p:spPr>
          <a:xfrm>
            <a:off x="6144768" y="4169664"/>
            <a:ext cx="5532120" cy="713232"/>
          </a:xfrm>
          <a:prstGeom prst="rect">
            <a:avLst/>
          </a:prstGeom>
          <a:noFill/>
          <a:ln/>
        </p:spPr>
        <p:txBody>
          <a:bodyPr wrap="square" lIns="0" tIns="0" rIns="0" bIns="0" rtlCol="0" anchor="ctr"/>
          <a:lstStyle/>
          <a:p>
            <a:pPr indent="0" marL="0">
              <a:lnSpc>
                <a:spcPct val="103000"/>
              </a:lnSpc>
              <a:buNone/>
            </a:pPr>
            <a:r>
              <a:rPr lang="en-US" sz="1400" dirty="0">
                <a:solidFill>
                  <a:srgbClr val="333333"/>
                </a:solidFill>
                <a:latin typeface="Calibri" pitchFamily="34" charset="0"/>
                <a:ea typeface="Calibri" pitchFamily="34" charset="-122"/>
                <a:cs typeface="Calibri" pitchFamily="34" charset="-120"/>
              </a:rPr>
              <a:t>AAIN members’ existing infrastructure and personnel – not necessarily their buildings – overlaid with program expertise and staffing; they supervise, train and part-staff the hubs.</a:t>
            </a:r>
            <a:endParaRPr lang="en-US" sz="1400" dirty="0"/>
          </a:p>
        </p:txBody>
      </p:sp>
      <p:sp>
        <p:nvSpPr>
          <p:cNvPr id="17" name="Shape 14"/>
          <p:cNvSpPr/>
          <p:nvPr/>
        </p:nvSpPr>
        <p:spPr>
          <a:xfrm>
            <a:off x="5669280" y="4974336"/>
            <a:ext cx="329184" cy="329184"/>
          </a:xfrm>
          <a:prstGeom prst="ellipse">
            <a:avLst/>
          </a:prstGeom>
          <a:solidFill>
            <a:srgbClr val="333333"/>
          </a:solidFill>
          <a:ln/>
        </p:spPr>
      </p:sp>
      <p:sp>
        <p:nvSpPr>
          <p:cNvPr id="18" name="Text 15"/>
          <p:cNvSpPr/>
          <p:nvPr/>
        </p:nvSpPr>
        <p:spPr>
          <a:xfrm>
            <a:off x="5669280" y="4974336"/>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6"/>
          <p:cNvSpPr/>
          <p:nvPr/>
        </p:nvSpPr>
        <p:spPr>
          <a:xfrm>
            <a:off x="6144768" y="4956048"/>
            <a:ext cx="5532120" cy="365760"/>
          </a:xfrm>
          <a:prstGeom prst="rect">
            <a:avLst/>
          </a:prstGeom>
          <a:noFill/>
          <a:ln/>
        </p:spPr>
        <p:txBody>
          <a:bodyPr wrap="none" lIns="0" tIns="0" rIns="0" bIns="0" rtlCol="0" anchor="ctr"/>
          <a:lstStyle/>
          <a:p>
            <a:pPr indent="0" marL="0">
              <a:buNone/>
            </a:pPr>
            <a:r>
              <a:rPr lang="en-US" sz="1750" b="1" dirty="0">
                <a:solidFill>
                  <a:srgbClr val="14315D"/>
                </a:solidFill>
                <a:latin typeface="Arial" pitchFamily="34" charset="0"/>
                <a:ea typeface="Arial" pitchFamily="34" charset="-122"/>
                <a:cs typeface="Arial" pitchFamily="34" charset="-120"/>
              </a:rPr>
              <a:t>Agro-energy hubs – clusters to the last mile</a:t>
            </a:r>
            <a:endParaRPr lang="en-US" sz="1750" dirty="0"/>
          </a:p>
        </p:txBody>
      </p:sp>
      <p:sp>
        <p:nvSpPr>
          <p:cNvPr id="20" name="Text 17"/>
          <p:cNvSpPr/>
          <p:nvPr/>
        </p:nvSpPr>
        <p:spPr>
          <a:xfrm>
            <a:off x="6144768" y="5321808"/>
            <a:ext cx="5532120" cy="713232"/>
          </a:xfrm>
          <a:prstGeom prst="rect">
            <a:avLst/>
          </a:prstGeom>
          <a:noFill/>
          <a:ln/>
        </p:spPr>
        <p:txBody>
          <a:bodyPr wrap="square" lIns="0" tIns="0" rIns="0" bIns="0" rtlCol="0" anchor="ctr"/>
          <a:lstStyle/>
          <a:p>
            <a:pPr indent="0" marL="0">
              <a:lnSpc>
                <a:spcPct val="103000"/>
              </a:lnSpc>
              <a:buNone/>
            </a:pPr>
            <a:r>
              <a:rPr lang="en-US" sz="1400" dirty="0">
                <a:solidFill>
                  <a:srgbClr val="333333"/>
                </a:solidFill>
                <a:latin typeface="Calibri" pitchFamily="34" charset="0"/>
                <a:ea typeface="Calibri" pitchFamily="34" charset="-122"/>
                <a:cs typeface="Calibri" pitchFamily="34" charset="-120"/>
              </a:rPr>
              <a:t>Built where needed in rural areas, deployed in sequential waves and clusters for logistical and operational coherence – and from the hubs, the last mile.</a:t>
            </a:r>
            <a:endParaRPr lang="en-US" sz="1400" dirty="0"/>
          </a:p>
        </p:txBody>
      </p:sp>
      <p:sp>
        <p:nvSpPr>
          <p:cNvPr id="21" name="Text 18"/>
          <p:cNvSpPr/>
          <p:nvPr/>
        </p:nvSpPr>
        <p:spPr>
          <a:xfrm>
            <a:off x="6144768" y="6108192"/>
            <a:ext cx="5532120" cy="411480"/>
          </a:xfrm>
          <a:prstGeom prst="rect">
            <a:avLst/>
          </a:prstGeom>
          <a:noFill/>
          <a:ln/>
        </p:spPr>
        <p:txBody>
          <a:bodyPr wrap="square" lIns="0" tIns="0" rIns="0" bIns="0" rtlCol="0" anchor="ctr"/>
          <a:lstStyle/>
          <a:p>
            <a:pPr indent="0" marL="0">
              <a:buNone/>
            </a:pPr>
            <a:r>
              <a:rPr lang="en-US" sz="1500" b="1" i="1" dirty="0">
                <a:solidFill>
                  <a:srgbClr val="B07B1F"/>
                </a:solidFill>
                <a:latin typeface="Calibri" pitchFamily="34" charset="0"/>
                <a:ea typeface="Calibri" pitchFamily="34" charset="-122"/>
                <a:cs typeface="Calibri" pitchFamily="34" charset="-120"/>
              </a:rPr>
              <a:t>In each country: one pilot region → deploy in clusters → work out the kinks → verify → scale.</a:t>
            </a:r>
            <a:endParaRPr lang="en-US" sz="1500" dirty="0"/>
          </a:p>
        </p:txBody>
      </p:sp>
      <p:sp>
        <p:nvSpPr>
          <p:cNvPr id="22" name="Text 19"/>
          <p:cNvSpPr/>
          <p:nvPr/>
        </p:nvSpPr>
        <p:spPr>
          <a:xfrm>
            <a:off x="548640" y="6473952"/>
            <a:ext cx="8686800" cy="274320"/>
          </a:xfrm>
          <a:prstGeom prst="rect">
            <a:avLst/>
          </a:prstGeom>
          <a:noFill/>
          <a:ln/>
        </p:spPr>
        <p:txBody>
          <a:bodyPr wrap="square" lIns="0" tIns="0" rIns="0" bIns="0" rtlCol="0" anchor="ctr"/>
          <a:lstStyle/>
          <a:p>
            <a:pPr indent="0" marL="0">
              <a:buNone/>
            </a:pPr>
            <a:r>
              <a:rPr lang="en-US" sz="1000" b="1" dirty="0">
                <a:solidFill>
                  <a:srgbClr val="5A5A5A"/>
                </a:solidFill>
                <a:latin typeface="Calibri" pitchFamily="34" charset="0"/>
                <a:ea typeface="Calibri" pitchFamily="34" charset="-122"/>
                <a:cs typeface="Calibri" pitchFamily="34" charset="-120"/>
              </a:rPr>
              <a:t>PURE Power Africa</a:t>
            </a:r>
            <a:pPr indent="0" marL="0">
              <a:buNone/>
            </a:pPr>
            <a:r>
              <a:rPr lang="en-US" sz="1000" dirty="0">
                <a:solidFill>
                  <a:srgbClr val="5A5A5A"/>
                </a:solidFill>
                <a:latin typeface="Calibri" pitchFamily="34" charset="0"/>
                <a:ea typeface="Calibri" pitchFamily="34" charset="-122"/>
                <a:cs typeface="Calibri" pitchFamily="34" charset="-120"/>
              </a:rPr>
              <a:t>   ·   Concept teaser   ·   Strictly private &amp; confidential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none" lIns="0" tIns="0" rIns="0" bIns="0" rtlCol="0" anchor="ctr"/>
          <a:lstStyle/>
          <a:p>
            <a:pPr indent="0" marL="0">
              <a:buNone/>
            </a:pPr>
            <a:r>
              <a:rPr lang="en-US" sz="3200" b="1" dirty="0">
                <a:solidFill>
                  <a:srgbClr val="14315D"/>
                </a:solidFill>
                <a:latin typeface="Arial Black" pitchFamily="34" charset="0"/>
                <a:ea typeface="Arial Black" pitchFamily="34" charset="-122"/>
                <a:cs typeface="Arial Black" pitchFamily="34" charset="-120"/>
              </a:rPr>
              <a:t>Deploy through what already exists</a:t>
            </a:r>
            <a:endParaRPr lang="en-US" sz="3200" dirty="0"/>
          </a:p>
        </p:txBody>
      </p:sp>
      <p:sp>
        <p:nvSpPr>
          <p:cNvPr id="3" name="Text 1"/>
          <p:cNvSpPr/>
          <p:nvPr/>
        </p:nvSpPr>
        <p:spPr>
          <a:xfrm>
            <a:off x="548640" y="1115568"/>
            <a:ext cx="11064240" cy="914400"/>
          </a:xfrm>
          <a:prstGeom prst="rect">
            <a:avLst/>
          </a:prstGeom>
          <a:noFill/>
          <a:ln/>
        </p:spPr>
        <p:txBody>
          <a:bodyPr wrap="square" lIns="0" tIns="0" rIns="0" bIns="0" rtlCol="0" anchor="ctr"/>
          <a:lstStyle/>
          <a:p>
            <a:pPr indent="0" marL="0">
              <a:lnSpc>
                <a:spcPct val="106000"/>
              </a:lnSpc>
              <a:buNone/>
            </a:pPr>
            <a:r>
              <a:rPr lang="en-US" sz="1800" dirty="0">
                <a:solidFill>
                  <a:srgbClr val="333333"/>
                </a:solidFill>
                <a:latin typeface="Calibri" pitchFamily="34" charset="0"/>
                <a:ea typeface="Calibri" pitchFamily="34" charset="-122"/>
                <a:cs typeface="Calibri" pitchFamily="34" charset="-120"/>
              </a:rPr>
              <a:t>Partnership MOU executed with the </a:t>
            </a:r>
            <a:pPr indent="0" marL="0">
              <a:lnSpc>
                <a:spcPct val="106000"/>
              </a:lnSpc>
              <a:buNone/>
            </a:pPr>
            <a:r>
              <a:rPr lang="en-US" sz="1800" b="1" dirty="0">
                <a:solidFill>
                  <a:srgbClr val="14315D"/>
                </a:solidFill>
                <a:latin typeface="Calibri" pitchFamily="34" charset="0"/>
                <a:ea typeface="Calibri" pitchFamily="34" charset="-122"/>
                <a:cs typeface="Calibri" pitchFamily="34" charset="-120"/>
              </a:rPr>
              <a:t>African Agribusiness Incubators Network (AAIN)</a:t>
            </a:r>
            <a:pPr indent="0" marL="0">
              <a:lnSpc>
                <a:spcPct val="106000"/>
              </a:lnSpc>
              <a:buNone/>
            </a:pPr>
            <a:r>
              <a:rPr lang="en-US" sz="1800" dirty="0">
                <a:solidFill>
                  <a:srgbClr val="333333"/>
                </a:solidFill>
                <a:latin typeface="Calibri" pitchFamily="34" charset="0"/>
                <a:ea typeface="Calibri" pitchFamily="34" charset="-122"/>
                <a:cs typeface="Calibri" pitchFamily="34" charset="-120"/>
              </a:rPr>
              <a:t> – an African-led, African-owned network of 110+ member incubators and enterprise-support organizations spanning a 54-country network, and a technical partner of the African Union Commission for incubation.</a:t>
            </a:r>
            <a:endParaRPr lang="en-US" sz="1800" dirty="0"/>
          </a:p>
        </p:txBody>
      </p:sp>
      <p:sp>
        <p:nvSpPr>
          <p:cNvPr id="4" name="Text 2"/>
          <p:cNvSpPr/>
          <p:nvPr/>
        </p:nvSpPr>
        <p:spPr>
          <a:xfrm>
            <a:off x="548640" y="2084832"/>
            <a:ext cx="11064240" cy="685800"/>
          </a:xfrm>
          <a:prstGeom prst="rect">
            <a:avLst/>
          </a:prstGeom>
          <a:noFill/>
          <a:ln/>
        </p:spPr>
        <p:txBody>
          <a:bodyPr wrap="square" lIns="0" tIns="0" rIns="0" bIns="0" rtlCol="0" anchor="ctr"/>
          <a:lstStyle/>
          <a:p>
            <a:pPr indent="0" marL="0">
              <a:lnSpc>
                <a:spcPct val="105000"/>
              </a:lnSpc>
              <a:buNone/>
            </a:pPr>
            <a:r>
              <a:rPr lang="en-US" sz="1650" dirty="0">
                <a:solidFill>
                  <a:srgbClr val="333333"/>
                </a:solidFill>
                <a:latin typeface="Calibri" pitchFamily="34" charset="0"/>
                <a:ea typeface="Calibri" pitchFamily="34" charset="-122"/>
                <a:cs typeface="Calibri" pitchFamily="34" charset="-120"/>
              </a:rPr>
              <a:t>Hubs and country structures overlay the members’ existing operational infrastructure and personnel – not necessarily their buildings – with expertise, support and staffing added from the continental and country HQs as needed.</a:t>
            </a:r>
            <a:endParaRPr lang="en-US" sz="1650" dirty="0"/>
          </a:p>
        </p:txBody>
      </p:sp>
      <p:sp>
        <p:nvSpPr>
          <p:cNvPr id="5" name="Text 3"/>
          <p:cNvSpPr/>
          <p:nvPr/>
        </p:nvSpPr>
        <p:spPr>
          <a:xfrm>
            <a:off x="548640" y="2798064"/>
            <a:ext cx="11064240" cy="731520"/>
          </a:xfrm>
          <a:prstGeom prst="rect">
            <a:avLst/>
          </a:prstGeom>
          <a:noFill/>
          <a:ln/>
        </p:spPr>
        <p:txBody>
          <a:bodyPr wrap="square" lIns="0" tIns="0" rIns="0" bIns="0" rtlCol="0" anchor="ctr"/>
          <a:lstStyle/>
          <a:p>
            <a:pPr indent="0" marL="0">
              <a:lnSpc>
                <a:spcPct val="105000"/>
              </a:lnSpc>
              <a:buNone/>
            </a:pPr>
            <a:r>
              <a:rPr lang="en-US" sz="1650" b="1" dirty="0">
                <a:solidFill>
                  <a:srgbClr val="14315D"/>
                </a:solidFill>
                <a:latin typeface="Calibri" pitchFamily="34" charset="0"/>
                <a:ea typeface="Calibri" pitchFamily="34" charset="-122"/>
                <a:cs typeface="Calibri" pitchFamily="34" charset="-120"/>
              </a:rPr>
              <a:t>Overhead is absorbed across the lattice, not by one headquarters: </a:t>
            </a:r>
            <a:pPr indent="0" marL="0">
              <a:lnSpc>
                <a:spcPct val="105000"/>
              </a:lnSpc>
              <a:buNone/>
            </a:pPr>
            <a:r>
              <a:rPr lang="en-US" sz="1650" dirty="0">
                <a:solidFill>
                  <a:srgbClr val="333333"/>
                </a:solidFill>
                <a:latin typeface="Calibri" pitchFamily="34" charset="0"/>
                <a:ea typeface="Calibri" pitchFamily="34" charset="-122"/>
                <a:cs typeface="Calibri" pitchFamily="34" charset="-120"/>
              </a:rPr>
              <a:t>continental functions at the center, national functions in each country HQ, local administration inside the members’ existing structures. No new accountants and lawyers for every place.</a:t>
            </a:r>
            <a:endParaRPr lang="en-US" sz="1650" dirty="0"/>
          </a:p>
        </p:txBody>
      </p:sp>
      <p:sp>
        <p:nvSpPr>
          <p:cNvPr id="6" name="Text 4"/>
          <p:cNvSpPr/>
          <p:nvPr/>
        </p:nvSpPr>
        <p:spPr>
          <a:xfrm>
            <a:off x="548640" y="3639312"/>
            <a:ext cx="11064240" cy="365760"/>
          </a:xfrm>
          <a:prstGeom prst="rect">
            <a:avLst/>
          </a:prstGeom>
          <a:noFill/>
          <a:ln/>
        </p:spPr>
        <p:txBody>
          <a:bodyPr wrap="square" lIns="0" tIns="0" rIns="0" bIns="0" rtlCol="0" anchor="ctr"/>
          <a:lstStyle/>
          <a:p>
            <a:pPr indent="0" marL="0">
              <a:buNone/>
            </a:pPr>
            <a:r>
              <a:rPr lang="en-US" sz="1600" b="1" dirty="0">
                <a:solidFill>
                  <a:srgbClr val="2E6B4F"/>
                </a:solidFill>
                <a:latin typeface="Arial" pitchFamily="34" charset="0"/>
                <a:ea typeface="Arial" pitchFamily="34" charset="-122"/>
                <a:cs typeface="Arial" pitchFamily="34" charset="-120"/>
              </a:rPr>
              <a:t>Pan-African pillar institutions slot into the verticals they already run (illustrative):</a:t>
            </a:r>
            <a:endParaRPr lang="en-US" sz="1600" dirty="0"/>
          </a:p>
        </p:txBody>
      </p:sp>
      <p:sp>
        <p:nvSpPr>
          <p:cNvPr id="7" name="Shape 5"/>
          <p:cNvSpPr/>
          <p:nvPr/>
        </p:nvSpPr>
        <p:spPr>
          <a:xfrm>
            <a:off x="548640" y="4041648"/>
            <a:ext cx="2212848" cy="1627632"/>
          </a:xfrm>
          <a:prstGeom prst="roundRect">
            <a:avLst>
              <a:gd name="adj" fmla="val 3933"/>
            </a:avLst>
          </a:prstGeom>
          <a:solidFill>
            <a:srgbClr val="EDF1F6"/>
          </a:solidFill>
          <a:ln/>
        </p:spPr>
      </p:sp>
      <p:pic>
        <p:nvPicPr>
          <p:cNvPr id="8" name="Image 0" descr="assets/icon_wheat.png">    </p:cNvPr>
          <p:cNvPicPr>
            <a:picLocks noChangeAspect="1"/>
          </p:cNvPicPr>
          <p:nvPr/>
        </p:nvPicPr>
        <p:blipFill>
          <a:blip r:embed="rId1"/>
          <a:stretch>
            <a:fillRect/>
          </a:stretch>
        </p:blipFill>
        <p:spPr>
          <a:xfrm>
            <a:off x="1389888" y="4187952"/>
            <a:ext cx="530352" cy="530352"/>
          </a:xfrm>
          <a:prstGeom prst="rect">
            <a:avLst/>
          </a:prstGeom>
        </p:spPr>
      </p:pic>
      <p:sp>
        <p:nvSpPr>
          <p:cNvPr id="9" name="Text 6"/>
          <p:cNvSpPr/>
          <p:nvPr/>
        </p:nvSpPr>
        <p:spPr>
          <a:xfrm>
            <a:off x="621792" y="4773168"/>
            <a:ext cx="2066544" cy="365760"/>
          </a:xfrm>
          <a:prstGeom prst="rect">
            <a:avLst/>
          </a:prstGeom>
          <a:noFill/>
          <a:ln/>
        </p:spPr>
        <p:txBody>
          <a:bodyPr wrap="square" lIns="0" tIns="0" rIns="0" bIns="0" rtlCol="0" anchor="ctr"/>
          <a:lstStyle/>
          <a:p>
            <a:pPr algn="ctr" indent="0" marL="0">
              <a:buNone/>
            </a:pPr>
            <a:r>
              <a:rPr lang="en-US" sz="1400" b="1" dirty="0">
                <a:solidFill>
                  <a:srgbClr val="14315D"/>
                </a:solidFill>
                <a:latin typeface="Arial" pitchFamily="34" charset="0"/>
                <a:ea typeface="Arial" pitchFamily="34" charset="-122"/>
                <a:cs typeface="Arial" pitchFamily="34" charset="-120"/>
              </a:rPr>
              <a:t>FAO</a:t>
            </a:r>
            <a:endParaRPr lang="en-US" sz="1400" dirty="0"/>
          </a:p>
        </p:txBody>
      </p:sp>
      <p:sp>
        <p:nvSpPr>
          <p:cNvPr id="10" name="Text 7"/>
          <p:cNvSpPr/>
          <p:nvPr/>
        </p:nvSpPr>
        <p:spPr>
          <a:xfrm>
            <a:off x="621792" y="5120640"/>
            <a:ext cx="2066544" cy="502920"/>
          </a:xfrm>
          <a:prstGeom prst="rect">
            <a:avLst/>
          </a:prstGeom>
          <a:noFill/>
          <a:ln/>
        </p:spPr>
        <p:txBody>
          <a:bodyPr wrap="square" lIns="0" tIns="0" rIns="0" bIns="0" rtlCol="0" anchor="ctr"/>
          <a:lstStyle/>
          <a:p>
            <a:pPr algn="ctr" indent="0" marL="0">
              <a:lnSpc>
                <a:spcPct val="100000"/>
              </a:lnSpc>
              <a:buNone/>
            </a:pPr>
            <a:r>
              <a:rPr lang="en-US" sz="1250" dirty="0">
                <a:solidFill>
                  <a:srgbClr val="5A5A5A"/>
                </a:solidFill>
                <a:latin typeface="Calibri" pitchFamily="34" charset="0"/>
                <a:ea typeface="Calibri" pitchFamily="34" charset="-122"/>
                <a:cs typeface="Calibri" pitchFamily="34" charset="-120"/>
              </a:rPr>
              <a:t>agriculture &amp; farmer field schools</a:t>
            </a:r>
            <a:endParaRPr lang="en-US" sz="1250" dirty="0"/>
          </a:p>
        </p:txBody>
      </p:sp>
      <p:sp>
        <p:nvSpPr>
          <p:cNvPr id="11" name="Shape 8"/>
          <p:cNvSpPr/>
          <p:nvPr/>
        </p:nvSpPr>
        <p:spPr>
          <a:xfrm>
            <a:off x="2866644" y="4041648"/>
            <a:ext cx="2212848" cy="1627632"/>
          </a:xfrm>
          <a:prstGeom prst="roundRect">
            <a:avLst>
              <a:gd name="adj" fmla="val 3933"/>
            </a:avLst>
          </a:prstGeom>
          <a:solidFill>
            <a:srgbClr val="EDF1F6"/>
          </a:solidFill>
          <a:ln/>
        </p:spPr>
      </p:sp>
      <p:pic>
        <p:nvPicPr>
          <p:cNvPr id="12" name="Image 1" descr="assets/icon_truck.png">    </p:cNvPr>
          <p:cNvPicPr>
            <a:picLocks noChangeAspect="1"/>
          </p:cNvPicPr>
          <p:nvPr/>
        </p:nvPicPr>
        <p:blipFill>
          <a:blip r:embed="rId2"/>
          <a:stretch>
            <a:fillRect/>
          </a:stretch>
        </p:blipFill>
        <p:spPr>
          <a:xfrm>
            <a:off x="3707892" y="4187952"/>
            <a:ext cx="530352" cy="530352"/>
          </a:xfrm>
          <a:prstGeom prst="rect">
            <a:avLst/>
          </a:prstGeom>
        </p:spPr>
      </p:pic>
      <p:sp>
        <p:nvSpPr>
          <p:cNvPr id="13" name="Text 9"/>
          <p:cNvSpPr/>
          <p:nvPr/>
        </p:nvSpPr>
        <p:spPr>
          <a:xfrm>
            <a:off x="2939796" y="4773168"/>
            <a:ext cx="2066544" cy="365760"/>
          </a:xfrm>
          <a:prstGeom prst="rect">
            <a:avLst/>
          </a:prstGeom>
          <a:noFill/>
          <a:ln/>
        </p:spPr>
        <p:txBody>
          <a:bodyPr wrap="square" lIns="0" tIns="0" rIns="0" bIns="0" rtlCol="0" anchor="ctr"/>
          <a:lstStyle/>
          <a:p>
            <a:pPr algn="ctr" indent="0" marL="0">
              <a:buNone/>
            </a:pPr>
            <a:r>
              <a:rPr lang="en-US" sz="1400" b="1" dirty="0">
                <a:solidFill>
                  <a:srgbClr val="14315D"/>
                </a:solidFill>
                <a:latin typeface="Arial" pitchFamily="34" charset="0"/>
                <a:ea typeface="Arial" pitchFamily="34" charset="-122"/>
                <a:cs typeface="Arial" pitchFamily="34" charset="-120"/>
              </a:rPr>
              <a:t>WFP</a:t>
            </a:r>
            <a:endParaRPr lang="en-US" sz="1400" dirty="0"/>
          </a:p>
        </p:txBody>
      </p:sp>
      <p:sp>
        <p:nvSpPr>
          <p:cNvPr id="14" name="Text 10"/>
          <p:cNvSpPr/>
          <p:nvPr/>
        </p:nvSpPr>
        <p:spPr>
          <a:xfrm>
            <a:off x="2939796" y="5120640"/>
            <a:ext cx="2066544" cy="502920"/>
          </a:xfrm>
          <a:prstGeom prst="rect">
            <a:avLst/>
          </a:prstGeom>
          <a:noFill/>
          <a:ln/>
        </p:spPr>
        <p:txBody>
          <a:bodyPr wrap="square" lIns="0" tIns="0" rIns="0" bIns="0" rtlCol="0" anchor="ctr"/>
          <a:lstStyle/>
          <a:p>
            <a:pPr algn="ctr" indent="0" marL="0">
              <a:lnSpc>
                <a:spcPct val="100000"/>
              </a:lnSpc>
              <a:buNone/>
            </a:pPr>
            <a:r>
              <a:rPr lang="en-US" sz="1250" dirty="0">
                <a:solidFill>
                  <a:srgbClr val="5A5A5A"/>
                </a:solidFill>
                <a:latin typeface="Calibri" pitchFamily="34" charset="0"/>
                <a:ea typeface="Calibri" pitchFamily="34" charset="-122"/>
                <a:cs typeface="Calibri" pitchFamily="34" charset="-120"/>
              </a:rPr>
              <a:t>food systems &amp; logistics</a:t>
            </a:r>
            <a:endParaRPr lang="en-US" sz="1250" dirty="0"/>
          </a:p>
        </p:txBody>
      </p:sp>
      <p:sp>
        <p:nvSpPr>
          <p:cNvPr id="15" name="Shape 11"/>
          <p:cNvSpPr/>
          <p:nvPr/>
        </p:nvSpPr>
        <p:spPr>
          <a:xfrm>
            <a:off x="5184648" y="4041648"/>
            <a:ext cx="2212848" cy="1627632"/>
          </a:xfrm>
          <a:prstGeom prst="roundRect">
            <a:avLst>
              <a:gd name="adj" fmla="val 3933"/>
            </a:avLst>
          </a:prstGeom>
          <a:solidFill>
            <a:srgbClr val="EDF1F6"/>
          </a:solidFill>
          <a:ln/>
        </p:spPr>
      </p:sp>
      <p:pic>
        <p:nvPicPr>
          <p:cNvPr id="16" name="Image 2" descr="assets/icon_grad.png">    </p:cNvPr>
          <p:cNvPicPr>
            <a:picLocks noChangeAspect="1"/>
          </p:cNvPicPr>
          <p:nvPr/>
        </p:nvPicPr>
        <p:blipFill>
          <a:blip r:embed="rId3"/>
          <a:stretch>
            <a:fillRect/>
          </a:stretch>
        </p:blipFill>
        <p:spPr>
          <a:xfrm>
            <a:off x="6025896" y="4187952"/>
            <a:ext cx="530352" cy="530352"/>
          </a:xfrm>
          <a:prstGeom prst="rect">
            <a:avLst/>
          </a:prstGeom>
        </p:spPr>
      </p:pic>
      <p:sp>
        <p:nvSpPr>
          <p:cNvPr id="17" name="Text 12"/>
          <p:cNvSpPr/>
          <p:nvPr/>
        </p:nvSpPr>
        <p:spPr>
          <a:xfrm>
            <a:off x="5257800" y="4773168"/>
            <a:ext cx="2066544" cy="365760"/>
          </a:xfrm>
          <a:prstGeom prst="rect">
            <a:avLst/>
          </a:prstGeom>
          <a:noFill/>
          <a:ln/>
        </p:spPr>
        <p:txBody>
          <a:bodyPr wrap="square" lIns="0" tIns="0" rIns="0" bIns="0" rtlCol="0" anchor="ctr"/>
          <a:lstStyle/>
          <a:p>
            <a:pPr algn="ctr" indent="0" marL="0">
              <a:buNone/>
            </a:pPr>
            <a:r>
              <a:rPr lang="en-US" sz="1400" b="1" dirty="0">
                <a:solidFill>
                  <a:srgbClr val="14315D"/>
                </a:solidFill>
                <a:latin typeface="Arial" pitchFamily="34" charset="0"/>
                <a:ea typeface="Arial" pitchFamily="34" charset="-122"/>
                <a:cs typeface="Arial" pitchFamily="34" charset="-120"/>
              </a:rPr>
              <a:t>Universities</a:t>
            </a:r>
            <a:endParaRPr lang="en-US" sz="1400" dirty="0"/>
          </a:p>
        </p:txBody>
      </p:sp>
      <p:sp>
        <p:nvSpPr>
          <p:cNvPr id="18" name="Text 13"/>
          <p:cNvSpPr/>
          <p:nvPr/>
        </p:nvSpPr>
        <p:spPr>
          <a:xfrm>
            <a:off x="5257800" y="5120640"/>
            <a:ext cx="2066544" cy="502920"/>
          </a:xfrm>
          <a:prstGeom prst="rect">
            <a:avLst/>
          </a:prstGeom>
          <a:noFill/>
          <a:ln/>
        </p:spPr>
        <p:txBody>
          <a:bodyPr wrap="square" lIns="0" tIns="0" rIns="0" bIns="0" rtlCol="0" anchor="ctr"/>
          <a:lstStyle/>
          <a:p>
            <a:pPr algn="ctr" indent="0" marL="0">
              <a:lnSpc>
                <a:spcPct val="100000"/>
              </a:lnSpc>
              <a:buNone/>
            </a:pPr>
            <a:r>
              <a:rPr lang="en-US" sz="1250" dirty="0">
                <a:solidFill>
                  <a:srgbClr val="5A5A5A"/>
                </a:solidFill>
                <a:latin typeface="Calibri" pitchFamily="34" charset="0"/>
                <a:ea typeface="Calibri" pitchFamily="34" charset="-122"/>
                <a:cs typeface="Calibri" pitchFamily="34" charset="-120"/>
              </a:rPr>
              <a:t>tele-education &amp; training</a:t>
            </a:r>
            <a:endParaRPr lang="en-US" sz="1250" dirty="0"/>
          </a:p>
        </p:txBody>
      </p:sp>
      <p:sp>
        <p:nvSpPr>
          <p:cNvPr id="19" name="Shape 14"/>
          <p:cNvSpPr/>
          <p:nvPr/>
        </p:nvSpPr>
        <p:spPr>
          <a:xfrm>
            <a:off x="7502652" y="4041648"/>
            <a:ext cx="2212848" cy="1627632"/>
          </a:xfrm>
          <a:prstGeom prst="roundRect">
            <a:avLst>
              <a:gd name="adj" fmla="val 3933"/>
            </a:avLst>
          </a:prstGeom>
          <a:solidFill>
            <a:srgbClr val="EDF1F6"/>
          </a:solidFill>
          <a:ln/>
        </p:spPr>
      </p:sp>
      <p:pic>
        <p:nvPicPr>
          <p:cNvPr id="20" name="Image 3" descr="assets/icon_bank.png">    </p:cNvPr>
          <p:cNvPicPr>
            <a:picLocks noChangeAspect="1"/>
          </p:cNvPicPr>
          <p:nvPr/>
        </p:nvPicPr>
        <p:blipFill>
          <a:blip r:embed="rId4"/>
          <a:stretch>
            <a:fillRect/>
          </a:stretch>
        </p:blipFill>
        <p:spPr>
          <a:xfrm>
            <a:off x="8343900" y="4187952"/>
            <a:ext cx="530352" cy="530352"/>
          </a:xfrm>
          <a:prstGeom prst="rect">
            <a:avLst/>
          </a:prstGeom>
        </p:spPr>
      </p:pic>
      <p:sp>
        <p:nvSpPr>
          <p:cNvPr id="21" name="Text 15"/>
          <p:cNvSpPr/>
          <p:nvPr/>
        </p:nvSpPr>
        <p:spPr>
          <a:xfrm>
            <a:off x="7575804" y="4773168"/>
            <a:ext cx="2066544" cy="365760"/>
          </a:xfrm>
          <a:prstGeom prst="rect">
            <a:avLst/>
          </a:prstGeom>
          <a:noFill/>
          <a:ln/>
        </p:spPr>
        <p:txBody>
          <a:bodyPr wrap="square" lIns="0" tIns="0" rIns="0" bIns="0" rtlCol="0" anchor="ctr"/>
          <a:lstStyle/>
          <a:p>
            <a:pPr algn="ctr" indent="0" marL="0">
              <a:buNone/>
            </a:pPr>
            <a:r>
              <a:rPr lang="en-US" sz="1400" b="1" dirty="0">
                <a:solidFill>
                  <a:srgbClr val="14315D"/>
                </a:solidFill>
                <a:latin typeface="Arial" pitchFamily="34" charset="0"/>
                <a:ea typeface="Arial" pitchFamily="34" charset="-122"/>
                <a:cs typeface="Arial" pitchFamily="34" charset="-120"/>
              </a:rPr>
              <a:t>Pan-African banks</a:t>
            </a:r>
            <a:endParaRPr lang="en-US" sz="1400" dirty="0"/>
          </a:p>
        </p:txBody>
      </p:sp>
      <p:sp>
        <p:nvSpPr>
          <p:cNvPr id="22" name="Text 16"/>
          <p:cNvSpPr/>
          <p:nvPr/>
        </p:nvSpPr>
        <p:spPr>
          <a:xfrm>
            <a:off x="7575804" y="5120640"/>
            <a:ext cx="2066544" cy="502920"/>
          </a:xfrm>
          <a:prstGeom prst="rect">
            <a:avLst/>
          </a:prstGeom>
          <a:noFill/>
          <a:ln/>
        </p:spPr>
        <p:txBody>
          <a:bodyPr wrap="square" lIns="0" tIns="0" rIns="0" bIns="0" rtlCol="0" anchor="ctr"/>
          <a:lstStyle/>
          <a:p>
            <a:pPr algn="ctr" indent="0" marL="0">
              <a:lnSpc>
                <a:spcPct val="100000"/>
              </a:lnSpc>
              <a:buNone/>
            </a:pPr>
            <a:r>
              <a:rPr lang="en-US" sz="1250" dirty="0">
                <a:solidFill>
                  <a:srgbClr val="5A5A5A"/>
                </a:solidFill>
                <a:latin typeface="Calibri" pitchFamily="34" charset="0"/>
                <a:ea typeface="Calibri" pitchFamily="34" charset="-122"/>
                <a:cs typeface="Calibri" pitchFamily="34" charset="-120"/>
              </a:rPr>
              <a:t>finance &amp; microfinance at the hub</a:t>
            </a:r>
            <a:endParaRPr lang="en-US" sz="1250" dirty="0"/>
          </a:p>
        </p:txBody>
      </p:sp>
      <p:sp>
        <p:nvSpPr>
          <p:cNvPr id="23" name="Shape 17"/>
          <p:cNvSpPr/>
          <p:nvPr/>
        </p:nvSpPr>
        <p:spPr>
          <a:xfrm>
            <a:off x="9820656" y="4041648"/>
            <a:ext cx="2212848" cy="1627632"/>
          </a:xfrm>
          <a:prstGeom prst="roundRect">
            <a:avLst>
              <a:gd name="adj" fmla="val 3933"/>
            </a:avLst>
          </a:prstGeom>
          <a:solidFill>
            <a:srgbClr val="EDF1F6"/>
          </a:solidFill>
          <a:ln/>
        </p:spPr>
      </p:sp>
      <p:pic>
        <p:nvPicPr>
          <p:cNvPr id="24" name="Image 4" descr="assets/icon_health.png">    </p:cNvPr>
          <p:cNvPicPr>
            <a:picLocks noChangeAspect="1"/>
          </p:cNvPicPr>
          <p:nvPr/>
        </p:nvPicPr>
        <p:blipFill>
          <a:blip r:embed="rId5"/>
          <a:stretch>
            <a:fillRect/>
          </a:stretch>
        </p:blipFill>
        <p:spPr>
          <a:xfrm>
            <a:off x="10661904" y="4187952"/>
            <a:ext cx="530352" cy="530352"/>
          </a:xfrm>
          <a:prstGeom prst="rect">
            <a:avLst/>
          </a:prstGeom>
        </p:spPr>
      </p:pic>
      <p:sp>
        <p:nvSpPr>
          <p:cNvPr id="25" name="Text 18"/>
          <p:cNvSpPr/>
          <p:nvPr/>
        </p:nvSpPr>
        <p:spPr>
          <a:xfrm>
            <a:off x="9893808" y="4773168"/>
            <a:ext cx="2066544" cy="365760"/>
          </a:xfrm>
          <a:prstGeom prst="rect">
            <a:avLst/>
          </a:prstGeom>
          <a:noFill/>
          <a:ln/>
        </p:spPr>
        <p:txBody>
          <a:bodyPr wrap="square" lIns="0" tIns="0" rIns="0" bIns="0" rtlCol="0" anchor="ctr"/>
          <a:lstStyle/>
          <a:p>
            <a:pPr algn="ctr" indent="0" marL="0">
              <a:buNone/>
            </a:pPr>
            <a:r>
              <a:rPr lang="en-US" sz="1400" b="1" dirty="0">
                <a:solidFill>
                  <a:srgbClr val="14315D"/>
                </a:solidFill>
                <a:latin typeface="Arial" pitchFamily="34" charset="0"/>
                <a:ea typeface="Arial" pitchFamily="34" charset="-122"/>
                <a:cs typeface="Arial" pitchFamily="34" charset="-120"/>
              </a:rPr>
              <a:t>Health networks</a:t>
            </a:r>
            <a:endParaRPr lang="en-US" sz="1400" dirty="0"/>
          </a:p>
        </p:txBody>
      </p:sp>
      <p:sp>
        <p:nvSpPr>
          <p:cNvPr id="26" name="Text 19"/>
          <p:cNvSpPr/>
          <p:nvPr/>
        </p:nvSpPr>
        <p:spPr>
          <a:xfrm>
            <a:off x="9893808" y="5120640"/>
            <a:ext cx="2066544" cy="502920"/>
          </a:xfrm>
          <a:prstGeom prst="rect">
            <a:avLst/>
          </a:prstGeom>
          <a:noFill/>
          <a:ln/>
        </p:spPr>
        <p:txBody>
          <a:bodyPr wrap="square" lIns="0" tIns="0" rIns="0" bIns="0" rtlCol="0" anchor="ctr"/>
          <a:lstStyle/>
          <a:p>
            <a:pPr algn="ctr" indent="0" marL="0">
              <a:lnSpc>
                <a:spcPct val="100000"/>
              </a:lnSpc>
              <a:buNone/>
            </a:pPr>
            <a:r>
              <a:rPr lang="en-US" sz="1250" dirty="0">
                <a:solidFill>
                  <a:srgbClr val="5A5A5A"/>
                </a:solidFill>
                <a:latin typeface="Calibri" pitchFamily="34" charset="0"/>
                <a:ea typeface="Calibri" pitchFamily="34" charset="-122"/>
                <a:cs typeface="Calibri" pitchFamily="34" charset="-120"/>
              </a:rPr>
              <a:t>clinics &amp; tele-health</a:t>
            </a:r>
            <a:endParaRPr lang="en-US" sz="1250" dirty="0"/>
          </a:p>
        </p:txBody>
      </p:sp>
      <p:sp>
        <p:nvSpPr>
          <p:cNvPr id="27" name="Text 20"/>
          <p:cNvSpPr/>
          <p:nvPr/>
        </p:nvSpPr>
        <p:spPr>
          <a:xfrm>
            <a:off x="548640" y="5833872"/>
            <a:ext cx="11064240" cy="548640"/>
          </a:xfrm>
          <a:prstGeom prst="rect">
            <a:avLst/>
          </a:prstGeom>
          <a:noFill/>
          <a:ln/>
        </p:spPr>
        <p:txBody>
          <a:bodyPr wrap="square" lIns="0" tIns="0" rIns="0" bIns="0" rtlCol="0" anchor="ctr"/>
          <a:lstStyle/>
          <a:p>
            <a:pPr indent="0" marL="0">
              <a:buNone/>
            </a:pPr>
            <a:r>
              <a:rPr lang="en-US" sz="1800" b="1" i="1" dirty="0">
                <a:solidFill>
                  <a:srgbClr val="B07B1F"/>
                </a:solidFill>
                <a:latin typeface="Calibri" pitchFamily="34" charset="0"/>
                <a:ea typeface="Calibri" pitchFamily="34" charset="-122"/>
                <a:cs typeface="Calibri" pitchFamily="34" charset="-120"/>
              </a:rPr>
              <a:t>PURE Power Africa provides the power, the logistics, the management and the operational anchor – so every partner does what it does best.</a:t>
            </a:r>
            <a:endParaRPr lang="en-US" sz="1800" dirty="0"/>
          </a:p>
        </p:txBody>
      </p:sp>
      <p:sp>
        <p:nvSpPr>
          <p:cNvPr id="28" name="Text 21"/>
          <p:cNvSpPr/>
          <p:nvPr/>
        </p:nvSpPr>
        <p:spPr>
          <a:xfrm>
            <a:off x="548640" y="6473952"/>
            <a:ext cx="8686800" cy="274320"/>
          </a:xfrm>
          <a:prstGeom prst="rect">
            <a:avLst/>
          </a:prstGeom>
          <a:noFill/>
          <a:ln/>
        </p:spPr>
        <p:txBody>
          <a:bodyPr wrap="square" lIns="0" tIns="0" rIns="0" bIns="0" rtlCol="0" anchor="ctr"/>
          <a:lstStyle/>
          <a:p>
            <a:pPr indent="0" marL="0">
              <a:buNone/>
            </a:pPr>
            <a:r>
              <a:rPr lang="en-US" sz="1000" b="1" dirty="0">
                <a:solidFill>
                  <a:srgbClr val="5A5A5A"/>
                </a:solidFill>
                <a:latin typeface="Calibri" pitchFamily="34" charset="0"/>
                <a:ea typeface="Calibri" pitchFamily="34" charset="-122"/>
                <a:cs typeface="Calibri" pitchFamily="34" charset="-120"/>
              </a:rPr>
              <a:t>PURE Power Africa</a:t>
            </a:r>
            <a:pPr indent="0" marL="0">
              <a:buNone/>
            </a:pPr>
            <a:r>
              <a:rPr lang="en-US" sz="1000" dirty="0">
                <a:solidFill>
                  <a:srgbClr val="5A5A5A"/>
                </a:solidFill>
                <a:latin typeface="Calibri" pitchFamily="34" charset="0"/>
                <a:ea typeface="Calibri" pitchFamily="34" charset="-122"/>
                <a:cs typeface="Calibri" pitchFamily="34" charset="-120"/>
              </a:rPr>
              <a:t>   ·   Concept teaser   ·   Strictly private &amp; confidential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none" lIns="0" tIns="0" rIns="0" bIns="0" rtlCol="0" anchor="ctr"/>
          <a:lstStyle/>
          <a:p>
            <a:pPr indent="0" marL="0">
              <a:buNone/>
            </a:pPr>
            <a:r>
              <a:rPr lang="en-US" sz="3200" b="1" dirty="0">
                <a:solidFill>
                  <a:srgbClr val="14315D"/>
                </a:solidFill>
                <a:latin typeface="Arial Black" pitchFamily="34" charset="0"/>
                <a:ea typeface="Arial Black" pitchFamily="34" charset="-122"/>
                <a:cs typeface="Arial Black" pitchFamily="34" charset="-120"/>
              </a:rPr>
              <a:t>One network instead of a thousand programs</a:t>
            </a:r>
            <a:endParaRPr lang="en-US" sz="3200" dirty="0"/>
          </a:p>
        </p:txBody>
      </p:sp>
      <p:sp>
        <p:nvSpPr>
          <p:cNvPr id="3" name="Text 1"/>
          <p:cNvSpPr/>
          <p:nvPr/>
        </p:nvSpPr>
        <p:spPr>
          <a:xfrm>
            <a:off x="548640" y="1234440"/>
            <a:ext cx="5394960" cy="457200"/>
          </a:xfrm>
          <a:prstGeom prst="rect">
            <a:avLst/>
          </a:prstGeom>
          <a:noFill/>
          <a:ln/>
        </p:spPr>
        <p:txBody>
          <a:bodyPr wrap="none" lIns="0" tIns="0" rIns="0" bIns="0" rtlCol="0" anchor="ctr"/>
          <a:lstStyle/>
          <a:p>
            <a:pPr indent="0" marL="0">
              <a:buNone/>
            </a:pPr>
            <a:r>
              <a:rPr lang="en-US" sz="2000" b="1" dirty="0">
                <a:solidFill>
                  <a:srgbClr val="2E6B4F"/>
                </a:solidFill>
                <a:latin typeface="Arial" pitchFamily="34" charset="0"/>
                <a:ea typeface="Arial" pitchFamily="34" charset="-122"/>
                <a:cs typeface="Arial" pitchFamily="34" charset="-120"/>
              </a:rPr>
              <a:t>Agriculture at the core</a:t>
            </a:r>
            <a:endParaRPr lang="en-US" sz="2000" dirty="0"/>
          </a:p>
        </p:txBody>
      </p:sp>
      <p:sp>
        <p:nvSpPr>
          <p:cNvPr id="4" name="Text 2"/>
          <p:cNvSpPr/>
          <p:nvPr/>
        </p:nvSpPr>
        <p:spPr>
          <a:xfrm>
            <a:off x="548640" y="1719072"/>
            <a:ext cx="5394960" cy="1051560"/>
          </a:xfrm>
          <a:prstGeom prst="rect">
            <a:avLst/>
          </a:prstGeom>
          <a:noFill/>
          <a:ln/>
        </p:spPr>
        <p:txBody>
          <a:bodyPr wrap="square" lIns="0" tIns="0" rIns="0" bIns="0" rtlCol="0" anchor="ctr"/>
          <a:lstStyle/>
          <a:p>
            <a:pPr indent="0" marL="0">
              <a:lnSpc>
                <a:spcPct val="105000"/>
              </a:lnSpc>
              <a:buNone/>
            </a:pPr>
            <a:r>
              <a:rPr lang="en-US" sz="1600" dirty="0">
                <a:solidFill>
                  <a:srgbClr val="333333"/>
                </a:solidFill>
                <a:latin typeface="Calibri" pitchFamily="34" charset="0"/>
                <a:ea typeface="Calibri" pitchFamily="34" charset="-122"/>
                <a:cs typeface="Calibri" pitchFamily="34" charset="-120"/>
              </a:rPr>
              <a:t>These are agro-energy hubs: the vast majority of activity – and most of the lives touched – runs through the agricultural value chain, exactly the segment AAIN’s incubators serve.</a:t>
            </a:r>
            <a:endParaRPr lang="en-US" sz="1600" dirty="0"/>
          </a:p>
        </p:txBody>
      </p:sp>
      <p:pic>
        <p:nvPicPr>
          <p:cNvPr id="5" name="Image 0" descr="assets/icon_seed.png">    </p:cNvPr>
          <p:cNvPicPr>
            <a:picLocks noChangeAspect="1"/>
          </p:cNvPicPr>
          <p:nvPr/>
        </p:nvPicPr>
        <p:blipFill>
          <a:blip r:embed="rId1"/>
          <a:stretch>
            <a:fillRect/>
          </a:stretch>
        </p:blipFill>
        <p:spPr>
          <a:xfrm>
            <a:off x="548640" y="2926080"/>
            <a:ext cx="475488" cy="475488"/>
          </a:xfrm>
          <a:prstGeom prst="rect">
            <a:avLst/>
          </a:prstGeom>
        </p:spPr>
      </p:pic>
      <p:sp>
        <p:nvSpPr>
          <p:cNvPr id="6" name="Text 3"/>
          <p:cNvSpPr/>
          <p:nvPr/>
        </p:nvSpPr>
        <p:spPr>
          <a:xfrm>
            <a:off x="1170432" y="2898648"/>
            <a:ext cx="47548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Productive uses first</a:t>
            </a:r>
            <a:endParaRPr lang="en-US" sz="1550" dirty="0"/>
          </a:p>
        </p:txBody>
      </p:sp>
      <p:sp>
        <p:nvSpPr>
          <p:cNvPr id="7" name="Text 4"/>
          <p:cNvSpPr/>
          <p:nvPr/>
        </p:nvSpPr>
        <p:spPr>
          <a:xfrm>
            <a:off x="1170432" y="3236976"/>
            <a:ext cx="4754880" cy="50292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irrigation, milling, cold chain, agri-processing</a:t>
            </a:r>
            <a:endParaRPr lang="en-US" sz="1350" dirty="0"/>
          </a:p>
        </p:txBody>
      </p:sp>
      <p:pic>
        <p:nvPicPr>
          <p:cNvPr id="8" name="Image 1" descr="assets/icon_truck.png">    </p:cNvPr>
          <p:cNvPicPr>
            <a:picLocks noChangeAspect="1"/>
          </p:cNvPicPr>
          <p:nvPr/>
        </p:nvPicPr>
        <p:blipFill>
          <a:blip r:embed="rId2"/>
          <a:stretch>
            <a:fillRect/>
          </a:stretch>
        </p:blipFill>
        <p:spPr>
          <a:xfrm>
            <a:off x="548640" y="3813048"/>
            <a:ext cx="475488" cy="475488"/>
          </a:xfrm>
          <a:prstGeom prst="rect">
            <a:avLst/>
          </a:prstGeom>
        </p:spPr>
      </p:pic>
      <p:sp>
        <p:nvSpPr>
          <p:cNvPr id="9" name="Text 5"/>
          <p:cNvSpPr/>
          <p:nvPr/>
        </p:nvSpPr>
        <p:spPr>
          <a:xfrm>
            <a:off x="1170432" y="3785616"/>
            <a:ext cx="47548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E-mobility</a:t>
            </a:r>
            <a:endParaRPr lang="en-US" sz="1550" dirty="0"/>
          </a:p>
        </p:txBody>
      </p:sp>
      <p:sp>
        <p:nvSpPr>
          <p:cNvPr id="10" name="Text 6"/>
          <p:cNvSpPr/>
          <p:nvPr/>
        </p:nvSpPr>
        <p:spPr>
          <a:xfrm>
            <a:off x="1170432" y="4123944"/>
            <a:ext cx="4754880" cy="50292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produce to market – the last-mile artery, cutting post-harvest losses</a:t>
            </a:r>
            <a:endParaRPr lang="en-US" sz="1350" dirty="0"/>
          </a:p>
        </p:txBody>
      </p:sp>
      <p:pic>
        <p:nvPicPr>
          <p:cNvPr id="11" name="Image 2" descr="assets/icon_recycle.png">    </p:cNvPr>
          <p:cNvPicPr>
            <a:picLocks noChangeAspect="1"/>
          </p:cNvPicPr>
          <p:nvPr/>
        </p:nvPicPr>
        <p:blipFill>
          <a:blip r:embed="rId3"/>
          <a:stretch>
            <a:fillRect/>
          </a:stretch>
        </p:blipFill>
        <p:spPr>
          <a:xfrm>
            <a:off x="548640" y="4700016"/>
            <a:ext cx="475488" cy="475488"/>
          </a:xfrm>
          <a:prstGeom prst="rect">
            <a:avLst/>
          </a:prstGeom>
        </p:spPr>
      </p:pic>
      <p:sp>
        <p:nvSpPr>
          <p:cNvPr id="12" name="Text 7"/>
          <p:cNvSpPr/>
          <p:nvPr/>
        </p:nvSpPr>
        <p:spPr>
          <a:xfrm>
            <a:off x="1170432" y="4672584"/>
            <a:ext cx="47548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Circular economy</a:t>
            </a:r>
            <a:endParaRPr lang="en-US" sz="1550" dirty="0"/>
          </a:p>
        </p:txBody>
      </p:sp>
      <p:sp>
        <p:nvSpPr>
          <p:cNvPr id="13" name="Text 8"/>
          <p:cNvSpPr/>
          <p:nvPr/>
        </p:nvSpPr>
        <p:spPr>
          <a:xfrm>
            <a:off x="1170432" y="5010912"/>
            <a:ext cx="4754880" cy="50292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residues to briquettes, biogas and organic fertilizer, back to the farm</a:t>
            </a:r>
            <a:endParaRPr lang="en-US" sz="1350" dirty="0"/>
          </a:p>
        </p:txBody>
      </p:sp>
      <p:sp>
        <p:nvSpPr>
          <p:cNvPr id="14" name="Shape 9"/>
          <p:cNvSpPr/>
          <p:nvPr/>
        </p:nvSpPr>
        <p:spPr>
          <a:xfrm>
            <a:off x="6217920" y="1280160"/>
            <a:ext cx="0" cy="4389120"/>
          </a:xfrm>
          <a:prstGeom prst="line">
            <a:avLst/>
          </a:prstGeom>
          <a:noFill/>
          <a:ln w="12700">
            <a:solidFill>
              <a:srgbClr val="C5CFDB"/>
            </a:solidFill>
            <a:prstDash val="solid"/>
          </a:ln>
        </p:spPr>
      </p:sp>
      <p:sp>
        <p:nvSpPr>
          <p:cNvPr id="15" name="Text 10"/>
          <p:cNvSpPr/>
          <p:nvPr/>
        </p:nvSpPr>
        <p:spPr>
          <a:xfrm>
            <a:off x="6492240" y="1234440"/>
            <a:ext cx="5120640" cy="457200"/>
          </a:xfrm>
          <a:prstGeom prst="rect">
            <a:avLst/>
          </a:prstGeom>
          <a:noFill/>
          <a:ln/>
        </p:spPr>
        <p:txBody>
          <a:bodyPr wrap="none" lIns="0" tIns="0" rIns="0" bIns="0" rtlCol="0" anchor="ctr"/>
          <a:lstStyle/>
          <a:p>
            <a:pPr indent="0" marL="0">
              <a:buNone/>
            </a:pPr>
            <a:r>
              <a:rPr lang="en-US" sz="2000" b="1" dirty="0">
                <a:solidFill>
                  <a:srgbClr val="2E6B4F"/>
                </a:solidFill>
                <a:latin typeface="Arial" pitchFamily="34" charset="0"/>
                <a:ea typeface="Arial" pitchFamily="34" charset="-122"/>
                <a:cs typeface="Arial" pitchFamily="34" charset="-120"/>
              </a:rPr>
              <a:t>One channel – aggregated, with aftercare</a:t>
            </a:r>
            <a:endParaRPr lang="en-US" sz="2000" dirty="0"/>
          </a:p>
        </p:txBody>
      </p:sp>
      <p:sp>
        <p:nvSpPr>
          <p:cNvPr id="16" name="Text 11"/>
          <p:cNvSpPr/>
          <p:nvPr/>
        </p:nvSpPr>
        <p:spPr>
          <a:xfrm>
            <a:off x="6492240" y="1719072"/>
            <a:ext cx="5120640" cy="1051560"/>
          </a:xfrm>
          <a:prstGeom prst="rect">
            <a:avLst/>
          </a:prstGeom>
          <a:noFill/>
          <a:ln/>
        </p:spPr>
        <p:txBody>
          <a:bodyPr wrap="square" lIns="0" tIns="0" rIns="0" bIns="0" rtlCol="0" anchor="ctr"/>
          <a:lstStyle/>
          <a:p>
            <a:pPr indent="0" marL="0">
              <a:lnSpc>
                <a:spcPct val="105000"/>
              </a:lnSpc>
              <a:buNone/>
            </a:pPr>
            <a:r>
              <a:rPr lang="en-US" sz="1600" dirty="0">
                <a:solidFill>
                  <a:srgbClr val="333333"/>
                </a:solidFill>
                <a:latin typeface="Calibri" pitchFamily="34" charset="0"/>
                <a:ea typeface="Calibri" pitchFamily="34" charset="-122"/>
                <a:cs typeface="Calibri" pitchFamily="34" charset="-120"/>
              </a:rPr>
              <a:t>The fragmented single-purpose programs deploy through one hub channel – streamlined and efficient, with long-term aftercare, unified KPIs and data gathering built in.</a:t>
            </a:r>
            <a:endParaRPr lang="en-US" sz="1600" dirty="0"/>
          </a:p>
        </p:txBody>
      </p:sp>
      <p:pic>
        <p:nvPicPr>
          <p:cNvPr id="17" name="Image 3" descr="assets/icon_bolt_gold.png">    </p:cNvPr>
          <p:cNvPicPr>
            <a:picLocks noChangeAspect="1"/>
          </p:cNvPicPr>
          <p:nvPr/>
        </p:nvPicPr>
        <p:blipFill>
          <a:blip r:embed="rId4"/>
          <a:stretch>
            <a:fillRect/>
          </a:stretch>
        </p:blipFill>
        <p:spPr>
          <a:xfrm>
            <a:off x="6492240" y="2926080"/>
            <a:ext cx="475488" cy="475488"/>
          </a:xfrm>
          <a:prstGeom prst="rect">
            <a:avLst/>
          </a:prstGeom>
        </p:spPr>
      </p:pic>
      <p:sp>
        <p:nvSpPr>
          <p:cNvPr id="18" name="Text 12"/>
          <p:cNvSpPr/>
          <p:nvPr/>
        </p:nvSpPr>
        <p:spPr>
          <a:xfrm>
            <a:off x="7114032" y="2898648"/>
            <a:ext cx="457200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Solar home systems &amp; clean cooking</a:t>
            </a:r>
            <a:endParaRPr lang="en-US" sz="1550" dirty="0"/>
          </a:p>
        </p:txBody>
      </p:sp>
      <p:sp>
        <p:nvSpPr>
          <p:cNvPr id="19" name="Text 13"/>
          <p:cNvSpPr/>
          <p:nvPr/>
        </p:nvSpPr>
        <p:spPr>
          <a:xfrm>
            <a:off x="7114032" y="3236976"/>
            <a:ext cx="4572000" cy="50292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points of sale with responsible, long-term aftercare</a:t>
            </a:r>
            <a:endParaRPr lang="en-US" sz="1350" dirty="0"/>
          </a:p>
        </p:txBody>
      </p:sp>
      <p:pic>
        <p:nvPicPr>
          <p:cNvPr id="20" name="Image 4" descr="assets/icon_grad.png">    </p:cNvPr>
          <p:cNvPicPr>
            <a:picLocks noChangeAspect="1"/>
          </p:cNvPicPr>
          <p:nvPr/>
        </p:nvPicPr>
        <p:blipFill>
          <a:blip r:embed="rId5"/>
          <a:stretch>
            <a:fillRect/>
          </a:stretch>
        </p:blipFill>
        <p:spPr>
          <a:xfrm>
            <a:off x="6492240" y="3813048"/>
            <a:ext cx="475488" cy="475488"/>
          </a:xfrm>
          <a:prstGeom prst="rect">
            <a:avLst/>
          </a:prstGeom>
        </p:spPr>
      </p:pic>
      <p:sp>
        <p:nvSpPr>
          <p:cNvPr id="21" name="Text 14"/>
          <p:cNvSpPr/>
          <p:nvPr/>
        </p:nvSpPr>
        <p:spPr>
          <a:xfrm>
            <a:off x="7114032" y="3785616"/>
            <a:ext cx="457200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Tele-education</a:t>
            </a:r>
            <a:endParaRPr lang="en-US" sz="1550" dirty="0"/>
          </a:p>
        </p:txBody>
      </p:sp>
      <p:sp>
        <p:nvSpPr>
          <p:cNvPr id="22" name="Text 15"/>
          <p:cNvSpPr/>
          <p:nvPr/>
        </p:nvSpPr>
        <p:spPr>
          <a:xfrm>
            <a:off x="7114032" y="4123944"/>
            <a:ext cx="4572000" cy="50292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accredited training, delivered at the hub</a:t>
            </a:r>
            <a:endParaRPr lang="en-US" sz="1350" dirty="0"/>
          </a:p>
        </p:txBody>
      </p:sp>
      <p:pic>
        <p:nvPicPr>
          <p:cNvPr id="23" name="Image 5" descr="assets/icon_health.png">    </p:cNvPr>
          <p:cNvPicPr>
            <a:picLocks noChangeAspect="1"/>
          </p:cNvPicPr>
          <p:nvPr/>
        </p:nvPicPr>
        <p:blipFill>
          <a:blip r:embed="rId6"/>
          <a:stretch>
            <a:fillRect/>
          </a:stretch>
        </p:blipFill>
        <p:spPr>
          <a:xfrm>
            <a:off x="6492240" y="4700016"/>
            <a:ext cx="475488" cy="475488"/>
          </a:xfrm>
          <a:prstGeom prst="rect">
            <a:avLst/>
          </a:prstGeom>
        </p:spPr>
      </p:pic>
      <p:sp>
        <p:nvSpPr>
          <p:cNvPr id="24" name="Text 16"/>
          <p:cNvSpPr/>
          <p:nvPr/>
        </p:nvSpPr>
        <p:spPr>
          <a:xfrm>
            <a:off x="7114032" y="4672584"/>
            <a:ext cx="457200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Tele-health</a:t>
            </a:r>
            <a:endParaRPr lang="en-US" sz="1550" dirty="0"/>
          </a:p>
        </p:txBody>
      </p:sp>
      <p:sp>
        <p:nvSpPr>
          <p:cNvPr id="25" name="Text 17"/>
          <p:cNvSpPr/>
          <p:nvPr/>
        </p:nvSpPr>
        <p:spPr>
          <a:xfrm>
            <a:off x="7114032" y="5010912"/>
            <a:ext cx="4572000" cy="50292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clinics with in-field diagnostics</a:t>
            </a:r>
            <a:endParaRPr lang="en-US" sz="1350" dirty="0"/>
          </a:p>
        </p:txBody>
      </p:sp>
      <p:sp>
        <p:nvSpPr>
          <p:cNvPr id="26" name="Text 18"/>
          <p:cNvSpPr/>
          <p:nvPr/>
        </p:nvSpPr>
        <p:spPr>
          <a:xfrm>
            <a:off x="548640" y="5870448"/>
            <a:ext cx="11064240" cy="457200"/>
          </a:xfrm>
          <a:prstGeom prst="rect">
            <a:avLst/>
          </a:prstGeom>
          <a:noFill/>
          <a:ln/>
        </p:spPr>
        <p:txBody>
          <a:bodyPr wrap="square" lIns="0" tIns="0" rIns="0" bIns="0" rtlCol="0" anchor="ctr"/>
          <a:lstStyle/>
          <a:p>
            <a:pPr indent="0" marL="0">
              <a:buNone/>
            </a:pPr>
            <a:r>
              <a:rPr lang="en-US" sz="1800" b="1" i="1" dirty="0">
                <a:solidFill>
                  <a:srgbClr val="B07B1F"/>
                </a:solidFill>
                <a:latin typeface="Calibri" pitchFamily="34" charset="0"/>
                <a:ea typeface="Calibri" pitchFamily="34" charset="-122"/>
                <a:cs typeface="Calibri" pitchFamily="34" charset="-120"/>
              </a:rPr>
              <a:t>One program – in service of all 17 Sustainable Development Goals.</a:t>
            </a:r>
            <a:endParaRPr lang="en-US" sz="1800" dirty="0"/>
          </a:p>
        </p:txBody>
      </p:sp>
      <p:sp>
        <p:nvSpPr>
          <p:cNvPr id="27" name="Text 19"/>
          <p:cNvSpPr/>
          <p:nvPr/>
        </p:nvSpPr>
        <p:spPr>
          <a:xfrm>
            <a:off x="548640" y="6473952"/>
            <a:ext cx="8686800" cy="274320"/>
          </a:xfrm>
          <a:prstGeom prst="rect">
            <a:avLst/>
          </a:prstGeom>
          <a:noFill/>
          <a:ln/>
        </p:spPr>
        <p:txBody>
          <a:bodyPr wrap="square" lIns="0" tIns="0" rIns="0" bIns="0" rtlCol="0" anchor="ctr"/>
          <a:lstStyle/>
          <a:p>
            <a:pPr indent="0" marL="0">
              <a:buNone/>
            </a:pPr>
            <a:r>
              <a:rPr lang="en-US" sz="1000" b="1" dirty="0">
                <a:solidFill>
                  <a:srgbClr val="5A5A5A"/>
                </a:solidFill>
                <a:latin typeface="Calibri" pitchFamily="34" charset="0"/>
                <a:ea typeface="Calibri" pitchFamily="34" charset="-122"/>
                <a:cs typeface="Calibri" pitchFamily="34" charset="-120"/>
              </a:rPr>
              <a:t>PURE Power Africa</a:t>
            </a:r>
            <a:pPr indent="0" marL="0">
              <a:buNone/>
            </a:pPr>
            <a:r>
              <a:rPr lang="en-US" sz="1000" dirty="0">
                <a:solidFill>
                  <a:srgbClr val="5A5A5A"/>
                </a:solidFill>
                <a:latin typeface="Calibri" pitchFamily="34" charset="0"/>
                <a:ea typeface="Calibri" pitchFamily="34" charset="-122"/>
                <a:cs typeface="Calibri" pitchFamily="34" charset="-120"/>
              </a:rPr>
              <a:t>   ·   Concept teaser   ·   Strictly private &amp; confidential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none" lIns="0" tIns="0" rIns="0" bIns="0" rtlCol="0" anchor="ctr"/>
          <a:lstStyle/>
          <a:p>
            <a:pPr indent="0" marL="0">
              <a:buNone/>
            </a:pPr>
            <a:r>
              <a:rPr lang="en-US" sz="3000" b="1" dirty="0">
                <a:solidFill>
                  <a:srgbClr val="14315D"/>
                </a:solidFill>
                <a:latin typeface="Arial Black" pitchFamily="34" charset="0"/>
                <a:ea typeface="Arial Black" pitchFamily="34" charset="-122"/>
                <a:cs typeface="Arial Black" pitchFamily="34" charset="-120"/>
              </a:rPr>
              <a:t>In support of Mission 300 – and the jobs it unlocks</a:t>
            </a:r>
            <a:endParaRPr lang="en-US" sz="3000" dirty="0"/>
          </a:p>
        </p:txBody>
      </p:sp>
      <p:sp>
        <p:nvSpPr>
          <p:cNvPr id="3" name="Text 1"/>
          <p:cNvSpPr/>
          <p:nvPr/>
        </p:nvSpPr>
        <p:spPr>
          <a:xfrm>
            <a:off x="548640" y="1280160"/>
            <a:ext cx="5394960" cy="457200"/>
          </a:xfrm>
          <a:prstGeom prst="rect">
            <a:avLst/>
          </a:prstGeom>
          <a:noFill/>
          <a:ln/>
        </p:spPr>
        <p:txBody>
          <a:bodyPr wrap="none" lIns="0" tIns="0" rIns="0" bIns="0" rtlCol="0" anchor="ctr"/>
          <a:lstStyle/>
          <a:p>
            <a:pPr indent="0" marL="0">
              <a:buNone/>
            </a:pPr>
            <a:r>
              <a:rPr lang="en-US" sz="2000" b="1" dirty="0">
                <a:solidFill>
                  <a:srgbClr val="2E6B4F"/>
                </a:solidFill>
                <a:latin typeface="Arial" pitchFamily="34" charset="0"/>
                <a:ea typeface="Arial" pitchFamily="34" charset="-122"/>
                <a:cs typeface="Arial" pitchFamily="34" charset="-120"/>
              </a:rPr>
              <a:t>Access first – then connections</a:t>
            </a:r>
            <a:endParaRPr lang="en-US" sz="2000" dirty="0"/>
          </a:p>
        </p:txBody>
      </p:sp>
      <p:sp>
        <p:nvSpPr>
          <p:cNvPr id="4" name="Text 2"/>
          <p:cNvSpPr/>
          <p:nvPr/>
        </p:nvSpPr>
        <p:spPr>
          <a:xfrm>
            <a:off x="548640" y="1783080"/>
            <a:ext cx="5394960" cy="1234440"/>
          </a:xfrm>
          <a:prstGeom prst="rect">
            <a:avLst/>
          </a:prstGeom>
          <a:noFill/>
          <a:ln/>
        </p:spPr>
        <p:txBody>
          <a:bodyPr wrap="square" lIns="0" tIns="0" rIns="0" bIns="0" rtlCol="0" anchor="ctr"/>
          <a:lstStyle/>
          <a:p>
            <a:pPr indent="0" marL="0">
              <a:lnSpc>
                <a:spcPct val="105000"/>
              </a:lnSpc>
              <a:buNone/>
            </a:pPr>
            <a:r>
              <a:rPr lang="en-US" sz="1550" dirty="0">
                <a:solidFill>
                  <a:srgbClr val="333333"/>
                </a:solidFill>
                <a:latin typeface="Calibri" pitchFamily="34" charset="0"/>
                <a:ea typeface="Calibri" pitchFamily="34" charset="-122"/>
                <a:cs typeface="Calibri" pitchFamily="34" charset="-120"/>
              </a:rPr>
              <a:t>The hubs actively support Mission 300 and the national energy compacts: productive access to electricity arrives ahead of the grid; solar home systems deployed through the hubs are connections in their own right; mini-grids follow the viability gate and add more.</a:t>
            </a:r>
            <a:endParaRPr lang="en-US" sz="1550" dirty="0"/>
          </a:p>
        </p:txBody>
      </p:sp>
      <p:sp>
        <p:nvSpPr>
          <p:cNvPr id="5" name="Text 3"/>
          <p:cNvSpPr/>
          <p:nvPr/>
        </p:nvSpPr>
        <p:spPr>
          <a:xfrm>
            <a:off x="548640" y="3154680"/>
            <a:ext cx="1691640" cy="502920"/>
          </a:xfrm>
          <a:prstGeom prst="rect">
            <a:avLst/>
          </a:prstGeom>
          <a:noFill/>
          <a:ln/>
        </p:spPr>
        <p:txBody>
          <a:bodyPr wrap="none" lIns="0" tIns="0" rIns="0" bIns="0" rtlCol="0" anchor="ctr"/>
          <a:lstStyle/>
          <a:p>
            <a:pPr indent="0" marL="0">
              <a:buNone/>
            </a:pPr>
            <a:r>
              <a:rPr lang="en-US" sz="2200" b="1" dirty="0">
                <a:solidFill>
                  <a:srgbClr val="B07B1F"/>
                </a:solidFill>
                <a:latin typeface="Arial Black" pitchFamily="34" charset="0"/>
                <a:ea typeface="Arial Black" pitchFamily="34" charset="-122"/>
                <a:cs typeface="Arial Black" pitchFamily="34" charset="-120"/>
              </a:rPr>
              <a:t>300M</a:t>
            </a:r>
            <a:endParaRPr lang="en-US" sz="2200" dirty="0"/>
          </a:p>
        </p:txBody>
      </p:sp>
      <p:sp>
        <p:nvSpPr>
          <p:cNvPr id="6" name="Text 4"/>
          <p:cNvSpPr/>
          <p:nvPr/>
        </p:nvSpPr>
        <p:spPr>
          <a:xfrm>
            <a:off x="2331720" y="3209544"/>
            <a:ext cx="3611880" cy="457200"/>
          </a:xfrm>
          <a:prstGeom prst="rect">
            <a:avLst/>
          </a:prstGeom>
          <a:noFill/>
          <a:ln/>
        </p:spPr>
        <p:txBody>
          <a:bodyPr wrap="square" lIns="0" tIns="0" rIns="0" bIns="0" rtlCol="0" anchor="ctr"/>
          <a:lstStyle/>
          <a:p>
            <a:pPr indent="0" marL="0">
              <a:buNone/>
            </a:pPr>
            <a:r>
              <a:rPr lang="en-US" sz="1450" dirty="0">
                <a:solidFill>
                  <a:srgbClr val="333333"/>
                </a:solidFill>
                <a:latin typeface="Calibri" pitchFamily="34" charset="0"/>
                <a:ea typeface="Calibri" pitchFamily="34" charset="-122"/>
                <a:cs typeface="Calibri" pitchFamily="34" charset="-120"/>
              </a:rPr>
              <a:t>people to be connected by 2030</a:t>
            </a:r>
            <a:endParaRPr lang="en-US" sz="1450" dirty="0"/>
          </a:p>
        </p:txBody>
      </p:sp>
      <p:sp>
        <p:nvSpPr>
          <p:cNvPr id="7" name="Text 5"/>
          <p:cNvSpPr/>
          <p:nvPr/>
        </p:nvSpPr>
        <p:spPr>
          <a:xfrm>
            <a:off x="548640" y="3721608"/>
            <a:ext cx="1691640" cy="502920"/>
          </a:xfrm>
          <a:prstGeom prst="rect">
            <a:avLst/>
          </a:prstGeom>
          <a:noFill/>
          <a:ln/>
        </p:spPr>
        <p:txBody>
          <a:bodyPr wrap="none" lIns="0" tIns="0" rIns="0" bIns="0" rtlCol="0" anchor="ctr"/>
          <a:lstStyle/>
          <a:p>
            <a:pPr indent="0" marL="0">
              <a:buNone/>
            </a:pPr>
            <a:r>
              <a:rPr lang="en-US" sz="2200" b="1" dirty="0">
                <a:solidFill>
                  <a:srgbClr val="B07B1F"/>
                </a:solidFill>
                <a:latin typeface="Arial Black" pitchFamily="34" charset="0"/>
                <a:ea typeface="Arial Black" pitchFamily="34" charset="-122"/>
                <a:cs typeface="Arial Black" pitchFamily="34" charset="-120"/>
              </a:rPr>
              <a:t>48</a:t>
            </a:r>
            <a:endParaRPr lang="en-US" sz="2200" dirty="0"/>
          </a:p>
        </p:txBody>
      </p:sp>
      <p:sp>
        <p:nvSpPr>
          <p:cNvPr id="8" name="Text 6"/>
          <p:cNvSpPr/>
          <p:nvPr/>
        </p:nvSpPr>
        <p:spPr>
          <a:xfrm>
            <a:off x="2331720" y="3776472"/>
            <a:ext cx="3611880" cy="457200"/>
          </a:xfrm>
          <a:prstGeom prst="rect">
            <a:avLst/>
          </a:prstGeom>
          <a:noFill/>
          <a:ln/>
        </p:spPr>
        <p:txBody>
          <a:bodyPr wrap="square" lIns="0" tIns="0" rIns="0" bIns="0" rtlCol="0" anchor="ctr"/>
          <a:lstStyle/>
          <a:p>
            <a:pPr indent="0" marL="0">
              <a:buNone/>
            </a:pPr>
            <a:r>
              <a:rPr lang="en-US" sz="1450" dirty="0">
                <a:solidFill>
                  <a:srgbClr val="333333"/>
                </a:solidFill>
                <a:latin typeface="Calibri" pitchFamily="34" charset="0"/>
                <a:ea typeface="Calibri" pitchFamily="34" charset="-122"/>
                <a:cs typeface="Calibri" pitchFamily="34" charset="-120"/>
              </a:rPr>
              <a:t>countries endorsing – with the African Union</a:t>
            </a:r>
            <a:endParaRPr lang="en-US" sz="1450" dirty="0"/>
          </a:p>
        </p:txBody>
      </p:sp>
      <p:sp>
        <p:nvSpPr>
          <p:cNvPr id="9" name="Text 7"/>
          <p:cNvSpPr/>
          <p:nvPr/>
        </p:nvSpPr>
        <p:spPr>
          <a:xfrm>
            <a:off x="548640" y="4288536"/>
            <a:ext cx="1691640" cy="502920"/>
          </a:xfrm>
          <a:prstGeom prst="rect">
            <a:avLst/>
          </a:prstGeom>
          <a:noFill/>
          <a:ln/>
        </p:spPr>
        <p:txBody>
          <a:bodyPr wrap="none" lIns="0" tIns="0" rIns="0" bIns="0" rtlCol="0" anchor="ctr"/>
          <a:lstStyle/>
          <a:p>
            <a:pPr indent="0" marL="0">
              <a:buNone/>
            </a:pPr>
            <a:r>
              <a:rPr lang="en-US" sz="2200" b="1" dirty="0">
                <a:solidFill>
                  <a:srgbClr val="B07B1F"/>
                </a:solidFill>
                <a:latin typeface="Arial Black" pitchFamily="34" charset="0"/>
                <a:ea typeface="Arial Black" pitchFamily="34" charset="-122"/>
                <a:cs typeface="Arial Black" pitchFamily="34" charset="-120"/>
              </a:rPr>
              <a:t>30</a:t>
            </a:r>
            <a:endParaRPr lang="en-US" sz="2200" dirty="0"/>
          </a:p>
        </p:txBody>
      </p:sp>
      <p:sp>
        <p:nvSpPr>
          <p:cNvPr id="10" name="Text 8"/>
          <p:cNvSpPr/>
          <p:nvPr/>
        </p:nvSpPr>
        <p:spPr>
          <a:xfrm>
            <a:off x="2331720" y="4343400"/>
            <a:ext cx="3611880" cy="457200"/>
          </a:xfrm>
          <a:prstGeom prst="rect">
            <a:avLst/>
          </a:prstGeom>
          <a:noFill/>
          <a:ln/>
        </p:spPr>
        <p:txBody>
          <a:bodyPr wrap="square" lIns="0" tIns="0" rIns="0" bIns="0" rtlCol="0" anchor="ctr"/>
          <a:lstStyle/>
          <a:p>
            <a:pPr indent="0" marL="0">
              <a:buNone/>
            </a:pPr>
            <a:r>
              <a:rPr lang="en-US" sz="1450" dirty="0">
                <a:solidFill>
                  <a:srgbClr val="333333"/>
                </a:solidFill>
                <a:latin typeface="Calibri" pitchFamily="34" charset="0"/>
                <a:ea typeface="Calibri" pitchFamily="34" charset="-122"/>
                <a:cs typeface="Calibri" pitchFamily="34" charset="-120"/>
              </a:rPr>
              <a:t>national energy compacts launched</a:t>
            </a:r>
            <a:endParaRPr lang="en-US" sz="1450" dirty="0"/>
          </a:p>
        </p:txBody>
      </p:sp>
      <p:sp>
        <p:nvSpPr>
          <p:cNvPr id="11" name="Text 9"/>
          <p:cNvSpPr/>
          <p:nvPr/>
        </p:nvSpPr>
        <p:spPr>
          <a:xfrm>
            <a:off x="548640" y="4855464"/>
            <a:ext cx="1691640" cy="502920"/>
          </a:xfrm>
          <a:prstGeom prst="rect">
            <a:avLst/>
          </a:prstGeom>
          <a:noFill/>
          <a:ln/>
        </p:spPr>
        <p:txBody>
          <a:bodyPr wrap="none" lIns="0" tIns="0" rIns="0" bIns="0" rtlCol="0" anchor="ctr"/>
          <a:lstStyle/>
          <a:p>
            <a:pPr indent="0" marL="0">
              <a:buNone/>
            </a:pPr>
            <a:r>
              <a:rPr lang="en-US" sz="2200" b="1" dirty="0">
                <a:solidFill>
                  <a:srgbClr val="B07B1F"/>
                </a:solidFill>
                <a:latin typeface="Arial Black" pitchFamily="34" charset="0"/>
                <a:ea typeface="Arial Black" pitchFamily="34" charset="-122"/>
                <a:cs typeface="Arial Black" pitchFamily="34" charset="-120"/>
              </a:rPr>
              <a:t>50M+</a:t>
            </a:r>
            <a:endParaRPr lang="en-US" sz="2200" dirty="0"/>
          </a:p>
        </p:txBody>
      </p:sp>
      <p:sp>
        <p:nvSpPr>
          <p:cNvPr id="12" name="Text 10"/>
          <p:cNvSpPr/>
          <p:nvPr/>
        </p:nvSpPr>
        <p:spPr>
          <a:xfrm>
            <a:off x="2331720" y="4910328"/>
            <a:ext cx="3611880" cy="457200"/>
          </a:xfrm>
          <a:prstGeom prst="rect">
            <a:avLst/>
          </a:prstGeom>
          <a:noFill/>
          <a:ln/>
        </p:spPr>
        <p:txBody>
          <a:bodyPr wrap="square" lIns="0" tIns="0" rIns="0" bIns="0" rtlCol="0" anchor="ctr"/>
          <a:lstStyle/>
          <a:p>
            <a:pPr indent="0" marL="0">
              <a:buNone/>
            </a:pPr>
            <a:r>
              <a:rPr lang="en-US" sz="1450" dirty="0">
                <a:solidFill>
                  <a:srgbClr val="333333"/>
                </a:solidFill>
                <a:latin typeface="Calibri" pitchFamily="34" charset="0"/>
                <a:ea typeface="Calibri" pitchFamily="34" charset="-122"/>
                <a:cs typeface="Calibri" pitchFamily="34" charset="-120"/>
              </a:rPr>
              <a:t>people already connected in two years</a:t>
            </a:r>
            <a:endParaRPr lang="en-US" sz="1450" dirty="0"/>
          </a:p>
        </p:txBody>
      </p:sp>
      <p:sp>
        <p:nvSpPr>
          <p:cNvPr id="13" name="Text 11"/>
          <p:cNvSpPr/>
          <p:nvPr/>
        </p:nvSpPr>
        <p:spPr>
          <a:xfrm>
            <a:off x="548640" y="5486400"/>
            <a:ext cx="5394960" cy="914400"/>
          </a:xfrm>
          <a:prstGeom prst="rect">
            <a:avLst/>
          </a:prstGeom>
          <a:noFill/>
          <a:ln/>
        </p:spPr>
        <p:txBody>
          <a:bodyPr wrap="square" lIns="0" tIns="0" rIns="0" bIns="0" rtlCol="0" anchor="ctr"/>
          <a:lstStyle/>
          <a:p>
            <a:pPr indent="0" marL="0">
              <a:lnSpc>
                <a:spcPct val="105000"/>
              </a:lnSpc>
              <a:buNone/>
            </a:pPr>
            <a:r>
              <a:rPr lang="en-US" sz="1500" i="1" dirty="0">
                <a:solidFill>
                  <a:srgbClr val="5A5A5A"/>
                </a:solidFill>
                <a:latin typeface="Calibri" pitchFamily="34" charset="0"/>
                <a:ea typeface="Calibri" pitchFamily="34" charset="-122"/>
                <a:cs typeface="Calibri" pitchFamily="34" charset="-120"/>
              </a:rPr>
              <a:t>This architecture can absorb large allocations responsibly – World Bank, European partners, AfDB – because the deployment lattice already exists.</a:t>
            </a:r>
            <a:endParaRPr lang="en-US" sz="1500" dirty="0"/>
          </a:p>
        </p:txBody>
      </p:sp>
      <p:sp>
        <p:nvSpPr>
          <p:cNvPr id="14" name="Shape 12"/>
          <p:cNvSpPr/>
          <p:nvPr/>
        </p:nvSpPr>
        <p:spPr>
          <a:xfrm>
            <a:off x="6217920" y="1325880"/>
            <a:ext cx="0" cy="4846320"/>
          </a:xfrm>
          <a:prstGeom prst="line">
            <a:avLst/>
          </a:prstGeom>
          <a:noFill/>
          <a:ln w="12700">
            <a:solidFill>
              <a:srgbClr val="C5CFDB"/>
            </a:solidFill>
            <a:prstDash val="solid"/>
          </a:ln>
        </p:spPr>
      </p:sp>
      <p:sp>
        <p:nvSpPr>
          <p:cNvPr id="15" name="Text 13"/>
          <p:cNvSpPr/>
          <p:nvPr/>
        </p:nvSpPr>
        <p:spPr>
          <a:xfrm>
            <a:off x="6492240" y="1280160"/>
            <a:ext cx="5120640" cy="457200"/>
          </a:xfrm>
          <a:prstGeom prst="rect">
            <a:avLst/>
          </a:prstGeom>
          <a:noFill/>
          <a:ln/>
        </p:spPr>
        <p:txBody>
          <a:bodyPr wrap="none" lIns="0" tIns="0" rIns="0" bIns="0" rtlCol="0" anchor="ctr"/>
          <a:lstStyle/>
          <a:p>
            <a:pPr indent="0" marL="0">
              <a:buNone/>
            </a:pPr>
            <a:r>
              <a:rPr lang="en-US" sz="2000" b="1" dirty="0">
                <a:solidFill>
                  <a:srgbClr val="2E6B4F"/>
                </a:solidFill>
                <a:latin typeface="Arial" pitchFamily="34" charset="0"/>
                <a:ea typeface="Arial" pitchFamily="34" charset="-122"/>
                <a:cs typeface="Arial" pitchFamily="34" charset="-120"/>
              </a:rPr>
              <a:t>The hub is the catalyst, not the job pool</a:t>
            </a:r>
            <a:endParaRPr lang="en-US" sz="2000" dirty="0"/>
          </a:p>
        </p:txBody>
      </p:sp>
      <p:sp>
        <p:nvSpPr>
          <p:cNvPr id="16" name="Text 14"/>
          <p:cNvSpPr/>
          <p:nvPr/>
        </p:nvSpPr>
        <p:spPr>
          <a:xfrm>
            <a:off x="6492240" y="1783080"/>
            <a:ext cx="5120640" cy="1005840"/>
          </a:xfrm>
          <a:prstGeom prst="rect">
            <a:avLst/>
          </a:prstGeom>
          <a:noFill/>
          <a:ln/>
        </p:spPr>
        <p:txBody>
          <a:bodyPr wrap="square" lIns="0" tIns="0" rIns="0" bIns="0" rtlCol="0" anchor="ctr"/>
          <a:lstStyle/>
          <a:p>
            <a:pPr indent="0" marL="0">
              <a:lnSpc>
                <a:spcPct val="106000"/>
              </a:lnSpc>
              <a:buNone/>
            </a:pPr>
            <a:r>
              <a:rPr lang="en-US" sz="1600" dirty="0">
                <a:solidFill>
                  <a:srgbClr val="333333"/>
                </a:solidFill>
                <a:latin typeface="Calibri" pitchFamily="34" charset="0"/>
                <a:ea typeface="Calibri" pitchFamily="34" charset="-122"/>
                <a:cs typeface="Calibri" pitchFamily="34" charset="-120"/>
              </a:rPr>
              <a:t>Hub teams stay deliberately compact. The employment story is the agricultural value chain the hub powers – in economies where agriculture provides most livelihoods.</a:t>
            </a:r>
            <a:endParaRPr lang="en-US" sz="1600" dirty="0"/>
          </a:p>
        </p:txBody>
      </p:sp>
      <p:pic>
        <p:nvPicPr>
          <p:cNvPr id="17" name="Image 0" descr="assets/icon_seed.png">    </p:cNvPr>
          <p:cNvPicPr>
            <a:picLocks noChangeAspect="1"/>
          </p:cNvPicPr>
          <p:nvPr/>
        </p:nvPicPr>
        <p:blipFill>
          <a:blip r:embed="rId1"/>
          <a:stretch>
            <a:fillRect/>
          </a:stretch>
        </p:blipFill>
        <p:spPr>
          <a:xfrm>
            <a:off x="6492240" y="2971800"/>
            <a:ext cx="475488" cy="475488"/>
          </a:xfrm>
          <a:prstGeom prst="rect">
            <a:avLst/>
          </a:prstGeom>
        </p:spPr>
      </p:pic>
      <p:sp>
        <p:nvSpPr>
          <p:cNvPr id="18" name="Text 15"/>
          <p:cNvSpPr/>
          <p:nvPr/>
        </p:nvSpPr>
        <p:spPr>
          <a:xfrm>
            <a:off x="7114032" y="2944368"/>
            <a:ext cx="45262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Produce &amp; process</a:t>
            </a:r>
            <a:endParaRPr lang="en-US" sz="1550" dirty="0"/>
          </a:p>
        </p:txBody>
      </p:sp>
      <p:sp>
        <p:nvSpPr>
          <p:cNvPr id="19" name="Text 16"/>
          <p:cNvSpPr/>
          <p:nvPr/>
        </p:nvSpPr>
        <p:spPr>
          <a:xfrm>
            <a:off x="7114032" y="3282696"/>
            <a:ext cx="4526280" cy="45720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irrigation, milling, cold chain, agri-processing</a:t>
            </a:r>
            <a:endParaRPr lang="en-US" sz="1350" dirty="0"/>
          </a:p>
        </p:txBody>
      </p:sp>
      <p:pic>
        <p:nvPicPr>
          <p:cNvPr id="20" name="Image 1" descr="assets/icon_truck.png">    </p:cNvPr>
          <p:cNvPicPr>
            <a:picLocks noChangeAspect="1"/>
          </p:cNvPicPr>
          <p:nvPr/>
        </p:nvPicPr>
        <p:blipFill>
          <a:blip r:embed="rId2"/>
          <a:stretch>
            <a:fillRect/>
          </a:stretch>
        </p:blipFill>
        <p:spPr>
          <a:xfrm>
            <a:off x="6492240" y="3813048"/>
            <a:ext cx="475488" cy="475488"/>
          </a:xfrm>
          <a:prstGeom prst="rect">
            <a:avLst/>
          </a:prstGeom>
        </p:spPr>
      </p:pic>
      <p:sp>
        <p:nvSpPr>
          <p:cNvPr id="21" name="Text 17"/>
          <p:cNvSpPr/>
          <p:nvPr/>
        </p:nvSpPr>
        <p:spPr>
          <a:xfrm>
            <a:off x="7114032" y="3785616"/>
            <a:ext cx="45262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Preserve, trade &amp; transport</a:t>
            </a:r>
            <a:endParaRPr lang="en-US" sz="1550" dirty="0"/>
          </a:p>
        </p:txBody>
      </p:sp>
      <p:sp>
        <p:nvSpPr>
          <p:cNvPr id="22" name="Text 18"/>
          <p:cNvSpPr/>
          <p:nvPr/>
        </p:nvSpPr>
        <p:spPr>
          <a:xfrm>
            <a:off x="7114032" y="4123944"/>
            <a:ext cx="4526280" cy="45720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e-mobility moves harvests, cuts post-harvest losses</a:t>
            </a:r>
            <a:endParaRPr lang="en-US" sz="1350" dirty="0"/>
          </a:p>
        </p:txBody>
      </p:sp>
      <p:pic>
        <p:nvPicPr>
          <p:cNvPr id="23" name="Image 2" descr="assets/icon_grad.png">    </p:cNvPr>
          <p:cNvPicPr>
            <a:picLocks noChangeAspect="1"/>
          </p:cNvPicPr>
          <p:nvPr/>
        </p:nvPicPr>
        <p:blipFill>
          <a:blip r:embed="rId3"/>
          <a:stretch>
            <a:fillRect/>
          </a:stretch>
        </p:blipFill>
        <p:spPr>
          <a:xfrm>
            <a:off x="6492240" y="4654296"/>
            <a:ext cx="475488" cy="475488"/>
          </a:xfrm>
          <a:prstGeom prst="rect">
            <a:avLst/>
          </a:prstGeom>
        </p:spPr>
      </p:pic>
      <p:sp>
        <p:nvSpPr>
          <p:cNvPr id="24" name="Text 19"/>
          <p:cNvSpPr/>
          <p:nvPr/>
        </p:nvSpPr>
        <p:spPr>
          <a:xfrm>
            <a:off x="7114032" y="4626864"/>
            <a:ext cx="4526280" cy="365760"/>
          </a:xfrm>
          <a:prstGeom prst="rect">
            <a:avLst/>
          </a:prstGeom>
          <a:noFill/>
          <a:ln/>
        </p:spPr>
        <p:txBody>
          <a:bodyPr wrap="none" lIns="0" tIns="0" rIns="0" bIns="0" rtlCol="0" anchor="ctr"/>
          <a:lstStyle/>
          <a:p>
            <a:pPr indent="0" marL="0">
              <a:buNone/>
            </a:pPr>
            <a:r>
              <a:rPr lang="en-US" sz="1550" b="1" dirty="0">
                <a:solidFill>
                  <a:srgbClr val="14315D"/>
                </a:solidFill>
                <a:latin typeface="Arial" pitchFamily="34" charset="0"/>
                <a:ea typeface="Arial" pitchFamily="34" charset="-122"/>
                <a:cs typeface="Arial" pitchFamily="34" charset="-120"/>
              </a:rPr>
              <a:t>Serve &amp; equip</a:t>
            </a:r>
            <a:endParaRPr lang="en-US" sz="1550" dirty="0"/>
          </a:p>
        </p:txBody>
      </p:sp>
      <p:sp>
        <p:nvSpPr>
          <p:cNvPr id="25" name="Text 20"/>
          <p:cNvSpPr/>
          <p:nvPr/>
        </p:nvSpPr>
        <p:spPr>
          <a:xfrm>
            <a:off x="7114032" y="4965192"/>
            <a:ext cx="4526280" cy="45720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technicians, workshops, SMEs and C&amp;I customers – trained at the hub and by tele-education</a:t>
            </a:r>
            <a:endParaRPr lang="en-US" sz="1350" dirty="0"/>
          </a:p>
        </p:txBody>
      </p:sp>
      <p:sp>
        <p:nvSpPr>
          <p:cNvPr id="26" name="Text 21"/>
          <p:cNvSpPr/>
          <p:nvPr/>
        </p:nvSpPr>
        <p:spPr>
          <a:xfrm>
            <a:off x="6492240" y="5559552"/>
            <a:ext cx="5120640" cy="777240"/>
          </a:xfrm>
          <a:prstGeom prst="rect">
            <a:avLst/>
          </a:prstGeom>
          <a:noFill/>
          <a:ln/>
        </p:spPr>
        <p:txBody>
          <a:bodyPr wrap="square" lIns="0" tIns="0" rIns="0" bIns="0" rtlCol="0" anchor="ctr"/>
          <a:lstStyle/>
          <a:p>
            <a:pPr indent="0" marL="0">
              <a:lnSpc>
                <a:spcPct val="105000"/>
              </a:lnSpc>
              <a:buNone/>
            </a:pPr>
            <a:r>
              <a:rPr lang="en-US" sz="1600" b="1" dirty="0">
                <a:solidFill>
                  <a:srgbClr val="B07B1F"/>
                </a:solidFill>
                <a:latin typeface="Calibri" pitchFamily="34" charset="0"/>
                <a:ea typeface="Calibri" pitchFamily="34" charset="-122"/>
                <a:cs typeface="Calibri" pitchFamily="34" charset="-120"/>
              </a:rPr>
              <a:t>US$ 1 trillion</a:t>
            </a:r>
            <a:pPr indent="0" marL="0">
              <a:lnSpc>
                <a:spcPct val="105000"/>
              </a:lnSpc>
              <a:buNone/>
            </a:pPr>
            <a:r>
              <a:rPr lang="en-US" sz="1600" dirty="0">
                <a:solidFill>
                  <a:srgbClr val="333333"/>
                </a:solidFill>
                <a:latin typeface="Calibri" pitchFamily="34" charset="0"/>
                <a:ea typeface="Calibri" pitchFamily="34" charset="-122"/>
                <a:cs typeface="Calibri" pitchFamily="34" charset="-120"/>
              </a:rPr>
              <a:t>  – Africa’s agrifood market by 2030, conditional on electricity and irrigation (World Bank).</a:t>
            </a:r>
            <a:endParaRPr lang="en-US" sz="1600" dirty="0"/>
          </a:p>
        </p:txBody>
      </p:sp>
      <p:sp>
        <p:nvSpPr>
          <p:cNvPr id="27" name="Text 22"/>
          <p:cNvSpPr/>
          <p:nvPr/>
        </p:nvSpPr>
        <p:spPr>
          <a:xfrm>
            <a:off x="548640" y="6473952"/>
            <a:ext cx="8686800" cy="274320"/>
          </a:xfrm>
          <a:prstGeom prst="rect">
            <a:avLst/>
          </a:prstGeom>
          <a:noFill/>
          <a:ln/>
        </p:spPr>
        <p:txBody>
          <a:bodyPr wrap="square" lIns="0" tIns="0" rIns="0" bIns="0" rtlCol="0" anchor="ctr"/>
          <a:lstStyle/>
          <a:p>
            <a:pPr indent="0" marL="0">
              <a:buNone/>
            </a:pPr>
            <a:r>
              <a:rPr lang="en-US" sz="1000" b="1" dirty="0">
                <a:solidFill>
                  <a:srgbClr val="5A5A5A"/>
                </a:solidFill>
                <a:latin typeface="Calibri" pitchFamily="34" charset="0"/>
                <a:ea typeface="Calibri" pitchFamily="34" charset="-122"/>
                <a:cs typeface="Calibri" pitchFamily="34" charset="-120"/>
              </a:rPr>
              <a:t>PURE Power Africa</a:t>
            </a:r>
            <a:pPr indent="0" marL="0">
              <a:buNone/>
            </a:pPr>
            <a:r>
              <a:rPr lang="en-US" sz="1000" dirty="0">
                <a:solidFill>
                  <a:srgbClr val="5A5A5A"/>
                </a:solidFill>
                <a:latin typeface="Calibri" pitchFamily="34" charset="0"/>
                <a:ea typeface="Calibri" pitchFamily="34" charset="-122"/>
                <a:cs typeface="Calibri" pitchFamily="34" charset="-120"/>
              </a:rPr>
              <a:t>   ·   Concept teaser   ·   Strictly private &amp; confidential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315D"/>
        </a:solidFill>
      </p:bgPr>
    </p:bg>
    <p:spTree>
      <p:nvGrpSpPr>
        <p:cNvPr id="1" name=""/>
        <p:cNvGrpSpPr/>
        <p:nvPr/>
      </p:nvGrpSpPr>
      <p:grpSpPr>
        <a:xfrm>
          <a:off x="0" y="0"/>
          <a:ext cx="0" cy="0"/>
          <a:chOff x="0" y="0"/>
          <a:chExt cx="0" cy="0"/>
        </a:xfrm>
      </p:grpSpPr>
      <p:sp>
        <p:nvSpPr>
          <p:cNvPr id="2" name="Text 0"/>
          <p:cNvSpPr/>
          <p:nvPr/>
        </p:nvSpPr>
        <p:spPr>
          <a:xfrm>
            <a:off x="548640" y="548640"/>
            <a:ext cx="11064240" cy="731520"/>
          </a:xfrm>
          <a:prstGeom prst="rect">
            <a:avLst/>
          </a:prstGeom>
          <a:noFill/>
          <a:ln/>
        </p:spPr>
        <p:txBody>
          <a:bodyPr wrap="none" lIns="0" tIns="0" rIns="0" bIns="0" rtlCol="0" anchor="ctr"/>
          <a:lstStyle/>
          <a:p>
            <a:pPr indent="0" marL="0">
              <a:buNone/>
            </a:pPr>
            <a:r>
              <a:rPr lang="en-US" sz="4000" b="1" dirty="0">
                <a:solidFill>
                  <a:srgbClr val="FFFFFF"/>
                </a:solidFill>
                <a:latin typeface="Arial Black" pitchFamily="34" charset="0"/>
                <a:ea typeface="Arial Black" pitchFamily="34" charset="-122"/>
                <a:cs typeface="Arial Black" pitchFamily="34" charset="-120"/>
              </a:rPr>
              <a:t>An invitation to collaborate</a:t>
            </a:r>
            <a:endParaRPr lang="en-US" sz="4000" dirty="0"/>
          </a:p>
        </p:txBody>
      </p:sp>
      <p:sp>
        <p:nvSpPr>
          <p:cNvPr id="3" name="Text 1"/>
          <p:cNvSpPr/>
          <p:nvPr/>
        </p:nvSpPr>
        <p:spPr>
          <a:xfrm>
            <a:off x="548640" y="1463040"/>
            <a:ext cx="11064240" cy="1234440"/>
          </a:xfrm>
          <a:prstGeom prst="rect">
            <a:avLst/>
          </a:prstGeom>
          <a:noFill/>
          <a:ln/>
        </p:spPr>
        <p:txBody>
          <a:bodyPr wrap="square" lIns="0" tIns="0" rIns="0" bIns="0" rtlCol="0" anchor="ctr"/>
          <a:lstStyle/>
          <a:p>
            <a:pPr indent="0" marL="0">
              <a:lnSpc>
                <a:spcPct val="112000"/>
              </a:lnSpc>
              <a:buNone/>
            </a:pPr>
            <a:r>
              <a:rPr lang="en-US" sz="2100" dirty="0">
                <a:solidFill>
                  <a:srgbClr val="B6D0E1"/>
                </a:solidFill>
                <a:latin typeface="Calibri" pitchFamily="34" charset="0"/>
                <a:ea typeface="Calibri" pitchFamily="34" charset="-122"/>
                <a:cs typeface="Calibri" pitchFamily="34" charset="-120"/>
              </a:rPr>
              <a:t>PURE Power Africa invites the World Bank, the African Development Bank, European partners, pan-African institutions and aligned investors to build the continental deployment platform for the last mile – country by country, pilot region by pilot region, responsibly.</a:t>
            </a:r>
            <a:endParaRPr lang="en-US" sz="2100" dirty="0"/>
          </a:p>
        </p:txBody>
      </p:sp>
      <p:sp>
        <p:nvSpPr>
          <p:cNvPr id="4" name="Text 2"/>
          <p:cNvSpPr/>
          <p:nvPr/>
        </p:nvSpPr>
        <p:spPr>
          <a:xfrm>
            <a:off x="548640" y="2834640"/>
            <a:ext cx="11064240" cy="1143000"/>
          </a:xfrm>
          <a:prstGeom prst="rect">
            <a:avLst/>
          </a:prstGeom>
          <a:noFill/>
          <a:ln/>
        </p:spPr>
        <p:txBody>
          <a:bodyPr wrap="square" lIns="0" tIns="0" rIns="0" bIns="0" rtlCol="0" anchor="ctr"/>
          <a:lstStyle/>
          <a:p>
            <a:pPr indent="0" marL="0">
              <a:lnSpc>
                <a:spcPct val="108000"/>
              </a:lnSpc>
              <a:buNone/>
            </a:pPr>
            <a:r>
              <a:rPr lang="en-US" sz="1800" b="1" dirty="0">
                <a:solidFill>
                  <a:srgbClr val="B07B1F"/>
                </a:solidFill>
                <a:latin typeface="Calibri" pitchFamily="34" charset="0"/>
                <a:ea typeface="Calibri" pitchFamily="34" charset="-122"/>
                <a:cs typeface="Calibri" pitchFamily="34" charset="-120"/>
              </a:rPr>
              <a:t>The window: </a:t>
            </a:r>
            <a:pPr indent="0" marL="0">
              <a:lnSpc>
                <a:spcPct val="108000"/>
              </a:lnSpc>
              <a:buNone/>
            </a:pPr>
            <a:r>
              <a:rPr lang="en-US" sz="1800" dirty="0">
                <a:solidFill>
                  <a:srgbClr val="FFFFFF"/>
                </a:solidFill>
                <a:latin typeface="Calibri" pitchFamily="34" charset="0"/>
                <a:ea typeface="Calibri" pitchFamily="34" charset="-122"/>
                <a:cs typeface="Calibri" pitchFamily="34" charset="-120"/>
              </a:rPr>
              <a:t>Burundi – seat of the continental HQ and the program’s first market of deployment – holds the Chairmanship of the African Union for 2026. The HQ stands in Bujumbura alongside the principal headquarters of the Trade and Development Bank (TDB), at the heart of the continent – one border from the DRC.</a:t>
            </a:r>
            <a:endParaRPr lang="en-US" sz="1800" dirty="0"/>
          </a:p>
        </p:txBody>
      </p:sp>
      <p:sp>
        <p:nvSpPr>
          <p:cNvPr id="5" name="Shape 3"/>
          <p:cNvSpPr/>
          <p:nvPr/>
        </p:nvSpPr>
        <p:spPr>
          <a:xfrm>
            <a:off x="548640" y="4160520"/>
            <a:ext cx="11091672" cy="1481328"/>
          </a:xfrm>
          <a:prstGeom prst="roundRect">
            <a:avLst>
              <a:gd name="adj" fmla="val 4938"/>
            </a:avLst>
          </a:prstGeom>
          <a:solidFill>
            <a:srgbClr val="1E4A7A"/>
          </a:solidFill>
          <a:ln w="19050">
            <a:solidFill>
              <a:srgbClr val="B07B1F"/>
            </a:solidFill>
            <a:prstDash val="solid"/>
          </a:ln>
        </p:spPr>
      </p:sp>
      <p:sp>
        <p:nvSpPr>
          <p:cNvPr id="6" name="Text 4"/>
          <p:cNvSpPr/>
          <p:nvPr/>
        </p:nvSpPr>
        <p:spPr>
          <a:xfrm>
            <a:off x="914400" y="4334256"/>
            <a:ext cx="10332720" cy="411480"/>
          </a:xfrm>
          <a:prstGeom prst="rect">
            <a:avLst/>
          </a:prstGeom>
          <a:noFill/>
          <a:ln/>
        </p:spPr>
        <p:txBody>
          <a:bodyPr wrap="none" lIns="0" tIns="0" rIns="0" bIns="0" rtlCol="0" anchor="ctr"/>
          <a:lstStyle/>
          <a:p>
            <a:pPr indent="0" marL="0">
              <a:buNone/>
            </a:pPr>
            <a:r>
              <a:rPr lang="en-US" sz="1600" b="1" spc="200" kern="0" dirty="0">
                <a:solidFill>
                  <a:srgbClr val="B07B1F"/>
                </a:solidFill>
                <a:latin typeface="Arial" pitchFamily="34" charset="0"/>
                <a:ea typeface="Arial" pitchFamily="34" charset="-122"/>
                <a:cs typeface="Arial" pitchFamily="34" charset="-120"/>
              </a:rPr>
              <a:t>A PROVEN TEAM</a:t>
            </a:r>
            <a:endParaRPr lang="en-US" sz="1600" dirty="0"/>
          </a:p>
        </p:txBody>
      </p:sp>
      <p:sp>
        <p:nvSpPr>
          <p:cNvPr id="7" name="Text 5"/>
          <p:cNvSpPr/>
          <p:nvPr/>
        </p:nvSpPr>
        <p:spPr>
          <a:xfrm>
            <a:off x="914400" y="4754880"/>
            <a:ext cx="10332720" cy="822960"/>
          </a:xfrm>
          <a:prstGeom prst="rect">
            <a:avLst/>
          </a:prstGeom>
          <a:noFill/>
          <a:ln/>
        </p:spPr>
        <p:txBody>
          <a:bodyPr wrap="square" lIns="0" tIns="0" rIns="0" bIns="0" rtlCol="0" anchor="ctr"/>
          <a:lstStyle/>
          <a:p>
            <a:pPr indent="0" marL="0">
              <a:lnSpc>
                <a:spcPct val="108000"/>
              </a:lnSpc>
              <a:buNone/>
            </a:pPr>
            <a:r>
              <a:rPr lang="en-US" sz="1800" dirty="0">
                <a:solidFill>
                  <a:srgbClr val="FFFFFF"/>
                </a:solidFill>
                <a:latin typeface="Calibri" pitchFamily="34" charset="0"/>
                <a:ea typeface="Calibri" pitchFamily="34" charset="-122"/>
                <a:cs typeface="Calibri" pitchFamily="34" charset="-120"/>
              </a:rPr>
              <a:t>Led by a development team that was first to market in renewable energy in several African countries – and that keeps organization, management and logistics at the center of everything it builds.</a:t>
            </a:r>
            <a:endParaRPr lang="en-US" sz="1800" dirty="0"/>
          </a:p>
        </p:txBody>
      </p:sp>
      <p:sp>
        <p:nvSpPr>
          <p:cNvPr id="8" name="Text 6"/>
          <p:cNvSpPr/>
          <p:nvPr/>
        </p:nvSpPr>
        <p:spPr>
          <a:xfrm>
            <a:off x="548640" y="5989320"/>
            <a:ext cx="8229600" cy="365760"/>
          </a:xfrm>
          <a:prstGeom prst="rect">
            <a:avLst/>
          </a:prstGeom>
          <a:noFill/>
          <a:ln/>
        </p:spPr>
        <p:txBody>
          <a:bodyPr wrap="square" lIns="0" tIns="0" rIns="0" bIns="0" rtlCol="0" anchor="ctr"/>
          <a:lstStyle/>
          <a:p>
            <a:pPr indent="0" marL="0">
              <a:buNone/>
            </a:pPr>
            <a:r>
              <a:rPr lang="en-US" sz="1400" dirty="0">
                <a:solidFill>
                  <a:srgbClr val="B6D0E1"/>
                </a:solidFill>
                <a:latin typeface="Calibri" pitchFamily="34" charset="0"/>
                <a:ea typeface="Calibri" pitchFamily="34" charset="-122"/>
                <a:cs typeface="Calibri" pitchFamily="34" charset="-120"/>
              </a:rPr>
              <a:t>Michael Fichtenberg · PURE Power Africa</a:t>
            </a:r>
            <a:endParaRPr lang="en-US" sz="1400" dirty="0"/>
          </a:p>
        </p:txBody>
      </p:sp>
      <p:sp>
        <p:nvSpPr>
          <p:cNvPr id="9" name="Text 7"/>
          <p:cNvSpPr/>
          <p:nvPr/>
        </p:nvSpPr>
        <p:spPr>
          <a:xfrm>
            <a:off x="548640" y="6473952"/>
            <a:ext cx="8686800" cy="274320"/>
          </a:xfrm>
          <a:prstGeom prst="rect">
            <a:avLst/>
          </a:prstGeom>
          <a:noFill/>
          <a:ln/>
        </p:spPr>
        <p:txBody>
          <a:bodyPr wrap="square" lIns="0" tIns="0" rIns="0" bIns="0" rtlCol="0" anchor="ctr"/>
          <a:lstStyle/>
          <a:p>
            <a:pPr indent="0" marL="0">
              <a:buNone/>
            </a:pPr>
            <a:r>
              <a:rPr lang="en-US" sz="1000" b="1" dirty="0">
                <a:solidFill>
                  <a:srgbClr val="B6D0E1"/>
                </a:solidFill>
                <a:latin typeface="Calibri" pitchFamily="34" charset="0"/>
                <a:ea typeface="Calibri" pitchFamily="34" charset="-122"/>
                <a:cs typeface="Calibri" pitchFamily="34" charset="-120"/>
              </a:rPr>
              <a:t>PURE Power Africa</a:t>
            </a:r>
            <a:pPr indent="0" marL="0">
              <a:buNone/>
            </a:pPr>
            <a:r>
              <a:rPr lang="en-US" sz="1000" dirty="0">
                <a:solidFill>
                  <a:srgbClr val="B6D0E1"/>
                </a:solidFill>
                <a:latin typeface="Calibri" pitchFamily="34" charset="0"/>
                <a:ea typeface="Calibri" pitchFamily="34" charset="-122"/>
                <a:cs typeface="Calibri" pitchFamily="34" charset="-120"/>
              </a:rPr>
              <a:t>   ·   Concept teaser   ·   Strictly private &amp; confidential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2026-08-07T02:43:29Z</dcterms:created>
  <dcterms:modified xsi:type="dcterms:W3CDTF">2026-08-07T02:43:29Z</dcterms:modified>
</cp:coreProperties>
</file>