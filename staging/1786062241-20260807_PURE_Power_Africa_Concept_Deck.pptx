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60920" cy="1188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PURE POWER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548640" y="1536192"/>
            <a:ext cx="7360920" cy="1965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700" b="1" dirty="0">
                <a:solidFill>
                  <a:srgbClr val="B07B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</a:t>
            </a:r>
            <a:endParaRPr lang="en-US" sz="137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5943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6D0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Productive Uses of Renewable Energy</a:t>
            </a:r>
            <a:endParaRPr lang="en-US" sz="2200" dirty="0"/>
          </a:p>
        </p:txBody>
      </p:sp>
      <p:pic>
        <p:nvPicPr>
          <p:cNvPr id="5" name="Image 0" descr="assets/motif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188720"/>
            <a:ext cx="420624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1605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continental agro-energy hub platform – powering Africa’s last mile through Africa’s own institutions.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53492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B6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a proven development team – first to market in renewable energy across several African markets.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teaser ·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Africa’s last mile is not a technology problem.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07B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is organization. Management. Logistics.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593592" cy="3017520"/>
          </a:xfrm>
          <a:prstGeom prst="roundRect">
            <a:avLst>
              <a:gd name="adj" fmla="val 2424"/>
            </a:avLst>
          </a:prstGeom>
          <a:solidFill>
            <a:srgbClr val="EDF1F6"/>
          </a:solidFill>
          <a:ln/>
        </p:spPr>
      </p:sp>
      <p:pic>
        <p:nvPicPr>
          <p:cNvPr id="5" name="Image 0" descr="assets/icon_bol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3288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27832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68680" y="4050792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Africans still live without electricity – the overwhelming majority in rural, agricultural communities beyond the grid.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2240280"/>
            <a:ext cx="3593592" cy="3017520"/>
          </a:xfrm>
          <a:prstGeom prst="roundRect">
            <a:avLst>
              <a:gd name="adj" fmla="val 2424"/>
            </a:avLst>
          </a:prstGeom>
          <a:solidFill>
            <a:srgbClr val="EDF1F6"/>
          </a:solidFill>
          <a:ln/>
        </p:spPr>
      </p:sp>
      <p:pic>
        <p:nvPicPr>
          <p:cNvPr id="9" name="Image 1" descr="assets/icon_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532888"/>
            <a:ext cx="603504" cy="6035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3227832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thousand programs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617720" y="4050792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home systems, clean cookstoves, health, education – deployed as separate single-purpose programs, each carrying its own overhead, most ending at handover.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046720" y="2240280"/>
            <a:ext cx="3593592" cy="3017520"/>
          </a:xfrm>
          <a:prstGeom prst="roundRect">
            <a:avLst>
              <a:gd name="adj" fmla="val 2424"/>
            </a:avLst>
          </a:prstGeom>
          <a:solidFill>
            <a:srgbClr val="EDF1F6"/>
          </a:solidFill>
          <a:ln/>
        </p:spPr>
      </p:sp>
      <p:pic>
        <p:nvPicPr>
          <p:cNvPr id="13" name="Image 2" descr="assets/icon_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532888"/>
            <a:ext cx="603504" cy="6035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66760" y="3227832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Overhead &amp; aftercare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366760" y="4050792"/>
            <a:ext cx="2953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overhead spread over small loads is what has always killed rural energy – and decades-long aftercare is what decides whether systems still run.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is proven and capital is mobilizing at record scale. What breaks down is deployment – organization, management and logistics at the last mile.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Power Africa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Concept teaser   ·   Strictly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wheel, many spokes – at every level</a:t>
            </a:r>
            <a:endParaRPr lang="en-US" sz="3200" dirty="0"/>
          </a:p>
        </p:txBody>
      </p:sp>
      <p:pic>
        <p:nvPicPr>
          <p:cNvPr id="3" name="Image 0" descr="assets/motif_r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754880" cy="4754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1081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follows each country’s size, density, electrification rate and grid plans – a DRC is not a Burundi.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669280" y="1316736"/>
            <a:ext cx="329184" cy="329184"/>
          </a:xfrm>
          <a:prstGeom prst="ellipse">
            <a:avLst/>
          </a:prstGeom>
          <a:solidFill>
            <a:srgbClr val="B07B1F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0" y="1316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44768" y="1298448"/>
            <a:ext cx="55321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Continental HQ – Burundi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144768" y="1664208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organization, management and direction: engineering, procurement standards, program design, financing architecture, KPIs and data for the whole network.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0" y="2505456"/>
            <a:ext cx="329184" cy="329184"/>
          </a:xfrm>
          <a:prstGeom prst="ellipse">
            <a:avLst/>
          </a:prstGeom>
          <a:solidFill>
            <a:srgbClr val="1E4A7A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44768" y="2487168"/>
            <a:ext cx="55321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HQs – through AAIN partnerships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144768" y="2852928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wheel: customs, tax, accounting, legal, ministries, culture and local supply – functions that cannot, and should not, be centralized.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669280" y="3694176"/>
            <a:ext cx="329184" cy="329184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4" name="Text 11"/>
          <p:cNvSpPr/>
          <p:nvPr/>
        </p:nvSpPr>
        <p:spPr>
          <a:xfrm>
            <a:off x="5669280" y="3694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44768" y="3675888"/>
            <a:ext cx="55321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Subregional wheels – members’ branches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144768" y="4041648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AAIN members’ existing infrastructure and personnel – not necessarily their buildings – overlaid with program expertise and staffing; they supervise, train and part-staff the hubs.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669280" y="4882896"/>
            <a:ext cx="329184" cy="329184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0" y="4882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144768" y="4864608"/>
            <a:ext cx="55321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Agro-energy hubs – clusters to the last mile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144768" y="5230368"/>
            <a:ext cx="5532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where needed in rural areas, deployed in sequential waves and clusters for logistical and operational coherence – and from the hubs, the last mile.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44768" y="6108192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B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 country: one pilot region → deploy in clusters → work out the kinks → verify → scale.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Power Africa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Concept teaser   ·   Strictly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 through what already exists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MOU executed with the </a:t>
            </a:r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43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Agribusiness Incubators Network (AAIN)</a:t>
            </a:r>
            <a:pPr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an African-led, African-owned network of 110+ member incubators and enterprise-support organizations spanning a 54-country network, and a technical partner of the African Union Commission for incubation.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and country structures overlay the members’ existing operational infrastructure and personnel – not necessarily their buildings – with expertise, support and staffing added from the continental and country HQs as needed.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48640" y="279806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431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is absorbed across the lattice, not by one headquarters: </a:t>
            </a:r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functions at the center, national functions in each country HQ, local administration inside the members’ existing structures. No new accountants and lawyers for every place.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48640" y="3639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Pan-African pillar institutions slot into the verticals they already run (illustrative):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041648"/>
            <a:ext cx="2212848" cy="1627632"/>
          </a:xfrm>
          <a:prstGeom prst="roundRect">
            <a:avLst>
              <a:gd name="adj" fmla="val 3933"/>
            </a:avLst>
          </a:prstGeom>
          <a:solidFill>
            <a:srgbClr val="EDF1F6"/>
          </a:solidFill>
          <a:ln/>
        </p:spPr>
      </p:sp>
      <p:pic>
        <p:nvPicPr>
          <p:cNvPr id="8" name="Image 0" descr="assets/icon_wh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4187952"/>
            <a:ext cx="530352" cy="53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477316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1792" y="512064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farmer field schools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866644" y="4041648"/>
            <a:ext cx="2212848" cy="1627632"/>
          </a:xfrm>
          <a:prstGeom prst="roundRect">
            <a:avLst>
              <a:gd name="adj" fmla="val 3933"/>
            </a:avLst>
          </a:prstGeom>
          <a:solidFill>
            <a:srgbClr val="EDF1F6"/>
          </a:solidFill>
          <a:ln/>
        </p:spPr>
      </p:sp>
      <p:pic>
        <p:nvPicPr>
          <p:cNvPr id="12" name="Image 1" descr="assets/icon_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4187952"/>
            <a:ext cx="530352" cy="5303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39796" y="477316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WFP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939796" y="512064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systems &amp; logistics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184648" y="4041648"/>
            <a:ext cx="2212848" cy="1627632"/>
          </a:xfrm>
          <a:prstGeom prst="roundRect">
            <a:avLst>
              <a:gd name="adj" fmla="val 3933"/>
            </a:avLst>
          </a:prstGeom>
          <a:solidFill>
            <a:srgbClr val="EDF1F6"/>
          </a:solidFill>
          <a:ln/>
        </p:spPr>
      </p:sp>
      <p:pic>
        <p:nvPicPr>
          <p:cNvPr id="16" name="Image 2" descr="assets/icon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4187952"/>
            <a:ext cx="530352" cy="5303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477316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257800" y="512064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tele-education &amp; training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502652" y="4041648"/>
            <a:ext cx="2212848" cy="1627632"/>
          </a:xfrm>
          <a:prstGeom prst="roundRect">
            <a:avLst>
              <a:gd name="adj" fmla="val 3933"/>
            </a:avLst>
          </a:prstGeom>
          <a:solidFill>
            <a:srgbClr val="EDF1F6"/>
          </a:solidFill>
          <a:ln/>
        </p:spPr>
      </p:sp>
      <p:pic>
        <p:nvPicPr>
          <p:cNvPr id="20" name="Image 3" descr="assets/icon_ba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4187952"/>
            <a:ext cx="530352" cy="5303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75804" y="477316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Pan-African banks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575804" y="512064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microfinance at the hub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9820656" y="4041648"/>
            <a:ext cx="2212848" cy="1627632"/>
          </a:xfrm>
          <a:prstGeom prst="roundRect">
            <a:avLst>
              <a:gd name="adj" fmla="val 3933"/>
            </a:avLst>
          </a:prstGeom>
          <a:solidFill>
            <a:srgbClr val="EDF1F6"/>
          </a:solidFill>
          <a:ln/>
        </p:spPr>
      </p:sp>
      <p:pic>
        <p:nvPicPr>
          <p:cNvPr id="24" name="Image 4" descr="assets/icon_healt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4" y="4187952"/>
            <a:ext cx="530352" cy="5303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893808" y="4773168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networks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9893808" y="512064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&amp; tele-health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583387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Power Africa provides the power, the logistics, the management and the operational anchor – so every partner does what it does best.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Power Africa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Concept teaser   ·   Strictly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network instead of a thousand programs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39496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 at the core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agro-energy hubs: the vast majority of activity – and most of the lives touched – runs through the agricultural value chain, exactly the segment AAIN’s incubators serve.</a:t>
            </a:r>
            <a:endParaRPr lang="en-US" sz="1600" dirty="0"/>
          </a:p>
        </p:txBody>
      </p:sp>
      <p:pic>
        <p:nvPicPr>
          <p:cNvPr id="5" name="Image 0" descr="assets/icon_s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0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2898648"/>
            <a:ext cx="47548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Productive uses first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170432" y="32369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irrigation, milling, cold chain, agri-processing</a:t>
            </a:r>
            <a:endParaRPr lang="en-US" sz="1350" dirty="0"/>
          </a:p>
        </p:txBody>
      </p:sp>
      <p:pic>
        <p:nvPicPr>
          <p:cNvPr id="8" name="Image 1" descr="assets/icon_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13048"/>
            <a:ext cx="475488" cy="475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85616"/>
            <a:ext cx="47548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E-mobility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170432" y="41239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to market – the last-mile artery, cutting post-harvest losses</a:t>
            </a:r>
            <a:endParaRPr lang="en-US" sz="1350" dirty="0"/>
          </a:p>
        </p:txBody>
      </p:sp>
      <p:pic>
        <p:nvPicPr>
          <p:cNvPr id="11" name="Image 2" descr="assets/icon_recy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00016"/>
            <a:ext cx="475488" cy="4754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4672584"/>
            <a:ext cx="47548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economy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170432" y="50109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residues to briquettes, biogas and organic fertilizer, back to the farm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217920" y="1280160"/>
            <a:ext cx="0" cy="4389120"/>
          </a:xfrm>
          <a:prstGeom prst="line">
            <a:avLst/>
          </a:prstGeom>
          <a:noFill/>
          <a:ln w="12700">
            <a:solidFill>
              <a:srgbClr val="C5CFD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channel – aggregated, with aftercare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492240" y="1719072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fragmented single-purpose programs deploy through one hub channel – streamlined and efficient, with long-term aftercare, unified KPIs and data gathering built in.</a:t>
            </a:r>
            <a:endParaRPr lang="en-US" sz="1600" dirty="0"/>
          </a:p>
        </p:txBody>
      </p:sp>
      <p:pic>
        <p:nvPicPr>
          <p:cNvPr id="17" name="Image 3" descr="assets/icon_bol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926080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14032" y="2898648"/>
            <a:ext cx="457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home systems &amp; clean cooking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114032" y="32369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sale with responsible, long-term aftercare</a:t>
            </a:r>
            <a:endParaRPr lang="en-US" sz="1350" dirty="0"/>
          </a:p>
        </p:txBody>
      </p:sp>
      <p:pic>
        <p:nvPicPr>
          <p:cNvPr id="20" name="Image 4" descr="assets/icon_gra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813048"/>
            <a:ext cx="475488" cy="4754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14032" y="3785616"/>
            <a:ext cx="457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Tele-education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7114032" y="41239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accredited training, delivered at the hub</a:t>
            </a:r>
            <a:endParaRPr lang="en-US" sz="1350" dirty="0"/>
          </a:p>
        </p:txBody>
      </p:sp>
      <p:pic>
        <p:nvPicPr>
          <p:cNvPr id="23" name="Image 5" descr="assets/icon_heal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700016"/>
            <a:ext cx="475488" cy="4754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114032" y="4672584"/>
            <a:ext cx="4572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Tele-health</a:t>
            </a:r>
            <a:endParaRPr lang="en-US" sz="1550" dirty="0"/>
          </a:p>
        </p:txBody>
      </p:sp>
      <p:sp>
        <p:nvSpPr>
          <p:cNvPr id="25" name="Text 17"/>
          <p:cNvSpPr/>
          <p:nvPr/>
        </p:nvSpPr>
        <p:spPr>
          <a:xfrm>
            <a:off x="7114032" y="50109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with in-field diagnostics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program – in service of all 17 Sustainable Development Goals.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Power Africa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Concept teaser   ·   Strictly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15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support of Mission 300 – and the jobs it unlocks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39496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first – then connections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hubs actively support Mission 300 and the national energy compacts: productive access to electricity arrives ahead of the grid; solar home systems deployed through the hubs are connections in their own right; mini-grids follow the viability gate and add more.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16916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B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331720" y="32095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to be connected by 2030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721608"/>
            <a:ext cx="16916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B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331720" y="37764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endorsing – with the African Union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4288536"/>
            <a:ext cx="16916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B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31720" y="43434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energy compacts launched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4855464"/>
            <a:ext cx="169164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B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50M+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31720" y="49103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already connected in two years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54864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architecture can absorb large allocations responsibly – World Bank, European partners, AfDB – because the deployment lattice already exists.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0" cy="4846320"/>
          </a:xfrm>
          <a:prstGeom prst="line">
            <a:avLst/>
          </a:prstGeom>
          <a:noFill/>
          <a:ln w="12700">
            <a:solidFill>
              <a:srgbClr val="C5CF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280160"/>
            <a:ext cx="51206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hub is the catalyst, not the job pool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1783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teams stay deliberately compact. The employment story is the agricultural value chain the hub powers – in economies where agriculture provides most livelihoods.</a:t>
            </a:r>
            <a:endParaRPr lang="en-US" sz="1600" dirty="0"/>
          </a:p>
        </p:txBody>
      </p:sp>
      <p:pic>
        <p:nvPicPr>
          <p:cNvPr id="17" name="Image 0" descr="assets/icon_s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971800"/>
            <a:ext cx="475488" cy="4754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114032" y="2944368"/>
            <a:ext cx="4526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&amp; process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7114032" y="328269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irrigation, milling, cold chain, agri-processing</a:t>
            </a:r>
            <a:endParaRPr lang="en-US" sz="1350" dirty="0"/>
          </a:p>
        </p:txBody>
      </p:sp>
      <p:pic>
        <p:nvPicPr>
          <p:cNvPr id="20" name="Image 1" descr="assets/icon_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813048"/>
            <a:ext cx="475488" cy="4754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14032" y="3785616"/>
            <a:ext cx="4526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Preserve, trade &amp; transport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7114032" y="412394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e-mobility moves harvests, cuts post-harvest losses</a:t>
            </a:r>
            <a:endParaRPr lang="en-US" sz="1350" dirty="0"/>
          </a:p>
        </p:txBody>
      </p:sp>
      <p:pic>
        <p:nvPicPr>
          <p:cNvPr id="23" name="Image 2" descr="assets/icon_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654296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114032" y="4626864"/>
            <a:ext cx="45262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31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&amp; equip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7114032" y="49651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technicians, workshops, SMEs and C&amp;I customers – trained at the hub and by tele-education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6492240" y="555955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B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 trillion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Africa’s agrifood market by 2030, conditional on electricity and irrigation (World Bank).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Power Africa</a:t>
            </a:r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Concept teaser   ·   Strictly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1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 invitation to collaborate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B6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Power Africa invites the World Bank, the African Development Bank, European partners, pan-African institutions and aligned investors to build the continental deployment platform for the last mile – country by country, pilot region by pilot region, responsibly.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B07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window: </a:t>
            </a:r>
            <a:pPr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Burundi – seat of the continental HQ and the program’s first market of deployment – holds the Chairmanship of the African Union for 2026.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11091672" cy="1691640"/>
          </a:xfrm>
          <a:prstGeom prst="roundRect">
            <a:avLst>
              <a:gd name="adj" fmla="val 4324"/>
            </a:avLst>
          </a:prstGeom>
          <a:solidFill>
            <a:srgbClr val="1E4A7A"/>
          </a:solidFill>
          <a:ln w="19050">
            <a:solidFill>
              <a:srgbClr val="B07B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133088"/>
            <a:ext cx="1033272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B07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PROVEN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590288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a development team that was first to market in renewable energy in several African countries – and that keeps organization, management and logistics at the center of everything it builds.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6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Fichtenberg · PURE Power Africa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Power Africa</a:t>
            </a:r>
            <a:pPr indent="0" marL="0">
              <a:buNone/>
            </a:pPr>
            <a:r>
              <a:rPr lang="en-US" sz="1000" dirty="0">
                <a:solidFill>
                  <a:srgbClr val="B6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Concept teaser   ·   Strictly private &amp;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2026-08-07T00:21:04Z</dcterms:created>
  <dcterms:modified xsi:type="dcterms:W3CDTF">2026-08-07T00:21:04Z</dcterms:modified>
</cp:coreProperties>
</file>