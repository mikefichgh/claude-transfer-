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Garder l’annonce de la première pierre pour la dernière diapositive — c’est la révélation de clôture. Ici : situer le programme dans le thème de l’AAICE, les écosystèmes d’incubation pour l’emploi.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besoin en une diapositive : une jeunesse nombreuse, un emploi massivement agricole, et l’énergie productive comme intrant manquant. Les chiffres Banque mondiale / BAD conditionnent le marché de 1 000 Md$ à l’électricité et à l’irrigation.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seul groupe, ancré au Burundi : l’énergie en exploitation, l’agro-industrie en marche, l’exécution locale en interne. C’est le socle qui porte les autres piliers — notre différenciateur.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différenciateur : nous apportons l’énergie, la logistique, la gestion et l’exploitation ; chaque pilier de service est porté par un partenaire sectoriel de référence. Une infrastructure d’intérêt public, opérée dans la durée.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équipe locale volontairement compacte ; l’essentiel de l’emploi naît dans la chaîne de valeur agricole et chez les entreprises alimentées. La formation passe par les deux voies — au pôle et par la télé-éducation — chaque filière avec son pilier sectoriel.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pôle est un condensé d’ODD : énergie (7), faim et agriculture (2), travail (8), égalité femmes-hommes (5), industrie et innovation (9), climat (13) — avec des effets sur les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révélation de clôture : la première pierre a été posée ce matin même, le 4 août 2026, à Nyamugari. Le programme n’est plus une idée — il est en chantier. Puis la grande demande : explorer la collaboration, une invitation par catégorie d’acteurs.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the groundbreaking announcement for the last slide — it is the closing reveal. Here: place the program within the AAICE theme, incubation ecosystems for jobs.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need on one slide: a young population, overwhelmingly agricultural employment, and productive energy as the missing input. The World Bank / AfDB $1 trillion projection is conditional on electricity and irrigation.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group, anchored in Burundi: energy in operation, agro-industry in motion, local execution in-house. That base carries the other pillars — our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differentiator: we bring the power, the logistics, the management and the operations; each service pillar is carried by a best-in-class sector partner. Public-good infrastructure, operated for the long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deliberately compact local team; most employment grows in the agricultural value chain and in the enterprises the hub powers. Training runs by both routes — at the hub and through tele-education — each track with its sector anchor.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hub is an SDG condenser: energy (7), hunger and agriculture (2), work (8), gender (5), industry and innovation (9), climate (13) — with effects across all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closing reveal: ground was broken this very morning, August 4, 2026, at Nyamugari. The program is no longer an idea — it is under construction. Then the big ask: explore collaboration, one invitation per category of 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8001000" cy="969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200" b="1" spc="2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GIGAWATT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0100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000" b="1" spc="350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POWER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1975104"/>
            <a:ext cx="78638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8FA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Productive Uses of Renewable Energy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 flipH="1">
            <a:off x="10076688" y="786384"/>
            <a:ext cx="0" cy="1152144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65792" y="475488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7" name="Image 0" descr="assets/whe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630936"/>
            <a:ext cx="310896" cy="3108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78902" y="1362456"/>
            <a:ext cx="997786" cy="576072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8006" y="1051560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0" name="Image 1" descr="assets/fauc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454" y="1207008"/>
            <a:ext cx="310896" cy="3108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 flipH="1">
            <a:off x="9078902" y="1938528"/>
            <a:ext cx="997786" cy="576072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768006" y="2203704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3" name="Image 2" descr="assets/mot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3454" y="2359152"/>
            <a:ext cx="310896" cy="31089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0076688" y="1938528"/>
            <a:ext cx="0" cy="1152144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765792" y="2779776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6" name="Image 3" descr="assets/sto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2935224"/>
            <a:ext cx="310896" cy="31089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0076688" y="1938528"/>
            <a:ext cx="997786" cy="576072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10763578" y="2203704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9" name="Image 4" descr="assets/gra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9026" y="2359152"/>
            <a:ext cx="310896" cy="310896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 flipH="1">
            <a:off x="10076688" y="1362456"/>
            <a:ext cx="997786" cy="576072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10763578" y="1051560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22" name="Image 5" descr="assets/healt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9026" y="1207008"/>
            <a:ext cx="310896" cy="31089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619488" y="1481328"/>
            <a:ext cx="914400" cy="914400"/>
          </a:xfrm>
          <a:prstGeom prst="ellipse">
            <a:avLst/>
          </a:prstGeom>
          <a:solidFill>
            <a:srgbClr val="B07A1E"/>
          </a:solidFill>
          <a:ln/>
        </p:spPr>
      </p:sp>
      <p:pic>
        <p:nvPicPr>
          <p:cNvPr id="24" name="Image 6" descr="assets/bol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8088" y="1709928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40080" y="250545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AAICE 2026  ·  BUJUMBURA  ·  4 AOÛT 2026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640080" y="2816352"/>
            <a:ext cx="7863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Pôles Agro-Énergétiques</a:t>
            </a:r>
            <a:endParaRPr lang="en-US" sz="3300" dirty="0"/>
          </a:p>
          <a:p>
            <a:pPr indent="0" marL="0">
              <a:lnSpc>
                <a:spcPts val="39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la Transformation Rurale</a:t>
            </a:r>
            <a:endParaRPr lang="en-US" sz="3300" dirty="0"/>
          </a:p>
        </p:txBody>
      </p:sp>
      <p:sp>
        <p:nvSpPr>
          <p:cNvPr id="27" name="Text 18"/>
          <p:cNvSpPr/>
          <p:nvPr/>
        </p:nvSpPr>
        <p:spPr>
          <a:xfrm>
            <a:off x="640080" y="404164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L’énergie productive au service des chaînes de valeur agricoles et de la transformation des économies rurales.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640080" y="45902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PARTENARIAT — FAO  ·  GIGAWATT BURUNDI  ·  PURE POWER PROGRAM</a:t>
            </a:r>
            <a:endParaRPr lang="en-US" sz="1350" dirty="0"/>
          </a:p>
        </p:txBody>
      </p:sp>
      <p:sp>
        <p:nvSpPr>
          <p:cNvPr id="29" name="Shape 20"/>
          <p:cNvSpPr/>
          <p:nvPr/>
        </p:nvSpPr>
        <p:spPr>
          <a:xfrm>
            <a:off x="2715768" y="4937760"/>
            <a:ext cx="6757416" cy="151790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0" name="Image 7" descr="bn_art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52344" y="4974336"/>
            <a:ext cx="6684264" cy="144475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9144000" y="6510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FA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initiative Gigawatt PURE Power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des emplois là où vit le pays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3602736" cy="3127248"/>
          </a:xfrm>
          <a:prstGeom prst="roundRect">
            <a:avLst>
              <a:gd name="adj" fmla="val 1754"/>
            </a:avLst>
          </a:prstGeom>
          <a:solidFill>
            <a:srgbClr val="F8F1E4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481328"/>
            <a:ext cx="30540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sur 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41248" y="2651760"/>
            <a:ext cx="3054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Burundais ont moins de 25 ans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1248" y="354787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une génération qui cherche du travail sur place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93108" y="1298448"/>
            <a:ext cx="3602736" cy="3127248"/>
          </a:xfrm>
          <a:prstGeom prst="roundRect">
            <a:avLst>
              <a:gd name="adj" fmla="val 1754"/>
            </a:avLst>
          </a:prstGeom>
          <a:solidFill>
            <a:srgbClr val="EEF4FA"/>
          </a:solidFill>
          <a:ln/>
        </p:spPr>
      </p:sp>
      <p:sp>
        <p:nvSpPr>
          <p:cNvPr id="8" name="Text 6"/>
          <p:cNvSpPr/>
          <p:nvPr/>
        </p:nvSpPr>
        <p:spPr>
          <a:xfrm>
            <a:off x="4567428" y="1481328"/>
            <a:ext cx="30540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67428" y="2651760"/>
            <a:ext cx="3054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emplois sont agricoles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67428" y="354787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l’emploi du Burundi se crée d’abord dans les campagnes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19288" y="1298448"/>
            <a:ext cx="3602736" cy="3127248"/>
          </a:xfrm>
          <a:prstGeom prst="roundRect">
            <a:avLst>
              <a:gd name="adj" fmla="val 1754"/>
            </a:avLst>
          </a:prstGeom>
          <a:solidFill>
            <a:srgbClr val="EE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8293608" y="1481328"/>
            <a:ext cx="30540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2 %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8293608" y="2651760"/>
            <a:ext cx="3054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d’électricité en milieu rural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93608" y="354787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sans énergie : ni transformation, ni entreprises, ni emplois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572000"/>
            <a:ext cx="11055096" cy="1810512"/>
          </a:xfrm>
          <a:prstGeom prst="roundRect">
            <a:avLst>
              <a:gd name="adj" fmla="val 3030"/>
            </a:avLst>
          </a:prstGeom>
          <a:solidFill>
            <a:srgbClr val="13315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00016"/>
            <a:ext cx="10287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37 % de la production alimentaire se perd faute de froid, de transformation et de transport. Le marché agroalimentaire africain atteindra 1 000 Md$ d’ici 2030 (Banque mondiale) — à condition d’électricité et d’irrigation. Transformer cette chaîne de valeur, c’est le premier gisement d’emplois du Burundi.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Pôles Agro-Énergétiques · PURE Power Program · AAICE 2026 · Bujumbura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groupe ancré au Burundi — une capacité déjà à l’œuvre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207008"/>
            <a:ext cx="11055096" cy="1042416"/>
          </a:xfrm>
          <a:prstGeom prst="roundRect">
            <a:avLst>
              <a:gd name="adj" fmla="val 5263"/>
            </a:avLst>
          </a:prstGeom>
          <a:solidFill>
            <a:srgbClr val="EEF4FA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435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assets/flag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1558503"/>
            <a:ext cx="339425" cy="3394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72768" y="1280160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sites pilotes concédés par le Ministère de l’Énergie — la rampe du déploiement national, avec l’endossement du Ministre et une feuille de route active avec le comité désigné par le Gouvernement.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66928" y="2395728"/>
            <a:ext cx="11055096" cy="4059936"/>
          </a:xfrm>
          <a:prstGeom prst="roundRect">
            <a:avLst>
              <a:gd name="adj" fmla="val 1351"/>
            </a:avLst>
          </a:prstGeom>
          <a:solidFill>
            <a:srgbClr val="13315C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" y="25786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SOCLE OPÉRATIONNEL — UN SEUL GROUPE, DES CAPACITÉS BURUNDAISES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50976" y="3090672"/>
            <a:ext cx="548640" cy="548640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0" name="Image 1" descr="asset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7" y="321137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999232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— </a:t>
            </a:r>
            <a:pPr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L’équipe dirigeante et opérationnelle a développé — et continue d’assurer la gestion de — la centrale solaire de Mubuga (7,5 MW), première IPP solaire du pays (CAE de 25 ans, ~20 restants), au sein d’un portefeuille IPP en développement.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950976" y="4133088"/>
            <a:ext cx="548640" cy="548640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3" name="Image 2" descr="assets/whe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7" y="4253789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4041648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Agro-industrie — </a:t>
            </a:r>
            <a:pPr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d’huile d’avocat au sein de notre consortium — le gisement de déchets du réseau : ~800 t/jour de résidus alimentent la valorisation énergétique ; biodigesteurs et biogaz pilotes déjà en cours.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950976" y="5175504"/>
            <a:ext cx="548640" cy="548640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6" name="Image 3" descr="assets/tools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7" y="5296205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5920" y="5084064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Exécution locale — </a:t>
            </a:r>
            <a:pPr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Construction, exploitation, logistique et hydroélectricité portées par les équipes et les capacités industrielles burundaises du groupe.</a:t>
            </a:r>
            <a:endParaRPr lang="en-US" sz="1750" dirty="0"/>
          </a:p>
        </p:txBody>
      </p:sp>
      <p:sp>
        <p:nvSpPr>
          <p:cNvPr id="18" name="Shape 12"/>
          <p:cNvSpPr/>
          <p:nvPr/>
        </p:nvSpPr>
        <p:spPr>
          <a:xfrm>
            <a:off x="932688" y="6108192"/>
            <a:ext cx="10332720" cy="0"/>
          </a:xfrm>
          <a:prstGeom prst="line">
            <a:avLst/>
          </a:prstGeom>
          <a:noFill/>
          <a:ln w="9525">
            <a:solidFill>
              <a:srgbClr val="3D5A85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932688" y="6163056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faisons ce que nous faisons le mieux — pour que chaque partenaire fasse ce qu’il fait le mieux.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Pôles Agro-Énergétiques · PURE Power Program · AAICE 2026 · Bujumbura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pôle agro-énergétique — un incubateur rural sous tension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L’énergie, la logistique et l’ancrage opérationnel — le socle sur lequel chaque service devient une filière d’emplois et d’entreprises 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2702052" cy="2194560"/>
          </a:xfrm>
          <a:prstGeom prst="roundRect">
            <a:avLst>
              <a:gd name="adj" fmla="val 2083"/>
            </a:avLst>
          </a:prstGeom>
          <a:solidFill>
            <a:srgbClr val="EEF4F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4708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assets/whea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703" y="1969983"/>
            <a:ext cx="339425" cy="3394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450592"/>
            <a:ext cx="22997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Agro-transformation &amp; froid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8096" y="3236976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Mouture, pressage, séchage, stockage à froid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351276" y="1682496"/>
            <a:ext cx="2702052" cy="2194560"/>
          </a:xfrm>
          <a:prstGeom prst="roundRect">
            <a:avLst>
              <a:gd name="adj" fmla="val 2083"/>
            </a:avLst>
          </a:prstGeom>
          <a:solidFill>
            <a:srgbClr val="EEF4FA"/>
          </a:solidFill>
          <a:ln/>
        </p:spPr>
      </p:sp>
      <p:sp>
        <p:nvSpPr>
          <p:cNvPr id="10" name="Shape 7"/>
          <p:cNvSpPr/>
          <p:nvPr/>
        </p:nvSpPr>
        <p:spPr>
          <a:xfrm>
            <a:off x="3534156" y="184708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assets/fauce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051" y="1969983"/>
            <a:ext cx="339425" cy="3394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2444" y="2450592"/>
            <a:ext cx="22997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Eau propre &amp; irrigation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552444" y="3236976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Pompage solaire, filtration, maraîchage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135624" y="1682496"/>
            <a:ext cx="2702052" cy="2194560"/>
          </a:xfrm>
          <a:prstGeom prst="roundRect">
            <a:avLst>
              <a:gd name="adj" fmla="val 2083"/>
            </a:avLst>
          </a:prstGeom>
          <a:solidFill>
            <a:srgbClr val="EEF4FA"/>
          </a:solidFill>
          <a:ln/>
        </p:spPr>
      </p:sp>
      <p:sp>
        <p:nvSpPr>
          <p:cNvPr id="15" name="Shape 11"/>
          <p:cNvSpPr/>
          <p:nvPr/>
        </p:nvSpPr>
        <p:spPr>
          <a:xfrm>
            <a:off x="6318504" y="184708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assets/stor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399" y="1969983"/>
            <a:ext cx="339425" cy="3394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36792" y="2450592"/>
            <a:ext cx="22997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 &amp; après-vente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336792" y="3236976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Solaire domestique, cuisson propre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8919972" y="1682496"/>
            <a:ext cx="2702052" cy="2194560"/>
          </a:xfrm>
          <a:prstGeom prst="roundRect">
            <a:avLst>
              <a:gd name="adj" fmla="val 2083"/>
            </a:avLst>
          </a:prstGeom>
          <a:solidFill>
            <a:srgbClr val="EEF4FA"/>
          </a:solidFill>
          <a:ln/>
        </p:spPr>
      </p:sp>
      <p:sp>
        <p:nvSpPr>
          <p:cNvPr id="20" name="Shape 15"/>
          <p:cNvSpPr/>
          <p:nvPr/>
        </p:nvSpPr>
        <p:spPr>
          <a:xfrm>
            <a:off x="9102852" y="184708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assets/moto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747" y="1969983"/>
            <a:ext cx="339425" cy="3394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21140" y="2450592"/>
            <a:ext cx="22997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E-mobilité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121140" y="3236976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Recharge, e-motos, tricycles électriques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566928" y="3995928"/>
            <a:ext cx="2702052" cy="2194560"/>
          </a:xfrm>
          <a:prstGeom prst="roundRect">
            <a:avLst>
              <a:gd name="adj" fmla="val 2083"/>
            </a:avLst>
          </a:prstGeom>
          <a:solidFill>
            <a:srgbClr val="EEF4FA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4160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assets/lightbulb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703" y="4283415"/>
            <a:ext cx="339425" cy="3394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8096" y="4764024"/>
            <a:ext cx="22997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Entrepreneuriat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768096" y="5550408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Connectivité, outils d’IA, mentorat</a:t>
            </a:r>
            <a:endParaRPr lang="en-US" sz="1450" dirty="0"/>
          </a:p>
        </p:txBody>
      </p:sp>
      <p:sp>
        <p:nvSpPr>
          <p:cNvPr id="29" name="Shape 22"/>
          <p:cNvSpPr/>
          <p:nvPr/>
        </p:nvSpPr>
        <p:spPr>
          <a:xfrm>
            <a:off x="3351276" y="3995928"/>
            <a:ext cx="2702052" cy="2194560"/>
          </a:xfrm>
          <a:prstGeom prst="roundRect">
            <a:avLst>
              <a:gd name="adj" fmla="val 2083"/>
            </a:avLst>
          </a:prstGeom>
          <a:solidFill>
            <a:srgbClr val="EEF4FA"/>
          </a:solidFill>
          <a:ln/>
        </p:spPr>
      </p:sp>
      <p:sp>
        <p:nvSpPr>
          <p:cNvPr id="30" name="Shape 23"/>
          <p:cNvSpPr/>
          <p:nvPr/>
        </p:nvSpPr>
        <p:spPr>
          <a:xfrm>
            <a:off x="3534156" y="4160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assets/coins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051" y="4283415"/>
            <a:ext cx="339425" cy="3394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52444" y="4764024"/>
            <a:ext cx="22997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Inclusion financière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3552444" y="5550408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Microfinance, épargne &amp; crédit</a:t>
            </a:r>
            <a:endParaRPr lang="en-US" sz="1450" dirty="0"/>
          </a:p>
        </p:txBody>
      </p:sp>
      <p:sp>
        <p:nvSpPr>
          <p:cNvPr id="34" name="Shape 26"/>
          <p:cNvSpPr/>
          <p:nvPr/>
        </p:nvSpPr>
        <p:spPr>
          <a:xfrm>
            <a:off x="6135624" y="3995928"/>
            <a:ext cx="2702052" cy="2194560"/>
          </a:xfrm>
          <a:prstGeom prst="roundRect">
            <a:avLst>
              <a:gd name="adj" fmla="val 2083"/>
            </a:avLst>
          </a:prstGeom>
          <a:solidFill>
            <a:srgbClr val="EEF4FA"/>
          </a:solidFill>
          <a:ln/>
        </p:spPr>
      </p:sp>
      <p:sp>
        <p:nvSpPr>
          <p:cNvPr id="35" name="Shape 27"/>
          <p:cNvSpPr/>
          <p:nvPr/>
        </p:nvSpPr>
        <p:spPr>
          <a:xfrm>
            <a:off x="6318504" y="4160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assets/grad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399" y="4283415"/>
            <a:ext cx="339425" cy="33942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36792" y="4764024"/>
            <a:ext cx="22997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Télé-éducation &amp; télésanté</a:t>
            </a:r>
            <a:endParaRPr lang="en-US" sz="1700" dirty="0"/>
          </a:p>
        </p:txBody>
      </p:sp>
      <p:sp>
        <p:nvSpPr>
          <p:cNvPr id="38" name="Text 29"/>
          <p:cNvSpPr/>
          <p:nvPr/>
        </p:nvSpPr>
        <p:spPr>
          <a:xfrm>
            <a:off x="6336792" y="5550408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Programmes universitaires ; santé mère-enfant</a:t>
            </a:r>
            <a:endParaRPr lang="en-US" sz="1450" dirty="0"/>
          </a:p>
        </p:txBody>
      </p:sp>
      <p:sp>
        <p:nvSpPr>
          <p:cNvPr id="39" name="Shape 30"/>
          <p:cNvSpPr/>
          <p:nvPr/>
        </p:nvSpPr>
        <p:spPr>
          <a:xfrm>
            <a:off x="8919972" y="3995928"/>
            <a:ext cx="2702052" cy="2194560"/>
          </a:xfrm>
          <a:prstGeom prst="roundRect">
            <a:avLst>
              <a:gd name="adj" fmla="val 2083"/>
            </a:avLst>
          </a:prstGeom>
          <a:solidFill>
            <a:srgbClr val="EEF4FA"/>
          </a:solidFill>
          <a:ln/>
        </p:spPr>
      </p:sp>
      <p:sp>
        <p:nvSpPr>
          <p:cNvPr id="40" name="Shape 31"/>
          <p:cNvSpPr/>
          <p:nvPr/>
        </p:nvSpPr>
        <p:spPr>
          <a:xfrm>
            <a:off x="9102852" y="4160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7" descr="assets/recycle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5747" y="4283415"/>
            <a:ext cx="339425" cy="33942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21140" y="4764024"/>
            <a:ext cx="22997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Valorisation des déchets</a:t>
            </a:r>
            <a:endParaRPr lang="en-US" sz="1700" dirty="0"/>
          </a:p>
        </p:txBody>
      </p:sp>
      <p:sp>
        <p:nvSpPr>
          <p:cNvPr id="43" name="Text 33"/>
          <p:cNvSpPr/>
          <p:nvPr/>
        </p:nvSpPr>
        <p:spPr>
          <a:xfrm>
            <a:off x="9121140" y="5550408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Briquettes, biogaz, engrais organique</a:t>
            </a:r>
            <a:endParaRPr lang="en-US" sz="1450" dirty="0"/>
          </a:p>
        </p:txBody>
      </p:sp>
      <p:sp>
        <p:nvSpPr>
          <p:cNvPr id="44" name="Text 34"/>
          <p:cNvSpPr/>
          <p:nvPr/>
        </p:nvSpPr>
        <p:spPr>
          <a:xfrm>
            <a:off x="566928" y="62362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pilier est porté par le partenaire qui le fait le mieux — la FAO en chef de file des systèmes alimentaires.</a:t>
            </a:r>
            <a:endParaRPr lang="en-US" sz="1500" dirty="0"/>
          </a:p>
        </p:txBody>
      </p:sp>
      <p:sp>
        <p:nvSpPr>
          <p:cNvPr id="45" name="Shape 35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Pôles Agro-Énergétiques · PURE Power Program · AAICE 2026 · Bujumbura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équipe compacte au pôle — toute une chaîne au travail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115568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pôle n’est pas le gisement d’emplois — il en est le catalyseur.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3602736" cy="2816352"/>
          </a:xfrm>
          <a:prstGeom prst="roundRect">
            <a:avLst>
              <a:gd name="adj" fmla="val 1948"/>
            </a:avLst>
          </a:prstGeom>
          <a:solidFill>
            <a:srgbClr val="EEF4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73936"/>
            <a:ext cx="3090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Produire &amp; transformer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09067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50"/>
              </a:lnSpc>
              <a:buNone/>
            </a:pPr>
            <a:r>
              <a:rPr lang="en-US" sz="16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Maraîchage irrigué · aquaculture &amp; petit élevage · meunerie &amp; décorticage · pressage d’huile · séchage &amp; conditionnement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4293108" y="1609344"/>
            <a:ext cx="3602736" cy="2816352"/>
          </a:xfrm>
          <a:prstGeom prst="roundRect">
            <a:avLst>
              <a:gd name="adj" fmla="val 1948"/>
            </a:avLst>
          </a:prstGeom>
          <a:solidFill>
            <a:srgbClr val="EEF4FA"/>
          </a:solidFill>
          <a:ln/>
        </p:spPr>
      </p:sp>
      <p:sp>
        <p:nvSpPr>
          <p:cNvPr id="8" name="Text 6"/>
          <p:cNvSpPr/>
          <p:nvPr/>
        </p:nvSpPr>
        <p:spPr>
          <a:xfrm>
            <a:off x="4549140" y="1773936"/>
            <a:ext cx="3090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Conserver, vendre, transporter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49140" y="2468880"/>
            <a:ext cx="309067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50"/>
              </a:lnSpc>
              <a:buNone/>
            </a:pPr>
            <a:r>
              <a:rPr lang="en-US" sz="16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Chaîne du froid — lait, poisson, fruits · tri &amp; calibrage · collecte &amp; agrégation · tricycles électriques · commerçantes de marché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019288" y="1609344"/>
            <a:ext cx="3602736" cy="2816352"/>
          </a:xfrm>
          <a:prstGeom prst="roundRect">
            <a:avLst>
              <a:gd name="adj" fmla="val 1948"/>
            </a:avLst>
          </a:prstGeom>
          <a:solidFill>
            <a:srgbClr val="EEF4FA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773936"/>
            <a:ext cx="3090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Servir &amp; équiper la production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75320" y="2468880"/>
            <a:ext cx="309067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50"/>
              </a:lnSpc>
              <a:buNone/>
            </a:pPr>
            <a:r>
              <a:rPr lang="en-US" sz="16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Réparation d’équipements · boutiques d’intrants · jeunes agronomes rémunérés · forces de vente solaire &amp; cuisson · agents PAYGo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66928" y="4553712"/>
            <a:ext cx="11055096" cy="1188720"/>
          </a:xfrm>
          <a:prstGeom prst="roundRect">
            <a:avLst>
              <a:gd name="adj" fmla="val 4615"/>
            </a:avLst>
          </a:prstGeom>
          <a:solidFill>
            <a:srgbClr val="F8F1E4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590288"/>
            <a:ext cx="10378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PAR LES DEUX VOIES — au pôle (métiers techniques, apprentissage sur les équipements) et par la télé-éducation (programmes universitaires accrédités) : la FAO pour l’agriculture, les universités pour la télé-éducation, et un partenaire sectoriel de référence pour chaque pilier.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66928" y="5852160"/>
            <a:ext cx="11055096" cy="585216"/>
          </a:xfrm>
          <a:prstGeom prst="roundRect">
            <a:avLst>
              <a:gd name="adj" fmla="val 9375"/>
            </a:avLst>
          </a:prstGeom>
          <a:solidFill>
            <a:srgbClr val="13315C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5852160"/>
            <a:ext cx="10378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Burundais sur 3 ont moins de 25 ans · les femmes d’abord dans le ciblage · l’énergie fiable fait naître PME, ateliers et clients industriels autour du pôle.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Pôles Agro-Énergétiques · PURE Power Program · AAICE 2026 · Bujumbura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programme, les 17 Objectifs de Développement Durable de l’ONU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E5243B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14447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4944" y="1883664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pauvreté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24989" y="1371600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DDA63A"/>
          </a:solidFill>
          <a:ln/>
        </p:spPr>
      </p:sp>
      <p:sp>
        <p:nvSpPr>
          <p:cNvPr id="7" name="Text 5"/>
          <p:cNvSpPr/>
          <p:nvPr/>
        </p:nvSpPr>
        <p:spPr>
          <a:xfrm>
            <a:off x="2553005" y="14447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53005" y="1883664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Faim « zéro 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83050" y="1371600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4C9F38"/>
          </a:solidFill>
          <a:ln/>
        </p:spPr>
      </p:sp>
      <p:sp>
        <p:nvSpPr>
          <p:cNvPr id="10" name="Text 8"/>
          <p:cNvSpPr/>
          <p:nvPr/>
        </p:nvSpPr>
        <p:spPr>
          <a:xfrm>
            <a:off x="4411066" y="14447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11066" y="1883664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 santé et bien-être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41110" y="1371600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C5192D"/>
          </a:solidFill>
          <a:ln/>
        </p:spPr>
      </p:sp>
      <p:sp>
        <p:nvSpPr>
          <p:cNvPr id="13" name="Text 11"/>
          <p:cNvSpPr/>
          <p:nvPr/>
        </p:nvSpPr>
        <p:spPr>
          <a:xfrm>
            <a:off x="6269126" y="14447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69126" y="1883664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Éducation de qualité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99171" y="1371600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FF3A21"/>
          </a:solidFill>
          <a:ln/>
        </p:spPr>
      </p:sp>
      <p:sp>
        <p:nvSpPr>
          <p:cNvPr id="16" name="Text 14"/>
          <p:cNvSpPr/>
          <p:nvPr/>
        </p:nvSpPr>
        <p:spPr>
          <a:xfrm>
            <a:off x="8127187" y="14447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127187" y="1883664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Égalité entre les sexes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857232" y="1371600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26BDE2"/>
          </a:solidFill>
          <a:ln/>
        </p:spPr>
      </p:sp>
      <p:sp>
        <p:nvSpPr>
          <p:cNvPr id="19" name="Text 17"/>
          <p:cNvSpPr/>
          <p:nvPr/>
        </p:nvSpPr>
        <p:spPr>
          <a:xfrm>
            <a:off x="9985248" y="14447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985248" y="1883664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Eau propre et assainissement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3054096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FCC30B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31272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4944" y="3566160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propre et d’un coût abordable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24989" y="3054096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A21942"/>
          </a:solidFill>
          <a:ln/>
        </p:spPr>
      </p:sp>
      <p:sp>
        <p:nvSpPr>
          <p:cNvPr id="25" name="Text 23"/>
          <p:cNvSpPr/>
          <p:nvPr/>
        </p:nvSpPr>
        <p:spPr>
          <a:xfrm>
            <a:off x="2553005" y="31272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553005" y="3566160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décent et croissance économique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83050" y="3054096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FD6925"/>
          </a:solidFill>
          <a:ln/>
        </p:spPr>
      </p:sp>
      <p:sp>
        <p:nvSpPr>
          <p:cNvPr id="28" name="Text 26"/>
          <p:cNvSpPr/>
          <p:nvPr/>
        </p:nvSpPr>
        <p:spPr>
          <a:xfrm>
            <a:off x="4411066" y="31272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411066" y="3566160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Industrie, innovation et infrastructure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41110" y="3054096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DD1367"/>
          </a:solidFill>
          <a:ln/>
        </p:spPr>
      </p:sp>
      <p:sp>
        <p:nvSpPr>
          <p:cNvPr id="31" name="Text 29"/>
          <p:cNvSpPr/>
          <p:nvPr/>
        </p:nvSpPr>
        <p:spPr>
          <a:xfrm>
            <a:off x="6269126" y="31272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269126" y="3566160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Inégalités réduites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999171" y="3054096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FD9D24"/>
          </a:solidFill>
          <a:ln/>
        </p:spPr>
      </p:sp>
      <p:sp>
        <p:nvSpPr>
          <p:cNvPr id="34" name="Text 32"/>
          <p:cNvSpPr/>
          <p:nvPr/>
        </p:nvSpPr>
        <p:spPr>
          <a:xfrm>
            <a:off x="8127187" y="31272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127187" y="3566160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Villes et communautés durables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857232" y="3054096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BF8B2E"/>
          </a:solidFill>
          <a:ln/>
        </p:spPr>
      </p:sp>
      <p:sp>
        <p:nvSpPr>
          <p:cNvPr id="37" name="Text 35"/>
          <p:cNvSpPr/>
          <p:nvPr/>
        </p:nvSpPr>
        <p:spPr>
          <a:xfrm>
            <a:off x="9985248" y="31272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985248" y="3566160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Consommation et production responsables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66928" y="4736592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3F7E44"/>
          </a:solidFill>
          <a:ln/>
        </p:spPr>
      </p:sp>
      <p:sp>
        <p:nvSpPr>
          <p:cNvPr id="40" name="Text 38"/>
          <p:cNvSpPr/>
          <p:nvPr/>
        </p:nvSpPr>
        <p:spPr>
          <a:xfrm>
            <a:off x="694944" y="48097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94944" y="5248656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Lutte contre les changements climatiques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424989" y="4736592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0A97D9"/>
          </a:solidFill>
          <a:ln/>
        </p:spPr>
      </p:sp>
      <p:sp>
        <p:nvSpPr>
          <p:cNvPr id="43" name="Text 41"/>
          <p:cNvSpPr/>
          <p:nvPr/>
        </p:nvSpPr>
        <p:spPr>
          <a:xfrm>
            <a:off x="2553005" y="48097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2553005" y="5248656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 aquatique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283050" y="4736592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56C02B"/>
          </a:solidFill>
          <a:ln/>
        </p:spPr>
      </p:sp>
      <p:sp>
        <p:nvSpPr>
          <p:cNvPr id="46" name="Text 44"/>
          <p:cNvSpPr/>
          <p:nvPr/>
        </p:nvSpPr>
        <p:spPr>
          <a:xfrm>
            <a:off x="4411066" y="48097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4411066" y="5248656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 terrestre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141110" y="4736592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00689D"/>
          </a:solidFill>
          <a:ln/>
        </p:spPr>
      </p:sp>
      <p:sp>
        <p:nvSpPr>
          <p:cNvPr id="49" name="Text 47"/>
          <p:cNvSpPr/>
          <p:nvPr/>
        </p:nvSpPr>
        <p:spPr>
          <a:xfrm>
            <a:off x="6269126" y="48097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6269126" y="5248656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Paix, justice et institutions efficaces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999171" y="4736592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19486A"/>
          </a:solidFill>
          <a:ln/>
        </p:spPr>
      </p:sp>
      <p:sp>
        <p:nvSpPr>
          <p:cNvPr id="52" name="Text 50"/>
          <p:cNvSpPr/>
          <p:nvPr/>
        </p:nvSpPr>
        <p:spPr>
          <a:xfrm>
            <a:off x="8127187" y="48097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8127187" y="5248656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Partenariats pour les objectifs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857232" y="4736592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13315C"/>
          </a:solidFill>
          <a:ln/>
        </p:spPr>
      </p:sp>
      <p:sp>
        <p:nvSpPr>
          <p:cNvPr id="55" name="Text 53"/>
          <p:cNvSpPr/>
          <p:nvPr/>
        </p:nvSpPr>
        <p:spPr>
          <a:xfrm>
            <a:off x="9994392" y="4864608"/>
            <a:ext cx="1492301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pôle : les 17 ODD à l’échelle d’un village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Pôles Agro-Énergétiques · PURE Power Program · AAICE 2026 · Bujumbura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486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 à la collaboration.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591056"/>
            <a:ext cx="4617720" cy="1536192"/>
          </a:xfrm>
          <a:prstGeom prst="roundRect">
            <a:avLst>
              <a:gd name="adj" fmla="val 2976"/>
            </a:avLst>
          </a:prstGeom>
          <a:solidFill>
            <a:srgbClr val="1D437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PROGRAMMES &amp; INCUBATEURS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3969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Adosser formation, incubation et accompagnement aux pôles — l’antenne rurale des écosystèmes réunis à l’AAICE.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3236976"/>
            <a:ext cx="4617720" cy="1536192"/>
          </a:xfrm>
          <a:prstGeom prst="roundRect">
            <a:avLst>
              <a:gd name="adj" fmla="val 2976"/>
            </a:avLst>
          </a:prstGeom>
          <a:solidFill>
            <a:srgbClr val="1D437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BAILLEURS &amp; INDUSTRIELS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78561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Cofinancer la montée en échelle : des pôles pilotes au déploiement national.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66928" y="4882896"/>
            <a:ext cx="4617720" cy="1536192"/>
          </a:xfrm>
          <a:prstGeom prst="roundRect">
            <a:avLst>
              <a:gd name="adj" fmla="val 2976"/>
            </a:avLst>
          </a:prstGeom>
          <a:solidFill>
            <a:srgbClr val="1D437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292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GOUVERNEMENT &amp; INSTITUTIONS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54315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Co-implanter les programmes publics aux pôles — en soutien des objectifs de Mission 300 : bâtir la demande en amont du réseau, en harmonie avec lui.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13248" y="512064"/>
            <a:ext cx="6263640" cy="585216"/>
          </a:xfrm>
          <a:prstGeom prst="roundRect">
            <a:avLst>
              <a:gd name="adj" fmla="val 7813"/>
            </a:avLst>
          </a:prstGeom>
          <a:solidFill>
            <a:srgbClr val="B07A1E"/>
          </a:solidFill>
          <a:ln/>
        </p:spPr>
      </p:sp>
      <p:sp>
        <p:nvSpPr>
          <p:cNvPr id="13" name="Text 11"/>
          <p:cNvSpPr/>
          <p:nvPr/>
        </p:nvSpPr>
        <p:spPr>
          <a:xfrm>
            <a:off x="5614416" y="512064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PIERRE POSÉE LE 4 AOÛT 2026 — NYAMUGARI, AUX CÔTÉS DE LA FAO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13248" y="1591056"/>
            <a:ext cx="6263640" cy="4160520"/>
          </a:xfrm>
          <a:prstGeom prst="rect">
            <a:avLst/>
          </a:prstGeom>
          <a:solidFill>
            <a:srgbClr val="1D4370"/>
          </a:solidFill>
          <a:ln/>
        </p:spPr>
      </p:sp>
      <p:pic>
        <p:nvPicPr>
          <p:cNvPr id="15" name="Image 0" descr="gb_sl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9824" y="1627632"/>
            <a:ext cx="6190488" cy="408371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49824" y="4151376"/>
            <a:ext cx="3977640" cy="1600200"/>
          </a:xfrm>
          <a:prstGeom prst="roundRect">
            <a:avLst>
              <a:gd name="adj" fmla="val 2286"/>
            </a:avLst>
          </a:prstGeom>
          <a:solidFill>
            <a:srgbClr val="1D4370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0" y="4279392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Nyamugari (Cankuzo, province de Buhumuza), 4 août 2026 — première pierre du premier pôle agro-énergétique, en présence de M. Dadémanao Pissang Tchangaï, Représentant de la FAO au Burundi, de Michael Fichtenberg (Gigawatt PURE Power Burundi) et du représentant du Gouverneur de Buhumuza.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698480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8001000" cy="969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200" b="1" spc="2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GIGAWATT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0100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000" b="1" spc="350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POWER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1975104"/>
            <a:ext cx="78638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8FA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Productive Uses of Renewable Energy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 flipH="1">
            <a:off x="10076688" y="786384"/>
            <a:ext cx="0" cy="1152144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65792" y="475488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7" name="Image 0" descr="assets/whe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630936"/>
            <a:ext cx="310896" cy="3108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78902" y="1362456"/>
            <a:ext cx="997786" cy="576072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8006" y="1051560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0" name="Image 1" descr="assets/fauc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454" y="1207008"/>
            <a:ext cx="310896" cy="3108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 flipH="1">
            <a:off x="9078902" y="1938528"/>
            <a:ext cx="997786" cy="576072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768006" y="2203704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3" name="Image 2" descr="assets/mot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3454" y="2359152"/>
            <a:ext cx="310896" cy="31089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0076688" y="1938528"/>
            <a:ext cx="0" cy="1152144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765792" y="2779776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6" name="Image 3" descr="assets/sto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2935224"/>
            <a:ext cx="310896" cy="31089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0076688" y="1938528"/>
            <a:ext cx="997786" cy="576072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10763578" y="2203704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9" name="Image 4" descr="assets/gra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9026" y="2359152"/>
            <a:ext cx="310896" cy="310896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 flipH="1">
            <a:off x="10076688" y="1362456"/>
            <a:ext cx="997786" cy="576072"/>
          </a:xfrm>
          <a:prstGeom prst="line">
            <a:avLst/>
          </a:prstGeom>
          <a:noFill/>
          <a:ln w="12700">
            <a:solidFill>
              <a:srgbClr val="3D5A85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10763578" y="1051560"/>
            <a:ext cx="621792" cy="621792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22" name="Image 5" descr="assets/healt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9026" y="1207008"/>
            <a:ext cx="310896" cy="31089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619488" y="1481328"/>
            <a:ext cx="914400" cy="914400"/>
          </a:xfrm>
          <a:prstGeom prst="ellipse">
            <a:avLst/>
          </a:prstGeom>
          <a:solidFill>
            <a:srgbClr val="B07A1E"/>
          </a:solidFill>
          <a:ln/>
        </p:spPr>
      </p:sp>
      <p:pic>
        <p:nvPicPr>
          <p:cNvPr id="24" name="Image 6" descr="assets/bol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8088" y="1709928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40080" y="250545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AAICE 2026  ·  BUJUMBURA  ·  AUGUST 4, 2026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640080" y="2816352"/>
            <a:ext cx="7863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Agro-Energy Hubs</a:t>
            </a:r>
            <a:endParaRPr lang="en-US" sz="3300" dirty="0"/>
          </a:p>
          <a:p>
            <a:pPr indent="0" marL="0">
              <a:lnSpc>
                <a:spcPts val="39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Rural Transformation</a:t>
            </a:r>
            <a:endParaRPr lang="en-US" sz="3300" dirty="0"/>
          </a:p>
        </p:txBody>
      </p:sp>
      <p:sp>
        <p:nvSpPr>
          <p:cNvPr id="27" name="Text 18"/>
          <p:cNvSpPr/>
          <p:nvPr/>
        </p:nvSpPr>
        <p:spPr>
          <a:xfrm>
            <a:off x="640080" y="404164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Productive use of energy to support agricultural value chains and the economic transformation of rural economies.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640080" y="45902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— FAO  ·  GIGAWATT BURUNDI  ·  PURE POWER PROGRAM</a:t>
            </a:r>
            <a:endParaRPr lang="en-US" sz="1350" dirty="0"/>
          </a:p>
        </p:txBody>
      </p:sp>
      <p:sp>
        <p:nvSpPr>
          <p:cNvPr id="29" name="Shape 20"/>
          <p:cNvSpPr/>
          <p:nvPr/>
        </p:nvSpPr>
        <p:spPr>
          <a:xfrm>
            <a:off x="2715768" y="4937760"/>
            <a:ext cx="6757416" cy="151790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0" name="Image 7" descr="bn_art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52344" y="4974336"/>
            <a:ext cx="6684264" cy="144475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9144000" y="6510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FA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Gigawatt PURE Power initiative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jobs where the country lives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3602736" cy="3127248"/>
          </a:xfrm>
          <a:prstGeom prst="roundRect">
            <a:avLst>
              <a:gd name="adj" fmla="val 1754"/>
            </a:avLst>
          </a:prstGeom>
          <a:solidFill>
            <a:srgbClr val="F8F1E4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481328"/>
            <a:ext cx="30540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in 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41248" y="2651760"/>
            <a:ext cx="3054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Burundians are under 25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1248" y="354787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generation seeking work at home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93108" y="1298448"/>
            <a:ext cx="3602736" cy="3127248"/>
          </a:xfrm>
          <a:prstGeom prst="roundRect">
            <a:avLst>
              <a:gd name="adj" fmla="val 1754"/>
            </a:avLst>
          </a:prstGeom>
          <a:solidFill>
            <a:srgbClr val="EEF4FA"/>
          </a:solidFill>
          <a:ln/>
        </p:spPr>
      </p:sp>
      <p:sp>
        <p:nvSpPr>
          <p:cNvPr id="8" name="Text 6"/>
          <p:cNvSpPr/>
          <p:nvPr/>
        </p:nvSpPr>
        <p:spPr>
          <a:xfrm>
            <a:off x="4567428" y="1481328"/>
            <a:ext cx="30540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67428" y="2651760"/>
            <a:ext cx="3054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jobs are in agriculture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67428" y="354787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Burundi’s employment is created first in the countryside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19288" y="1298448"/>
            <a:ext cx="3602736" cy="3127248"/>
          </a:xfrm>
          <a:prstGeom prst="roundRect">
            <a:avLst>
              <a:gd name="adj" fmla="val 1754"/>
            </a:avLst>
          </a:prstGeom>
          <a:solidFill>
            <a:srgbClr val="EE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8293608" y="1481328"/>
            <a:ext cx="30540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2%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8293608" y="2651760"/>
            <a:ext cx="3054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access to electricity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93608" y="354787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without power: no processing, no enterprises, no jobs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572000"/>
            <a:ext cx="11055096" cy="1810512"/>
          </a:xfrm>
          <a:prstGeom prst="roundRect">
            <a:avLst>
              <a:gd name="adj" fmla="val 3030"/>
            </a:avLst>
          </a:prstGeom>
          <a:solidFill>
            <a:srgbClr val="13315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00016"/>
            <a:ext cx="10287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 of food production is lost for lack of cold chain, processing and transport. Africa’s food and agribusiness market will reach $1 trillion by 2030 (World Bank) — conditional on electricity and irrigation. Transforming this value chain is Burundi’s largest job reservoir.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Agro-Energy Hubs · PURE Power Program · AAICE 2026 · Bujumbura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anchored in Burundi — capacity already at work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207008"/>
            <a:ext cx="11055096" cy="1042416"/>
          </a:xfrm>
          <a:prstGeom prst="roundRect">
            <a:avLst>
              <a:gd name="adj" fmla="val 5263"/>
            </a:avLst>
          </a:prstGeom>
          <a:solidFill>
            <a:srgbClr val="EEF4FA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435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assets/flag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1558503"/>
            <a:ext cx="339425" cy="3394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72768" y="1280160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pilot sites awarded by the Ministry of Energy — the ramp to national roll-out, with the Minister’s endorsement and an active roadmap with the Government’s appointed committee.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66928" y="2395728"/>
            <a:ext cx="11055096" cy="4059936"/>
          </a:xfrm>
          <a:prstGeom prst="roundRect">
            <a:avLst>
              <a:gd name="adj" fmla="val 1351"/>
            </a:avLst>
          </a:prstGeom>
          <a:solidFill>
            <a:srgbClr val="13315C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" y="25786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OPERATING BACKBONE — ONE GROUP, BURUNDIAN CAPACITY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50976" y="3090672"/>
            <a:ext cx="548640" cy="548640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0" name="Image 1" descr="asset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7" y="321137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999232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— </a:t>
            </a:r>
            <a:pPr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management and operating team developed — and continues to manage — the Mubuga solar plant (7.5 MW), the country’s first solar IPP (25-year PPA, ~20 remaining), within an IPP portfolio in development.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950976" y="4133088"/>
            <a:ext cx="548640" cy="548640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3" name="Image 2" descr="assets/whe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7" y="4253789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4041648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Agro-industry — </a:t>
            </a:r>
            <a:pPr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Avocado oil extraction within our consortium — the network’s waste feedstock: ~800 t/day of residues power the waste-to-energy line; pilot bio-digesters and biogas already underway.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950976" y="5175504"/>
            <a:ext cx="548640" cy="548640"/>
          </a:xfrm>
          <a:prstGeom prst="ellipse">
            <a:avLst/>
          </a:prstGeom>
          <a:solidFill>
            <a:srgbClr val="1D4370"/>
          </a:solidFill>
          <a:ln/>
        </p:spPr>
      </p:sp>
      <p:pic>
        <p:nvPicPr>
          <p:cNvPr id="16" name="Image 3" descr="assets/tools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7" y="5296205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5920" y="5084064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execution — </a:t>
            </a:r>
            <a:pPr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C9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Construction, operations, logistics and hydropower carried by the group’s own Burundian teams and industrial capacity.</a:t>
            </a:r>
            <a:endParaRPr lang="en-US" sz="1750" dirty="0"/>
          </a:p>
        </p:txBody>
      </p:sp>
      <p:sp>
        <p:nvSpPr>
          <p:cNvPr id="18" name="Shape 12"/>
          <p:cNvSpPr/>
          <p:nvPr/>
        </p:nvSpPr>
        <p:spPr>
          <a:xfrm>
            <a:off x="932688" y="6108192"/>
            <a:ext cx="10332720" cy="0"/>
          </a:xfrm>
          <a:prstGeom prst="line">
            <a:avLst/>
          </a:prstGeom>
          <a:noFill/>
          <a:ln w="9525">
            <a:solidFill>
              <a:srgbClr val="3D5A85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932688" y="6163056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what we do best — so that every partner can do what they do best.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Agro-Energy Hubs · PURE Power Program · AAICE 2026 · Bujumbura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agro-energy hub — a rural incubator with power 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Power, logistics and the operational anchor — the base on which every service becomes a pipeline of jobs and enterprises: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2702052" cy="2194560"/>
          </a:xfrm>
          <a:prstGeom prst="roundRect">
            <a:avLst>
              <a:gd name="adj" fmla="val 2083"/>
            </a:avLst>
          </a:prstGeom>
          <a:solidFill>
            <a:srgbClr val="EEF4F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4708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assets/whea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703" y="1969983"/>
            <a:ext cx="339425" cy="3394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450592"/>
            <a:ext cx="22997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Agro-processing &amp; cold chain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8096" y="3236976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Milling, pressing, drying, cold storage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351276" y="1682496"/>
            <a:ext cx="2702052" cy="2194560"/>
          </a:xfrm>
          <a:prstGeom prst="roundRect">
            <a:avLst>
              <a:gd name="adj" fmla="val 2083"/>
            </a:avLst>
          </a:prstGeom>
          <a:solidFill>
            <a:srgbClr val="EEF4FA"/>
          </a:solidFill>
          <a:ln/>
        </p:spPr>
      </p:sp>
      <p:sp>
        <p:nvSpPr>
          <p:cNvPr id="10" name="Shape 7"/>
          <p:cNvSpPr/>
          <p:nvPr/>
        </p:nvSpPr>
        <p:spPr>
          <a:xfrm>
            <a:off x="3534156" y="184708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assets/fauce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051" y="1969983"/>
            <a:ext cx="339425" cy="3394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2444" y="2450592"/>
            <a:ext cx="22997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water &amp; irrigation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552444" y="3236976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pumping, filtration, market gardening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135624" y="1682496"/>
            <a:ext cx="2702052" cy="2194560"/>
          </a:xfrm>
          <a:prstGeom prst="roundRect">
            <a:avLst>
              <a:gd name="adj" fmla="val 2083"/>
            </a:avLst>
          </a:prstGeom>
          <a:solidFill>
            <a:srgbClr val="EEF4FA"/>
          </a:solidFill>
          <a:ln/>
        </p:spPr>
      </p:sp>
      <p:sp>
        <p:nvSpPr>
          <p:cNvPr id="15" name="Shape 11"/>
          <p:cNvSpPr/>
          <p:nvPr/>
        </p:nvSpPr>
        <p:spPr>
          <a:xfrm>
            <a:off x="6318504" y="184708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assets/stor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399" y="1969983"/>
            <a:ext cx="339425" cy="3394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36792" y="2450592"/>
            <a:ext cx="22997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aftercare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336792" y="3236976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home systems, clean cooking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8919972" y="1682496"/>
            <a:ext cx="2702052" cy="2194560"/>
          </a:xfrm>
          <a:prstGeom prst="roundRect">
            <a:avLst>
              <a:gd name="adj" fmla="val 2083"/>
            </a:avLst>
          </a:prstGeom>
          <a:solidFill>
            <a:srgbClr val="EEF4FA"/>
          </a:solidFill>
          <a:ln/>
        </p:spPr>
      </p:sp>
      <p:sp>
        <p:nvSpPr>
          <p:cNvPr id="20" name="Shape 15"/>
          <p:cNvSpPr/>
          <p:nvPr/>
        </p:nvSpPr>
        <p:spPr>
          <a:xfrm>
            <a:off x="9102852" y="184708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assets/moto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747" y="1969983"/>
            <a:ext cx="339425" cy="3394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21140" y="2450592"/>
            <a:ext cx="22997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E-mobility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121140" y="3236976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Charging, e-motorcycles, electric three-wheelers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566928" y="3995928"/>
            <a:ext cx="2702052" cy="2194560"/>
          </a:xfrm>
          <a:prstGeom prst="roundRect">
            <a:avLst>
              <a:gd name="adj" fmla="val 2083"/>
            </a:avLst>
          </a:prstGeom>
          <a:solidFill>
            <a:srgbClr val="EEF4FA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4160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assets/lightbulb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703" y="4283415"/>
            <a:ext cx="339425" cy="3394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8096" y="4764024"/>
            <a:ext cx="22997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Entrepreneurship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768096" y="5550408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Connectivity, AI tools, mentorship</a:t>
            </a:r>
            <a:endParaRPr lang="en-US" sz="1450" dirty="0"/>
          </a:p>
        </p:txBody>
      </p:sp>
      <p:sp>
        <p:nvSpPr>
          <p:cNvPr id="29" name="Shape 22"/>
          <p:cNvSpPr/>
          <p:nvPr/>
        </p:nvSpPr>
        <p:spPr>
          <a:xfrm>
            <a:off x="3351276" y="3995928"/>
            <a:ext cx="2702052" cy="2194560"/>
          </a:xfrm>
          <a:prstGeom prst="roundRect">
            <a:avLst>
              <a:gd name="adj" fmla="val 2083"/>
            </a:avLst>
          </a:prstGeom>
          <a:solidFill>
            <a:srgbClr val="EEF4FA"/>
          </a:solidFill>
          <a:ln/>
        </p:spPr>
      </p:sp>
      <p:sp>
        <p:nvSpPr>
          <p:cNvPr id="30" name="Shape 23"/>
          <p:cNvSpPr/>
          <p:nvPr/>
        </p:nvSpPr>
        <p:spPr>
          <a:xfrm>
            <a:off x="3534156" y="4160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assets/coins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051" y="4283415"/>
            <a:ext cx="339425" cy="3394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52444" y="4764024"/>
            <a:ext cx="22997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inclusion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3552444" y="5550408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Microfinance, savings &amp; credit</a:t>
            </a:r>
            <a:endParaRPr lang="en-US" sz="1450" dirty="0"/>
          </a:p>
        </p:txBody>
      </p:sp>
      <p:sp>
        <p:nvSpPr>
          <p:cNvPr id="34" name="Shape 26"/>
          <p:cNvSpPr/>
          <p:nvPr/>
        </p:nvSpPr>
        <p:spPr>
          <a:xfrm>
            <a:off x="6135624" y="3995928"/>
            <a:ext cx="2702052" cy="2194560"/>
          </a:xfrm>
          <a:prstGeom prst="roundRect">
            <a:avLst>
              <a:gd name="adj" fmla="val 2083"/>
            </a:avLst>
          </a:prstGeom>
          <a:solidFill>
            <a:srgbClr val="EEF4FA"/>
          </a:solidFill>
          <a:ln/>
        </p:spPr>
      </p:sp>
      <p:sp>
        <p:nvSpPr>
          <p:cNvPr id="35" name="Shape 27"/>
          <p:cNvSpPr/>
          <p:nvPr/>
        </p:nvSpPr>
        <p:spPr>
          <a:xfrm>
            <a:off x="6318504" y="4160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assets/grad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399" y="4283415"/>
            <a:ext cx="339425" cy="33942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36792" y="4764024"/>
            <a:ext cx="22997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Tele-education &amp; tele-health</a:t>
            </a:r>
            <a:endParaRPr lang="en-US" sz="1700" dirty="0"/>
          </a:p>
        </p:txBody>
      </p:sp>
      <p:sp>
        <p:nvSpPr>
          <p:cNvPr id="38" name="Text 29"/>
          <p:cNvSpPr/>
          <p:nvPr/>
        </p:nvSpPr>
        <p:spPr>
          <a:xfrm>
            <a:off x="6336792" y="5550408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programs; mother &amp; child health</a:t>
            </a:r>
            <a:endParaRPr lang="en-US" sz="1450" dirty="0"/>
          </a:p>
        </p:txBody>
      </p:sp>
      <p:sp>
        <p:nvSpPr>
          <p:cNvPr id="39" name="Shape 30"/>
          <p:cNvSpPr/>
          <p:nvPr/>
        </p:nvSpPr>
        <p:spPr>
          <a:xfrm>
            <a:off x="8919972" y="3995928"/>
            <a:ext cx="2702052" cy="2194560"/>
          </a:xfrm>
          <a:prstGeom prst="roundRect">
            <a:avLst>
              <a:gd name="adj" fmla="val 2083"/>
            </a:avLst>
          </a:prstGeom>
          <a:solidFill>
            <a:srgbClr val="EEF4FA"/>
          </a:solidFill>
          <a:ln/>
        </p:spPr>
      </p:sp>
      <p:sp>
        <p:nvSpPr>
          <p:cNvPr id="40" name="Shape 31"/>
          <p:cNvSpPr/>
          <p:nvPr/>
        </p:nvSpPr>
        <p:spPr>
          <a:xfrm>
            <a:off x="9102852" y="4160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7" descr="assets/recycle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5747" y="4283415"/>
            <a:ext cx="339425" cy="33942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21140" y="4764024"/>
            <a:ext cx="22997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Waste-to-energy</a:t>
            </a:r>
            <a:endParaRPr lang="en-US" sz="1700" dirty="0"/>
          </a:p>
        </p:txBody>
      </p:sp>
      <p:sp>
        <p:nvSpPr>
          <p:cNvPr id="43" name="Text 33"/>
          <p:cNvSpPr/>
          <p:nvPr/>
        </p:nvSpPr>
        <p:spPr>
          <a:xfrm>
            <a:off x="9121140" y="5550408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Briquettes, biogas, organic fertilizer</a:t>
            </a:r>
            <a:endParaRPr lang="en-US" sz="1450" dirty="0"/>
          </a:p>
        </p:txBody>
      </p:sp>
      <p:sp>
        <p:nvSpPr>
          <p:cNvPr id="44" name="Text 34"/>
          <p:cNvSpPr/>
          <p:nvPr/>
        </p:nvSpPr>
        <p:spPr>
          <a:xfrm>
            <a:off x="566928" y="62362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pillar is carried by the partner who does it best — with FAO as food-systems lead.</a:t>
            </a:r>
            <a:endParaRPr lang="en-US" sz="1500" dirty="0"/>
          </a:p>
        </p:txBody>
      </p:sp>
      <p:sp>
        <p:nvSpPr>
          <p:cNvPr id="45" name="Shape 35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Agro-Energy Hubs · PURE Power Program · AAICE 2026 · Bujumbura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compact team at the hub — a whole value chain at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115568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hub is not the job pool — it is the catalyst.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3602736" cy="2816352"/>
          </a:xfrm>
          <a:prstGeom prst="roundRect">
            <a:avLst>
              <a:gd name="adj" fmla="val 1948"/>
            </a:avLst>
          </a:prstGeom>
          <a:solidFill>
            <a:srgbClr val="EEF4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73936"/>
            <a:ext cx="3090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&amp; process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09067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50"/>
              </a:lnSpc>
              <a:buNone/>
            </a:pPr>
            <a:r>
              <a:rPr lang="en-US" sz="16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Irrigated market gardening · aquaculture &amp; small livestock · milling &amp; hulling · oil pressing · drying &amp; packing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4293108" y="1609344"/>
            <a:ext cx="3602736" cy="2816352"/>
          </a:xfrm>
          <a:prstGeom prst="roundRect">
            <a:avLst>
              <a:gd name="adj" fmla="val 1948"/>
            </a:avLst>
          </a:prstGeom>
          <a:solidFill>
            <a:srgbClr val="EEF4FA"/>
          </a:solidFill>
          <a:ln/>
        </p:spPr>
      </p:sp>
      <p:sp>
        <p:nvSpPr>
          <p:cNvPr id="8" name="Text 6"/>
          <p:cNvSpPr/>
          <p:nvPr/>
        </p:nvSpPr>
        <p:spPr>
          <a:xfrm>
            <a:off x="4549140" y="1773936"/>
            <a:ext cx="3090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Preserve, trade, transport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49140" y="2468880"/>
            <a:ext cx="309067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50"/>
              </a:lnSpc>
              <a:buNone/>
            </a:pPr>
            <a:r>
              <a:rPr lang="en-US" sz="16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chain — milk, fish, fruit · sorting &amp; grading · collection &amp; aggregation · electric three-wheelers · market traders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019288" y="1609344"/>
            <a:ext cx="3602736" cy="2816352"/>
          </a:xfrm>
          <a:prstGeom prst="roundRect">
            <a:avLst>
              <a:gd name="adj" fmla="val 1948"/>
            </a:avLst>
          </a:prstGeom>
          <a:solidFill>
            <a:srgbClr val="EEF4FA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773936"/>
            <a:ext cx="3090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&amp; equip production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75320" y="2468880"/>
            <a:ext cx="309067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50"/>
              </a:lnSpc>
              <a:buNone/>
            </a:pPr>
            <a:r>
              <a:rPr lang="en-US" sz="16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repair · input shops · paid young agronomists · solar &amp; clean-cooking sales forces · PAYGo agents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66928" y="4553712"/>
            <a:ext cx="11055096" cy="1188720"/>
          </a:xfrm>
          <a:prstGeom prst="roundRect">
            <a:avLst>
              <a:gd name="adj" fmla="val 4615"/>
            </a:avLst>
          </a:prstGeom>
          <a:solidFill>
            <a:srgbClr val="F8F1E4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590288"/>
            <a:ext cx="10378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BY BOTH ROUTES — at the hub (technical trades, learning on the equipment) and through tele-education (accredited university programs): FAO for agriculture, universities for tele-education, and a best-in-class sector partner for each pillar.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66928" y="5852160"/>
            <a:ext cx="11055096" cy="585216"/>
          </a:xfrm>
          <a:prstGeom prst="roundRect">
            <a:avLst>
              <a:gd name="adj" fmla="val 9375"/>
            </a:avLst>
          </a:prstGeom>
          <a:solidFill>
            <a:srgbClr val="13315C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5852160"/>
            <a:ext cx="10378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 three Burundians are under 25 · women first in targeting · reliable power grows SMEs, workshops and industrial customers around the hub.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Agro-Energy Hubs · PURE Power Program · AAICE 2026 · Bujumbura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program, all 17 UN Sustainable Development Goals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E5243B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14447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4944" y="1883664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poverty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24989" y="1371600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DDA63A"/>
          </a:solidFill>
          <a:ln/>
        </p:spPr>
      </p:sp>
      <p:sp>
        <p:nvSpPr>
          <p:cNvPr id="7" name="Text 5"/>
          <p:cNvSpPr/>
          <p:nvPr/>
        </p:nvSpPr>
        <p:spPr>
          <a:xfrm>
            <a:off x="2553005" y="14447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53005" y="1883664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hunger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83050" y="1371600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4C9F38"/>
          </a:solidFill>
          <a:ln/>
        </p:spPr>
      </p:sp>
      <p:sp>
        <p:nvSpPr>
          <p:cNvPr id="10" name="Text 8"/>
          <p:cNvSpPr/>
          <p:nvPr/>
        </p:nvSpPr>
        <p:spPr>
          <a:xfrm>
            <a:off x="4411066" y="14447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11066" y="1883664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health and well-being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41110" y="1371600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C5192D"/>
          </a:solidFill>
          <a:ln/>
        </p:spPr>
      </p:sp>
      <p:sp>
        <p:nvSpPr>
          <p:cNvPr id="13" name="Text 11"/>
          <p:cNvSpPr/>
          <p:nvPr/>
        </p:nvSpPr>
        <p:spPr>
          <a:xfrm>
            <a:off x="6269126" y="14447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69126" y="1883664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education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99171" y="1371600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FF3A21"/>
          </a:solidFill>
          <a:ln/>
        </p:spPr>
      </p:sp>
      <p:sp>
        <p:nvSpPr>
          <p:cNvPr id="16" name="Text 14"/>
          <p:cNvSpPr/>
          <p:nvPr/>
        </p:nvSpPr>
        <p:spPr>
          <a:xfrm>
            <a:off x="8127187" y="14447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127187" y="1883664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equality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857232" y="1371600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26BDE2"/>
          </a:solidFill>
          <a:ln/>
        </p:spPr>
      </p:sp>
      <p:sp>
        <p:nvSpPr>
          <p:cNvPr id="19" name="Text 17"/>
          <p:cNvSpPr/>
          <p:nvPr/>
        </p:nvSpPr>
        <p:spPr>
          <a:xfrm>
            <a:off x="9985248" y="14447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985248" y="1883664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water and sanitation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3054096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FCC30B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31272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4944" y="3566160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 and clean energy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24989" y="3054096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A21942"/>
          </a:solidFill>
          <a:ln/>
        </p:spPr>
      </p:sp>
      <p:sp>
        <p:nvSpPr>
          <p:cNvPr id="25" name="Text 23"/>
          <p:cNvSpPr/>
          <p:nvPr/>
        </p:nvSpPr>
        <p:spPr>
          <a:xfrm>
            <a:off x="2553005" y="31272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553005" y="3566160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 work and economic growth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83050" y="3054096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FD6925"/>
          </a:solidFill>
          <a:ln/>
        </p:spPr>
      </p:sp>
      <p:sp>
        <p:nvSpPr>
          <p:cNvPr id="28" name="Text 26"/>
          <p:cNvSpPr/>
          <p:nvPr/>
        </p:nvSpPr>
        <p:spPr>
          <a:xfrm>
            <a:off x="4411066" y="31272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411066" y="3566160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Industry, innovation and infrastructure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41110" y="3054096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DD1367"/>
          </a:solidFill>
          <a:ln/>
        </p:spPr>
      </p:sp>
      <p:sp>
        <p:nvSpPr>
          <p:cNvPr id="31" name="Text 29"/>
          <p:cNvSpPr/>
          <p:nvPr/>
        </p:nvSpPr>
        <p:spPr>
          <a:xfrm>
            <a:off x="6269126" y="31272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269126" y="3566160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inequalities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999171" y="3054096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FD9D24"/>
          </a:solidFill>
          <a:ln/>
        </p:spPr>
      </p:sp>
      <p:sp>
        <p:nvSpPr>
          <p:cNvPr id="34" name="Text 32"/>
          <p:cNvSpPr/>
          <p:nvPr/>
        </p:nvSpPr>
        <p:spPr>
          <a:xfrm>
            <a:off x="8127187" y="31272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127187" y="3566160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cities and communities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857232" y="3054096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BF8B2E"/>
          </a:solidFill>
          <a:ln/>
        </p:spPr>
      </p:sp>
      <p:sp>
        <p:nvSpPr>
          <p:cNvPr id="37" name="Text 35"/>
          <p:cNvSpPr/>
          <p:nvPr/>
        </p:nvSpPr>
        <p:spPr>
          <a:xfrm>
            <a:off x="9985248" y="31272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985248" y="3566160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consumption and production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66928" y="4736592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3F7E44"/>
          </a:solidFill>
          <a:ln/>
        </p:spPr>
      </p:sp>
      <p:sp>
        <p:nvSpPr>
          <p:cNvPr id="40" name="Text 38"/>
          <p:cNvSpPr/>
          <p:nvPr/>
        </p:nvSpPr>
        <p:spPr>
          <a:xfrm>
            <a:off x="694944" y="48097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94944" y="5248656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action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424989" y="4736592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0A97D9"/>
          </a:solidFill>
          <a:ln/>
        </p:spPr>
      </p:sp>
      <p:sp>
        <p:nvSpPr>
          <p:cNvPr id="43" name="Text 41"/>
          <p:cNvSpPr/>
          <p:nvPr/>
        </p:nvSpPr>
        <p:spPr>
          <a:xfrm>
            <a:off x="2553005" y="48097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2553005" y="5248656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below water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283050" y="4736592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56C02B"/>
          </a:solidFill>
          <a:ln/>
        </p:spPr>
      </p:sp>
      <p:sp>
        <p:nvSpPr>
          <p:cNvPr id="46" name="Text 44"/>
          <p:cNvSpPr/>
          <p:nvPr/>
        </p:nvSpPr>
        <p:spPr>
          <a:xfrm>
            <a:off x="4411066" y="48097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4411066" y="5248656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on land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141110" y="4736592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00689D"/>
          </a:solidFill>
          <a:ln/>
        </p:spPr>
      </p:sp>
      <p:sp>
        <p:nvSpPr>
          <p:cNvPr id="49" name="Text 47"/>
          <p:cNvSpPr/>
          <p:nvPr/>
        </p:nvSpPr>
        <p:spPr>
          <a:xfrm>
            <a:off x="6269126" y="48097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6269126" y="5248656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Peace, justice and strong institutions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999171" y="4736592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19486A"/>
          </a:solidFill>
          <a:ln/>
        </p:spPr>
      </p:sp>
      <p:sp>
        <p:nvSpPr>
          <p:cNvPr id="52" name="Text 50"/>
          <p:cNvSpPr/>
          <p:nvPr/>
        </p:nvSpPr>
        <p:spPr>
          <a:xfrm>
            <a:off x="8127187" y="48097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8127187" y="5248656"/>
            <a:ext cx="151058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for the goals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857232" y="4736592"/>
            <a:ext cx="1766621" cy="1591056"/>
          </a:xfrm>
          <a:prstGeom prst="roundRect">
            <a:avLst>
              <a:gd name="adj" fmla="val 1724"/>
            </a:avLst>
          </a:prstGeom>
          <a:solidFill>
            <a:srgbClr val="13315C"/>
          </a:solidFill>
          <a:ln/>
        </p:spPr>
      </p:sp>
      <p:sp>
        <p:nvSpPr>
          <p:cNvPr id="55" name="Text 53"/>
          <p:cNvSpPr/>
          <p:nvPr/>
        </p:nvSpPr>
        <p:spPr>
          <a:xfrm>
            <a:off x="9994392" y="4864608"/>
            <a:ext cx="1492301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hub: all 17 SDGs at village scale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566928" y="6510528"/>
            <a:ext cx="11055096" cy="0"/>
          </a:xfrm>
          <a:prstGeom prst="line">
            <a:avLst/>
          </a:prstGeom>
          <a:noFill/>
          <a:ln w="9525">
            <a:solidFill>
              <a:srgbClr val="C5CF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Agro-Energy Hubs · PURE Power Program · AAICE 2026 · Bujumbura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698480" y="6547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486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invitation to collaborate.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591056"/>
            <a:ext cx="4617720" cy="1536192"/>
          </a:xfrm>
          <a:prstGeom prst="roundRect">
            <a:avLst>
              <a:gd name="adj" fmla="val 2976"/>
            </a:avLst>
          </a:prstGeom>
          <a:solidFill>
            <a:srgbClr val="1D437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&amp; INCUBATORS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3969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training, incubation and mentorship at the hubs — the rural outpost of the ecosystems gathered at AAICE.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3236976"/>
            <a:ext cx="4617720" cy="1536192"/>
          </a:xfrm>
          <a:prstGeom prst="roundRect">
            <a:avLst>
              <a:gd name="adj" fmla="val 2976"/>
            </a:avLst>
          </a:prstGeom>
          <a:solidFill>
            <a:srgbClr val="1D437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FUNDERS &amp; INDUSTRY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78561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Co-finance the scale-up: from the pilot hubs to national roll-out.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66928" y="4882896"/>
            <a:ext cx="4617720" cy="1536192"/>
          </a:xfrm>
          <a:prstGeom prst="roundRect">
            <a:avLst>
              <a:gd name="adj" fmla="val 2976"/>
            </a:avLst>
          </a:prstGeom>
          <a:solidFill>
            <a:srgbClr val="1D437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292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" kern="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&amp; INSTITUTIONS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54315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Co-locate public programs at the hubs — supporting Mission 300’s goals: building demand ahead of grid arrival, in harmony with it.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13248" y="512064"/>
            <a:ext cx="6263640" cy="585216"/>
          </a:xfrm>
          <a:prstGeom prst="roundRect">
            <a:avLst>
              <a:gd name="adj" fmla="val 7813"/>
            </a:avLst>
          </a:prstGeom>
          <a:solidFill>
            <a:srgbClr val="B07A1E"/>
          </a:solidFill>
          <a:ln/>
        </p:spPr>
      </p:sp>
      <p:sp>
        <p:nvSpPr>
          <p:cNvPr id="13" name="Text 11"/>
          <p:cNvSpPr/>
          <p:nvPr/>
        </p:nvSpPr>
        <p:spPr>
          <a:xfrm>
            <a:off x="5614416" y="512064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BROKEN ON AUGUST 4, 2026 — NYAMUGARI, ALONGSIDE FAO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13248" y="1591056"/>
            <a:ext cx="6263640" cy="4160520"/>
          </a:xfrm>
          <a:prstGeom prst="rect">
            <a:avLst/>
          </a:prstGeom>
          <a:solidFill>
            <a:srgbClr val="1D4370"/>
          </a:solidFill>
          <a:ln/>
        </p:spPr>
      </p:sp>
      <p:pic>
        <p:nvPicPr>
          <p:cNvPr id="15" name="Image 0" descr="gb_sl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9824" y="1627632"/>
            <a:ext cx="6190488" cy="408371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49824" y="4151376"/>
            <a:ext cx="3977640" cy="1600200"/>
          </a:xfrm>
          <a:prstGeom prst="roundRect">
            <a:avLst>
              <a:gd name="adj" fmla="val 2286"/>
            </a:avLst>
          </a:prstGeom>
          <a:solidFill>
            <a:srgbClr val="1D4370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0" y="4279392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Nyamugari (Cankuzo, Buhumuza Province), August 4, 2026 — ground broken on the first agro-energy hub, with Mr. Dadémanao Pissang Tchangaï, FAO Representative in Burundi, Michael Fichtenberg (Gigawatt PURE Power Burundi) and the representative of the Governor of Buhumuza.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698480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2026-08-04T22:27:11Z</dcterms:created>
  <dcterms:modified xsi:type="dcterms:W3CDTF">2026-08-04T22:27:11Z</dcterms:modified>
</cp:coreProperties>
</file>