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73609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GIGAWATT</a:t>
            </a:r>
            <a:endParaRPr lang="en-US" sz="95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736092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700" b="1" dirty="0">
                <a:solidFill>
                  <a:srgbClr val="B07B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PURE POWER AFRICA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5943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B6D0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Productive Uses of Renewable Energy</a:t>
            </a:r>
            <a:endParaRPr lang="en-US" sz="2200" dirty="0"/>
          </a:p>
        </p:txBody>
      </p:sp>
      <p:pic>
        <p:nvPicPr>
          <p:cNvPr id="5" name="Image 0" descr="assets/motif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188720"/>
            <a:ext cx="420624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7033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continental agro-energy hub platform – powering Africa’s last mile through Africa’s own institutions.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5212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Gigawatt Global team’s development record – carried abroad by the operating Burundi platform.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5897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teaser ·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Africa’s last mile is not a technology problem.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07B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is logistics. Management. Organization.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593592" cy="3017520"/>
          </a:xfrm>
          <a:prstGeom prst="roundRect">
            <a:avLst>
              <a:gd name="adj" fmla="val 2424"/>
            </a:avLst>
          </a:prstGeom>
          <a:solidFill>
            <a:srgbClr val="EDF1F6"/>
          </a:solidFill>
          <a:ln/>
        </p:spPr>
      </p:sp>
      <p:pic>
        <p:nvPicPr>
          <p:cNvPr id="5" name="Image 0" descr="assets/icon_bol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603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291840"/>
            <a:ext cx="2953512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68680" y="4023360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Africans still live without electricity – the overwhelming majority in rural, agricultural communities beyond the grid.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297680" y="2240280"/>
            <a:ext cx="3593592" cy="3017520"/>
          </a:xfrm>
          <a:prstGeom prst="roundRect">
            <a:avLst>
              <a:gd name="adj" fmla="val 2424"/>
            </a:avLst>
          </a:prstGeom>
          <a:solidFill>
            <a:srgbClr val="EDF1F6"/>
          </a:solidFill>
          <a:ln/>
        </p:spPr>
      </p:sp>
      <p:pic>
        <p:nvPicPr>
          <p:cNvPr id="9" name="Image 1" descr="assets/icon_b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5603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3291840"/>
            <a:ext cx="2953512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Overhead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4617720" y="4023360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what kills rural energy: engineering, importation, warranties, legal, accounting and government interface – costs no village-scale site can carry alone.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8046720" y="2240280"/>
            <a:ext cx="3593592" cy="3017520"/>
          </a:xfrm>
          <a:prstGeom prst="roundRect">
            <a:avLst>
              <a:gd name="adj" fmla="val 2424"/>
            </a:avLst>
          </a:prstGeom>
          <a:solidFill>
            <a:srgbClr val="EDF1F6"/>
          </a:solidFill>
          <a:ln/>
        </p:spPr>
      </p:sp>
      <p:pic>
        <p:nvPicPr>
          <p:cNvPr id="13" name="Image 2" descr="assets/icon_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56032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66760" y="3291840"/>
            <a:ext cx="2953512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Aftercare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8366760" y="4023360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what makes it last: equipment maintained, guarantees honored, services managed – for decades, not for a project cycle.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is proven and capital is mobilizing at record scale. What has always broken down is deployment: administration, local knowledge and long-term care at the last mile.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Gigawatt PURE Power Africa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Concept teaser   ·   Strictly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wheel, many spokes – zoomed out to a continent</a:t>
            </a:r>
            <a:endParaRPr lang="en-US" sz="3200" dirty="0"/>
          </a:p>
        </p:txBody>
      </p:sp>
      <p:pic>
        <p:nvPicPr>
          <p:cNvPr id="3" name="Image 0" descr="assets/motif_r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5212080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0" y="1426464"/>
            <a:ext cx="292608" cy="292608"/>
          </a:xfrm>
          <a:prstGeom prst="ellipse">
            <a:avLst/>
          </a:prstGeom>
          <a:solidFill>
            <a:srgbClr val="B07B1F"/>
          </a:solidFill>
          <a:ln/>
        </p:spPr>
      </p:sp>
      <p:sp>
        <p:nvSpPr>
          <p:cNvPr id="5" name="Text 2"/>
          <p:cNvSpPr/>
          <p:nvPr/>
        </p:nvSpPr>
        <p:spPr>
          <a:xfrm>
            <a:off x="6172200" y="1371600"/>
            <a:ext cx="54864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Power Africa – the HQ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172200" y="178308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carries what no rural site can: top-level engineering, procurement and importation, warranty and guarantee management, legal, accounting and government interface – and absorbs the overhead across the whole wheel.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715000" y="3026664"/>
            <a:ext cx="292608" cy="292608"/>
          </a:xfrm>
          <a:prstGeom prst="ellipse">
            <a:avLst/>
          </a:prstGeom>
          <a:solidFill>
            <a:srgbClr val="1E4A7A"/>
          </a:solidFill>
          <a:ln/>
        </p:spPr>
      </p:sp>
      <p:sp>
        <p:nvSpPr>
          <p:cNvPr id="8" name="Text 5"/>
          <p:cNvSpPr/>
          <p:nvPr/>
        </p:nvSpPr>
        <p:spPr>
          <a:xfrm>
            <a:off x="6172200" y="2971800"/>
            <a:ext cx="54864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lead members – the spokes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172200" y="338328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Vetted, capable in-country organizations with existing branches, personnel and government relationships deploy and host the hubs – bringing local knowledge of needs, programs, universities and clinics.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715000" y="4626864"/>
            <a:ext cx="292608" cy="292608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4572000"/>
            <a:ext cx="54864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Agro-energy hubs – the last mile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172200" y="498348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anchor productive demand first – responsibly and replicably. Mini-grids follow only once a financial-viability threshold is met, in each geography.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17220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each country: select one pilot region → deploy → work out the kinks → verify → scale.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Gigawatt PURE Power Africa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Concept teaser   ·   Strictly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 through what already exists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MOU executed with the </a:t>
            </a:r>
            <a:pPr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143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Agribusiness Incubators Network (AAIN)</a:t>
            </a:r>
            <a:pPr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an African-led, African-owned network of 110+ member incubators and enterprise-support organizations spanning a 54-country network, and a technical partner of the African Union Commission for incubation.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Power hubs overlay onto AAIN’s capable members – organizations that already have premises, people and trust. Overhead is defrayed by infrastructure that already exists; long-term aftercare has a backbone from day one.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Pan-African pillar institutions slot into the verticals they already run (illustrative):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2212848" cy="1737360"/>
          </a:xfrm>
          <a:prstGeom prst="roundRect">
            <a:avLst>
              <a:gd name="adj" fmla="val 3684"/>
            </a:avLst>
          </a:prstGeom>
          <a:solidFill>
            <a:srgbClr val="EDF1F6"/>
          </a:solidFill>
          <a:ln/>
        </p:spPr>
      </p:sp>
      <p:pic>
        <p:nvPicPr>
          <p:cNvPr id="7" name="Image 0" descr="assets/icon_wh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3977640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461772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21792" y="49834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farmer field schools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866644" y="3794760"/>
            <a:ext cx="2212848" cy="1737360"/>
          </a:xfrm>
          <a:prstGeom prst="roundRect">
            <a:avLst>
              <a:gd name="adj" fmla="val 3684"/>
            </a:avLst>
          </a:prstGeom>
          <a:solidFill>
            <a:srgbClr val="EDF1F6"/>
          </a:solidFill>
          <a:ln/>
        </p:spPr>
      </p:sp>
      <p:pic>
        <p:nvPicPr>
          <p:cNvPr id="11" name="Image 1" descr="assets/icon_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3977640"/>
            <a:ext cx="585216" cy="585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9796" y="461772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WFP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939796" y="49834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systems &amp; logistics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184648" y="3794760"/>
            <a:ext cx="2212848" cy="1737360"/>
          </a:xfrm>
          <a:prstGeom prst="roundRect">
            <a:avLst>
              <a:gd name="adj" fmla="val 3684"/>
            </a:avLst>
          </a:prstGeom>
          <a:solidFill>
            <a:srgbClr val="EDF1F6"/>
          </a:solidFill>
          <a:ln/>
        </p:spPr>
      </p:sp>
      <p:pic>
        <p:nvPicPr>
          <p:cNvPr id="15" name="Image 2" descr="assets/icon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3977640"/>
            <a:ext cx="585216" cy="5852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461772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Universities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257800" y="49834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tele-education &amp; training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502652" y="3794760"/>
            <a:ext cx="2212848" cy="1737360"/>
          </a:xfrm>
          <a:prstGeom prst="roundRect">
            <a:avLst>
              <a:gd name="adj" fmla="val 3684"/>
            </a:avLst>
          </a:prstGeom>
          <a:solidFill>
            <a:srgbClr val="EDF1F6"/>
          </a:solidFill>
          <a:ln/>
        </p:spPr>
      </p:sp>
      <p:pic>
        <p:nvPicPr>
          <p:cNvPr id="19" name="Image 3" descr="assets/icon_ba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468" y="3977640"/>
            <a:ext cx="585216" cy="58521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75804" y="461772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Pan-African banks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7575804" y="49834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microfinance at the hub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820656" y="3794760"/>
            <a:ext cx="2212848" cy="1737360"/>
          </a:xfrm>
          <a:prstGeom prst="roundRect">
            <a:avLst>
              <a:gd name="adj" fmla="val 3684"/>
            </a:avLst>
          </a:prstGeom>
          <a:solidFill>
            <a:srgbClr val="EDF1F6"/>
          </a:solidFill>
          <a:ln/>
        </p:spPr>
      </p:sp>
      <p:pic>
        <p:nvPicPr>
          <p:cNvPr id="23" name="Image 4" descr="assets/icon_healt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4472" y="3977640"/>
            <a:ext cx="585216" cy="58521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893808" y="461772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networks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9893808" y="49834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&amp; tele-health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B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Gigawatt provides the power, the logistics, the management and the operational anchor – so every partner does what it does best.</a:t>
            </a:r>
            <a:endParaRPr lang="en-US" sz="190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Gigawatt PURE Power Africa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Concept teaser   ·   Strictly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Proven where it is hardest – Burundi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155448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72184"/>
            <a:ext cx="48920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record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22960" y="185623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years operating Burundi’s first utility-scale solar IPP under a REGIDESO PPA – developed, and still managed, by the platform’s team.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17920" y="1325880"/>
            <a:ext cx="5440680" cy="1554480"/>
          </a:xfrm>
          <a:prstGeom prst="roundRect">
            <a:avLst>
              <a:gd name="adj" fmla="val 3529"/>
            </a:avLst>
          </a:prstGeom>
          <a:solidFill>
            <a:srgbClr val="EDF1F6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472184"/>
            <a:ext cx="48920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standing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92240" y="185623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MW national platform endorsed by the Minister of Energy, with an active roadmap alongside the Government’s appointed committee.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440680" cy="155448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63824"/>
            <a:ext cx="48920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Awarded mandate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354787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Ministry-awarded productive-use concession sites – pilot hubs toward a national roll-out.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5440680" cy="1554480"/>
          </a:xfrm>
          <a:prstGeom prst="roundRect">
            <a:avLst>
              <a:gd name="adj" fmla="val 3529"/>
            </a:avLst>
          </a:prstGeom>
          <a:solidFill>
            <a:srgbClr val="EDF1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163824"/>
            <a:ext cx="48920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 &amp; in delivery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92240" y="354787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FESEC grant secured with FAO co-funding – the first agro-energy hubs are in delivery, in tripartite cooperation with FAO.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5440680" cy="155448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855464"/>
            <a:ext cx="48920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economy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22960" y="523951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agricultural residues power a waste-to-energy stream – biodigester and biogas pilots underway; e-mobility moves produce to market.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17920" y="4709160"/>
            <a:ext cx="5440680" cy="1554480"/>
          </a:xfrm>
          <a:prstGeom prst="roundRect">
            <a:avLst>
              <a:gd name="adj" fmla="val 3529"/>
            </a:avLst>
          </a:prstGeom>
          <a:solidFill>
            <a:srgbClr val="EDF1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855464"/>
            <a:ext cx="48920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group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492240" y="523951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Burundian industrial and agri-processing capacity sits inside the group – construction, operations and maintenance are in-house, for the long term.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Gigawatt PURE Power Africa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Concept teaser   ·   Strictly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Demand before the grid – and the jobs it unlocks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39496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harmony with Mission 300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build productive demand ahead of grid arrival – supporting Mission 300 and the national energy compacts by making access investment bankable and durable.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169164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B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331720" y="302666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to be connected by 2030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538728"/>
            <a:ext cx="169164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B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31720" y="3593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endorsing – with the African Union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4105656"/>
            <a:ext cx="169164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B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31720" y="4160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energy compacts launched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72584"/>
            <a:ext cx="169164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B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50M+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31720" y="47274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already connected in two years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53949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architecture can absorb large allocations responsibly – World Bank, European partners, AfDB – because the deployment lattice already exists.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0" cy="4846320"/>
          </a:xfrm>
          <a:prstGeom prst="line">
            <a:avLst/>
          </a:prstGeom>
          <a:noFill/>
          <a:ln w="12700">
            <a:solidFill>
              <a:srgbClr val="C5CF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280160"/>
            <a:ext cx="51206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hub is the catalyst, not the job pool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1783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teams stay deliberately compact. The employment story is the agricultural value chain the hub powers – in economies where agriculture provides most livelihoods.</a:t>
            </a:r>
            <a:endParaRPr lang="en-US" sz="1650" dirty="0"/>
          </a:p>
        </p:txBody>
      </p:sp>
      <p:pic>
        <p:nvPicPr>
          <p:cNvPr id="17" name="Image 0" descr="assets/icon_s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926080"/>
            <a:ext cx="475488" cy="475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114032" y="2898648"/>
            <a:ext cx="4526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&amp; process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7114032" y="32369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irrigation, milling, cold chain, agri-processing</a:t>
            </a:r>
            <a:endParaRPr lang="en-US" sz="1350" dirty="0"/>
          </a:p>
        </p:txBody>
      </p:sp>
      <p:pic>
        <p:nvPicPr>
          <p:cNvPr id="20" name="Image 1" descr="assets/icon_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67328"/>
            <a:ext cx="475488" cy="4754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14032" y="3739896"/>
            <a:ext cx="4526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Preserve, trade &amp; transport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7114032" y="40782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e-mobility moves harvests, cuts post-harvest losses</a:t>
            </a:r>
            <a:endParaRPr lang="en-US" sz="1350" dirty="0"/>
          </a:p>
        </p:txBody>
      </p:sp>
      <p:pic>
        <p:nvPicPr>
          <p:cNvPr id="23" name="Image 2" descr="assets/icon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608576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114032" y="4581144"/>
            <a:ext cx="4526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&amp; equip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7114032" y="4919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technicians, workshops, SMEs and C&amp;I customers – trained at the hub and by tele-education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6492240" y="55321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B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 trillion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Africa’s agrifood market by 2030, conditional on electricity and irrigation (World Bank).</a:t>
            </a:r>
            <a:endParaRPr lang="en-US" sz="1650" dirty="0"/>
          </a:p>
        </p:txBody>
      </p:sp>
      <p:sp>
        <p:nvSpPr>
          <p:cNvPr id="27" name="Text 2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Gigawatt PURE Power Africa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Concept teaser   ·   Strictly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 invitation to collaborate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B6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Power Africa invites the World Bank, the African Development Bank, European partners, pan-African institutions and aligned investors to build the continental deployment platform for Mission 300’s last mile – country by country, pilot region by pilot region, responsibly.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window: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Burundi holds the Chairmanship of the African Union for 2026 – a continental convening moment to launch from.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1E4A7A"/>
          </a:solidFill>
          <a:ln w="19050">
            <a:solidFill>
              <a:srgbClr val="B07B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023360"/>
            <a:ext cx="1033272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IS ALREADY IN THE GROUND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5262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August 4, 2026, ground was broken on the first PURE Power agro-energy hub – Nyamugari, Burundi – together with FAO and provincial government, under the FESEC- and FAO-funded pilot program.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016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Fichtenberg · Gigawatt Burundi S.A. · Gigawatt PURE Power Africa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6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Gigawatt PURE Power Africa</a:t>
            </a:r>
            <a:pPr indent="0" marL="0">
              <a:buNone/>
            </a:pPr>
            <a:r>
              <a:rPr lang="en-US" sz="1000" dirty="0">
                <a:solidFill>
                  <a:srgbClr val="B6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Concept teaser   ·   Strictly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2026-08-06T22:57:54Z</dcterms:created>
  <dcterms:modified xsi:type="dcterms:W3CDTF">2026-08-06T22:57:54Z</dcterms:modified>
</cp:coreProperties>
</file>